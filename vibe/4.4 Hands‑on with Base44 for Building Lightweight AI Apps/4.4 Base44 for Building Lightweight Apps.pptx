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8229600" cx="14630400"/>
  <p:notesSz cx="8229600" cy="14630400"/>
  <p:embeddedFontLst>
    <p:embeddedFont>
      <p:font typeface="Rubik"/>
      <p:regular r:id="rId19"/>
      <p:bold r:id="rId20"/>
      <p:italic r:id="rId21"/>
      <p:boldItalic r:id="rId22"/>
    </p:embeddedFont>
    <p:embeddedFont>
      <p:font typeface="Open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ubik-bold.fntdata"/><Relationship Id="rId22" Type="http://schemas.openxmlformats.org/officeDocument/2006/relationships/font" Target="fonts/Rubik-boldItalic.fntdata"/><Relationship Id="rId21" Type="http://schemas.openxmlformats.org/officeDocument/2006/relationships/font" Target="fonts/Rubik-italic.fntdata"/><Relationship Id="rId24" Type="http://schemas.openxmlformats.org/officeDocument/2006/relationships/font" Target="fonts/OpenSans-bold.fntdata"/><Relationship Id="rId23" Type="http://schemas.openxmlformats.org/officeDocument/2006/relationships/font" Target="fonts/OpenSans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OpenSans-boldItalic.fntdata"/><Relationship Id="rId25" Type="http://schemas.openxmlformats.org/officeDocument/2006/relationships/font" Target="fonts/OpenSa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Rubik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bdf2c68df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6bdf2c68df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6bdf2c68df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6bdf2c68df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6bdf2c68df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6bdf2c68df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base44.com/" TargetMode="External"/><Relationship Id="rId4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7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7.png"/><Relationship Id="rId6" Type="http://schemas.openxmlformats.org/officeDocument/2006/relationships/image" Target="../media/image10.png"/><Relationship Id="rId7" Type="http://schemas.openxmlformats.org/officeDocument/2006/relationships/image" Target="../media/image9.png"/><Relationship Id="rId8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hyperlink" Target="https://www.wix.com/press-room/home/post/wix-further-expands-into-vibe-coding-with-acquisition-of-base44-a-hyper-growth-startup-that-simplif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s.base44.com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" name="Google Shape;5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0" y="0"/>
            <a:ext cx="73152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" name="Google Shape;5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01940" y="2529840"/>
            <a:ext cx="6141720" cy="316992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5"/>
          <p:cNvSpPr/>
          <p:nvPr/>
        </p:nvSpPr>
        <p:spPr>
          <a:xfrm>
            <a:off x="793790" y="2228493"/>
            <a:ext cx="57276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Base44 for Building Lightweight Apps</a:t>
            </a:r>
            <a:endParaRPr b="0" i="0" sz="4450" u="none" cap="none" strike="noStrike"/>
          </a:p>
        </p:txBody>
      </p:sp>
      <p:pic>
        <p:nvPicPr>
          <p:cNvPr descr="preencoded.png" id="55" name="Google Shape;5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80868" y="3986213"/>
            <a:ext cx="2953464" cy="1306116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5"/>
          <p:cNvSpPr/>
          <p:nvPr/>
        </p:nvSpPr>
        <p:spPr>
          <a:xfrm>
            <a:off x="793790" y="5547479"/>
            <a:ext cx="57276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Hands‑on workshop with Base44.com</a:t>
            </a:r>
            <a:endParaRPr b="0" i="0" sz="220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/>
        </p:nvSpPr>
        <p:spPr>
          <a:xfrm>
            <a:off x="793790" y="623768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Agenda</a:t>
            </a:r>
            <a:endParaRPr b="0" i="0" sz="4450" u="none" cap="none" strike="noStrike"/>
          </a:p>
        </p:txBody>
      </p:sp>
      <p:sp>
        <p:nvSpPr>
          <p:cNvPr id="63" name="Google Shape;63;p16"/>
          <p:cNvSpPr/>
          <p:nvPr/>
        </p:nvSpPr>
        <p:spPr>
          <a:xfrm>
            <a:off x="793790" y="1786176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With Base44, you'll go beyond ideas and create tools people can use.</a:t>
            </a:r>
            <a:endParaRPr b="0" i="0" sz="2200" u="none" cap="none" strike="noStrike"/>
          </a:p>
        </p:txBody>
      </p:sp>
      <p:sp>
        <p:nvSpPr>
          <p:cNvPr id="64" name="Google Shape;64;p16"/>
          <p:cNvSpPr/>
          <p:nvPr/>
        </p:nvSpPr>
        <p:spPr>
          <a:xfrm>
            <a:off x="793790" y="2494836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Open Sans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This session will teach you how to work with Base44 responsibly, confidently, and creatively.</a:t>
            </a:r>
            <a:endParaRPr b="0" i="0" sz="2200" u="none" cap="none" strike="noStrike"/>
          </a:p>
        </p:txBody>
      </p:sp>
      <p:sp>
        <p:nvSpPr>
          <p:cNvPr id="65" name="Google Shape;65;p16"/>
          <p:cNvSpPr/>
          <p:nvPr/>
        </p:nvSpPr>
        <p:spPr>
          <a:xfrm>
            <a:off x="793790" y="3203496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Calibri"/>
              <a:buAutoNum type="arabicPeriod"/>
            </a:pP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Background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and Company</a:t>
            </a:r>
            <a:endParaRPr b="0" i="0" sz="1750" u="none" cap="none" strike="noStrike"/>
          </a:p>
        </p:txBody>
      </p:sp>
      <p:sp>
        <p:nvSpPr>
          <p:cNvPr id="66" name="Google Shape;66;p16"/>
          <p:cNvSpPr/>
          <p:nvPr/>
        </p:nvSpPr>
        <p:spPr>
          <a:xfrm>
            <a:off x="793790" y="3736300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Calibri"/>
              <a:buAutoNum type="arabicPeriod" startAt="2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Core Features </a:t>
            </a:r>
            <a:endParaRPr b="0" i="0" sz="1750" u="none" cap="none" strike="noStrike"/>
          </a:p>
        </p:txBody>
      </p:sp>
      <p:sp>
        <p:nvSpPr>
          <p:cNvPr id="67" name="Google Shape;67;p16"/>
          <p:cNvSpPr/>
          <p:nvPr/>
        </p:nvSpPr>
        <p:spPr>
          <a:xfrm>
            <a:off x="793790" y="4269105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Calibri"/>
              <a:buAutoNum type="arabicPeriod" startAt="3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Base44 vs Competitors (i.</a:t>
            </a: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e. Lovable, Bolt)</a:t>
            </a:r>
            <a:endParaRPr b="0" i="0" sz="1750" u="none" cap="none" strike="noStrike"/>
          </a:p>
        </p:txBody>
      </p:sp>
      <p:sp>
        <p:nvSpPr>
          <p:cNvPr id="68" name="Google Shape;68;p16"/>
          <p:cNvSpPr/>
          <p:nvPr/>
        </p:nvSpPr>
        <p:spPr>
          <a:xfrm>
            <a:off x="793790" y="4801910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Calibri"/>
              <a:buAutoNum type="arabicPeriod" startAt="4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Pricing Overview and Usage Limitations</a:t>
            </a:r>
            <a:endParaRPr b="0" i="0" sz="1750" u="none" cap="none" strike="noStrike"/>
          </a:p>
        </p:txBody>
      </p:sp>
      <p:sp>
        <p:nvSpPr>
          <p:cNvPr id="69" name="Google Shape;69;p16"/>
          <p:cNvSpPr/>
          <p:nvPr/>
        </p:nvSpPr>
        <p:spPr>
          <a:xfrm>
            <a:off x="793790" y="5334714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Calibri"/>
              <a:buAutoNum type="arabicPeriod" startAt="5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Recommendations - For which use-cases to use </a:t>
            </a:r>
            <a:r>
              <a:rPr lang="en-US" sz="17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and</a:t>
            </a: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 when prefered not to</a:t>
            </a:r>
            <a:endParaRPr b="0" i="0" sz="1750" u="none" cap="none" strike="noStrike"/>
          </a:p>
        </p:txBody>
      </p:sp>
      <p:sp>
        <p:nvSpPr>
          <p:cNvPr id="70" name="Google Shape;70;p16"/>
          <p:cNvSpPr/>
          <p:nvPr/>
        </p:nvSpPr>
        <p:spPr>
          <a:xfrm>
            <a:off x="793790" y="6576179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None/>
            </a:pPr>
            <a:r>
              <a:t/>
            </a:r>
            <a:endParaRPr b="0" i="0" sz="22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/>
          <p:nvPr/>
        </p:nvSpPr>
        <p:spPr>
          <a:xfrm>
            <a:off x="783669" y="746760"/>
            <a:ext cx="13063061" cy="290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Open Sans"/>
              <a:buNone/>
            </a:pPr>
            <a:r>
              <a:rPr b="0" i="0" lang="en-US" sz="21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Base44 is an AI-powered platform that lets you turn any idea into a fully-functional custom app, without the need for any coding experience.</a:t>
            </a:r>
            <a:endParaRPr b="0" i="0" sz="2100" u="none" cap="none" strike="noStrike"/>
          </a:p>
        </p:txBody>
      </p:sp>
      <p:sp>
        <p:nvSpPr>
          <p:cNvPr id="77" name="Google Shape;77;p17"/>
          <p:cNvSpPr/>
          <p:nvPr/>
        </p:nvSpPr>
        <p:spPr>
          <a:xfrm>
            <a:off x="686269" y="1737110"/>
            <a:ext cx="130632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5E98F1"/>
              </a:buClr>
              <a:buSzPts val="1400"/>
              <a:buFont typeface="Open Sans"/>
              <a:buNone/>
            </a:pPr>
            <a:r>
              <a:rPr b="1" lang="en-US" sz="2100">
                <a:solidFill>
                  <a:srgbClr val="5E98F1"/>
                </a:solidFill>
                <a:latin typeface="Open Sans"/>
                <a:ea typeface="Open Sans"/>
                <a:cs typeface="Open Sans"/>
                <a:sym typeface="Open Sans"/>
              </a:rPr>
              <a:t>Israeli</a:t>
            </a:r>
            <a:r>
              <a:rPr b="1" i="0" lang="en-US" sz="2100" u="none" cap="none" strike="noStrike">
                <a:solidFill>
                  <a:srgbClr val="5E98F1"/>
                </a:solidFill>
                <a:latin typeface="Open Sans"/>
                <a:ea typeface="Open Sans"/>
                <a:cs typeface="Open Sans"/>
                <a:sym typeface="Open Sans"/>
              </a:rPr>
              <a:t> proud..! </a:t>
            </a:r>
            <a:r>
              <a:rPr b="0" i="0" lang="en-US" sz="21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@Maor Shlomo </a:t>
            </a:r>
            <a:endParaRPr b="0" i="0" sz="2100" u="none" cap="none" strike="noStrike"/>
          </a:p>
        </p:txBody>
      </p:sp>
      <p:pic>
        <p:nvPicPr>
          <p:cNvPr descr="preencoded.png" id="78" name="Google Shape;78;p1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92881" y="2321659"/>
            <a:ext cx="10444641" cy="555855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/>
          <p:cNvSpPr/>
          <p:nvPr/>
        </p:nvSpPr>
        <p:spPr>
          <a:xfrm>
            <a:off x="783669" y="7378422"/>
            <a:ext cx="13063061" cy="232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/>
          <p:nvPr/>
        </p:nvSpPr>
        <p:spPr>
          <a:xfrm>
            <a:off x="783669" y="7378422"/>
            <a:ext cx="130632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" y="6406850"/>
            <a:ext cx="10582275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14400"/>
            <a:ext cx="10506075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619375"/>
            <a:ext cx="10201275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1438" y="4470250"/>
            <a:ext cx="10467975" cy="18383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/>
          <p:nvPr/>
        </p:nvSpPr>
        <p:spPr>
          <a:xfrm>
            <a:off x="280690" y="205493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lang="en-US" sz="4450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Common Questions</a:t>
            </a:r>
            <a:endParaRPr b="0" i="0" sz="44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/>
          <p:nvPr/>
        </p:nvSpPr>
        <p:spPr>
          <a:xfrm>
            <a:off x="783669" y="7378422"/>
            <a:ext cx="130632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700" y="3317725"/>
            <a:ext cx="10172700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688" y="5362663"/>
            <a:ext cx="10477500" cy="158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0688" y="1349013"/>
            <a:ext cx="10372725" cy="1495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9"/>
          <p:cNvSpPr/>
          <p:nvPr/>
        </p:nvSpPr>
        <p:spPr>
          <a:xfrm>
            <a:off x="280690" y="205493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lang="en-US" sz="4450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Common Questions</a:t>
            </a:r>
            <a:endParaRPr b="0" i="0" sz="44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/>
          <p:nvPr/>
        </p:nvSpPr>
        <p:spPr>
          <a:xfrm>
            <a:off x="793790" y="878443"/>
            <a:ext cx="6748224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Core Features of Base44</a:t>
            </a:r>
            <a:endParaRPr b="0" i="0" sz="4450" u="none" cap="none" strike="noStrike"/>
          </a:p>
        </p:txBody>
      </p:sp>
      <p:pic>
        <p:nvPicPr>
          <p:cNvPr descr="preencoded.png" id="107" name="Google Shape;1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040850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/>
          <p:nvPr/>
        </p:nvSpPr>
        <p:spPr>
          <a:xfrm>
            <a:off x="793790" y="2891314"/>
            <a:ext cx="322730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Natural Language Input</a:t>
            </a:r>
            <a:endParaRPr b="0" i="0" sz="2200" u="none" cap="none" strike="noStrike"/>
          </a:p>
        </p:txBody>
      </p:sp>
      <p:sp>
        <p:nvSpPr>
          <p:cNvPr id="109" name="Google Shape;109;p20"/>
          <p:cNvSpPr/>
          <p:nvPr/>
        </p:nvSpPr>
        <p:spPr>
          <a:xfrm>
            <a:off x="793790" y="3381732"/>
            <a:ext cx="415861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Describe your app idea conversationally, just as you would explain it to a colleague.</a:t>
            </a:r>
            <a:endParaRPr b="0" i="0" sz="1750" u="none" cap="none" strike="noStrike"/>
          </a:p>
        </p:txBody>
      </p:sp>
      <p:pic>
        <p:nvPicPr>
          <p:cNvPr descr="preencoded.png" id="110" name="Google Shape;11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4725591"/>
            <a:ext cx="4158615" cy="1385173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0"/>
          <p:cNvSpPr/>
          <p:nvPr/>
        </p:nvSpPr>
        <p:spPr>
          <a:xfrm>
            <a:off x="793790" y="6365915"/>
            <a:ext cx="415861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pic>
        <p:nvPicPr>
          <p:cNvPr descr="preencoded.png" id="112" name="Google Shape;11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5893" y="2040850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0"/>
          <p:cNvSpPr/>
          <p:nvPr/>
        </p:nvSpPr>
        <p:spPr>
          <a:xfrm>
            <a:off x="5235893" y="2891314"/>
            <a:ext cx="299239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Full-Stack Generation</a:t>
            </a:r>
            <a:endParaRPr b="0" i="0" sz="2200" u="none" cap="none" strike="noStrike"/>
          </a:p>
        </p:txBody>
      </p:sp>
      <p:sp>
        <p:nvSpPr>
          <p:cNvPr id="114" name="Google Shape;114;p20"/>
          <p:cNvSpPr/>
          <p:nvPr/>
        </p:nvSpPr>
        <p:spPr>
          <a:xfrm>
            <a:off x="5235893" y="3381732"/>
            <a:ext cx="4158615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Automatically creates UI components, backend logic, database structures, and workflows without requiring you to write a single line of code.</a:t>
            </a:r>
            <a:endParaRPr b="0" i="0" sz="1750" u="none" cap="none" strike="noStrike"/>
          </a:p>
        </p:txBody>
      </p:sp>
      <p:pic>
        <p:nvPicPr>
          <p:cNvPr descr="preencoded.png" id="115" name="Google Shape;11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35893" y="5088493"/>
            <a:ext cx="4158615" cy="164461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/>
          <p:nvPr/>
        </p:nvSpPr>
        <p:spPr>
          <a:xfrm>
            <a:off x="5235893" y="6988254"/>
            <a:ext cx="415861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pic>
        <p:nvPicPr>
          <p:cNvPr descr="preencoded.png" id="117" name="Google Shape;11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77995" y="2040850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0"/>
          <p:cNvSpPr/>
          <p:nvPr/>
        </p:nvSpPr>
        <p:spPr>
          <a:xfrm>
            <a:off x="9677995" y="289131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0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Instant Deployment</a:t>
            </a:r>
            <a:endParaRPr b="0" i="0" sz="2200" u="none" cap="none" strike="noStrike"/>
          </a:p>
        </p:txBody>
      </p:sp>
      <p:sp>
        <p:nvSpPr>
          <p:cNvPr id="119" name="Google Shape;119;p20"/>
          <p:cNvSpPr/>
          <p:nvPr/>
        </p:nvSpPr>
        <p:spPr>
          <a:xfrm>
            <a:off x="9677995" y="3381732"/>
            <a:ext cx="415861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Apps are hosted and deployed immediately</a:t>
            </a:r>
            <a:endParaRPr b="0" i="0" sz="1750" u="none" cap="none" strike="noStrike"/>
          </a:p>
        </p:txBody>
      </p:sp>
      <p:pic>
        <p:nvPicPr>
          <p:cNvPr descr="preencoded.png" id="120" name="Google Shape;12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77995" y="4362688"/>
            <a:ext cx="4158615" cy="142732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0"/>
          <p:cNvSpPr/>
          <p:nvPr/>
        </p:nvSpPr>
        <p:spPr>
          <a:xfrm>
            <a:off x="9677995" y="6045160"/>
            <a:ext cx="415861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7" name="Google Shape;12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1"/>
          <p:cNvSpPr/>
          <p:nvPr/>
        </p:nvSpPr>
        <p:spPr>
          <a:xfrm>
            <a:off x="6280190" y="1149429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Technical Architecture &amp; Integrations</a:t>
            </a:r>
            <a:endParaRPr b="0" i="0" sz="4450" u="none" cap="none" strike="noStrike"/>
          </a:p>
        </p:txBody>
      </p:sp>
      <p:sp>
        <p:nvSpPr>
          <p:cNvPr id="129" name="Google Shape;129;p21"/>
          <p:cNvSpPr/>
          <p:nvPr/>
        </p:nvSpPr>
        <p:spPr>
          <a:xfrm>
            <a:off x="6280190" y="2907149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The platform includes everything required for a functional application:</a:t>
            </a:r>
            <a:endParaRPr b="0" i="0" sz="1750" u="none" cap="none" strike="noStrike"/>
          </a:p>
        </p:txBody>
      </p:sp>
      <p:sp>
        <p:nvSpPr>
          <p:cNvPr id="130" name="Google Shape;130;p21"/>
          <p:cNvSpPr/>
          <p:nvPr/>
        </p:nvSpPr>
        <p:spPr>
          <a:xfrm>
            <a:off x="6280190" y="3525203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Structured and customized database</a:t>
            </a:r>
            <a:endParaRPr b="0" i="0" sz="1750" u="none" cap="none" strike="noStrike"/>
          </a:p>
        </p:txBody>
      </p:sp>
      <p:sp>
        <p:nvSpPr>
          <p:cNvPr id="131" name="Google Shape;131;p21"/>
          <p:cNvSpPr/>
          <p:nvPr/>
        </p:nvSpPr>
        <p:spPr>
          <a:xfrm>
            <a:off x="6280190" y="3967401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Secure user authentication system</a:t>
            </a:r>
            <a:endParaRPr b="0" i="0" sz="1750" u="none" cap="none" strike="noStrike"/>
          </a:p>
        </p:txBody>
      </p:sp>
      <p:sp>
        <p:nvSpPr>
          <p:cNvPr id="132" name="Google Shape;132;p21"/>
          <p:cNvSpPr/>
          <p:nvPr/>
        </p:nvSpPr>
        <p:spPr>
          <a:xfrm>
            <a:off x="6280190" y="4409599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Hosting services and automatic deployment</a:t>
            </a:r>
            <a:endParaRPr b="0" i="0" sz="1750" u="none" cap="none" strike="noStrike"/>
          </a:p>
        </p:txBody>
      </p:sp>
      <p:sp>
        <p:nvSpPr>
          <p:cNvPr id="133" name="Google Shape;133;p21"/>
          <p:cNvSpPr/>
          <p:nvPr/>
        </p:nvSpPr>
        <p:spPr>
          <a:xfrm>
            <a:off x="6280190" y="4851797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Advanced analytics tools</a:t>
            </a:r>
            <a:endParaRPr b="0" i="0" sz="1750" u="none" cap="none" strike="noStrike"/>
          </a:p>
        </p:txBody>
      </p:sp>
      <p:sp>
        <p:nvSpPr>
          <p:cNvPr id="134" name="Google Shape;134;p21"/>
          <p:cNvSpPr/>
          <p:nvPr/>
        </p:nvSpPr>
        <p:spPr>
          <a:xfrm>
            <a:off x="6280190" y="5293995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Integration with email services</a:t>
            </a:r>
            <a:endParaRPr b="0" i="0" sz="1750" u="none" cap="none" strike="noStrike"/>
          </a:p>
        </p:txBody>
      </p:sp>
      <p:sp>
        <p:nvSpPr>
          <p:cNvPr id="135" name="Google Shape;135;p21"/>
          <p:cNvSpPr/>
          <p:nvPr/>
        </p:nvSpPr>
        <p:spPr>
          <a:xfrm>
            <a:off x="6280190" y="5736193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Support for maps and location services</a:t>
            </a:r>
            <a:endParaRPr b="0" i="0" sz="1750" u="none" cap="none" strike="noStrike"/>
          </a:p>
        </p:txBody>
      </p:sp>
      <p:sp>
        <p:nvSpPr>
          <p:cNvPr id="136" name="Google Shape;136;p21"/>
          <p:cNvSpPr/>
          <p:nvPr/>
        </p:nvSpPr>
        <p:spPr>
          <a:xfrm>
            <a:off x="6280190" y="6354247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The main advantage of the system is that it eliminates the need for complex integrations with external services.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/>
          <p:nvPr/>
        </p:nvSpPr>
        <p:spPr>
          <a:xfrm>
            <a:off x="793790" y="721638"/>
            <a:ext cx="6362105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Base44 vs Competitors</a:t>
            </a:r>
            <a:endParaRPr b="0" i="0" sz="4450" u="none" cap="none" strike="noStrike"/>
          </a:p>
        </p:txBody>
      </p:sp>
      <p:sp>
        <p:nvSpPr>
          <p:cNvPr id="143" name="Google Shape;143;p22"/>
          <p:cNvSpPr/>
          <p:nvPr/>
        </p:nvSpPr>
        <p:spPr>
          <a:xfrm>
            <a:off x="793790" y="1884045"/>
            <a:ext cx="13042821" cy="4642961"/>
          </a:xfrm>
          <a:prstGeom prst="roundRect">
            <a:avLst>
              <a:gd fmla="val 2052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2"/>
          <p:cNvSpPr/>
          <p:nvPr/>
        </p:nvSpPr>
        <p:spPr>
          <a:xfrm>
            <a:off x="801410" y="1891665"/>
            <a:ext cx="13026271" cy="650319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2"/>
          <p:cNvSpPr/>
          <p:nvPr/>
        </p:nvSpPr>
        <p:spPr>
          <a:xfrm>
            <a:off x="1029653" y="2035373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sp>
        <p:nvSpPr>
          <p:cNvPr id="146" name="Google Shape;146;p22"/>
          <p:cNvSpPr/>
          <p:nvPr/>
        </p:nvSpPr>
        <p:spPr>
          <a:xfrm>
            <a:off x="5375077" y="2035373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Base44</a:t>
            </a:r>
            <a:endParaRPr b="0" i="0" sz="1750" u="none" cap="none" strike="noStrike"/>
          </a:p>
        </p:txBody>
      </p:sp>
      <p:sp>
        <p:nvSpPr>
          <p:cNvPr id="147" name="Google Shape;147;p22"/>
          <p:cNvSpPr/>
          <p:nvPr/>
        </p:nvSpPr>
        <p:spPr>
          <a:xfrm>
            <a:off x="9716691" y="2035373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Lovable, Bolt</a:t>
            </a:r>
            <a:endParaRPr b="0" i="0" sz="1750" u="none" cap="none" strike="noStrike"/>
          </a:p>
        </p:txBody>
      </p:sp>
      <p:sp>
        <p:nvSpPr>
          <p:cNvPr id="148" name="Google Shape;148;p22"/>
          <p:cNvSpPr/>
          <p:nvPr/>
        </p:nvSpPr>
        <p:spPr>
          <a:xfrm>
            <a:off x="801410" y="2541984"/>
            <a:ext cx="13026271" cy="650319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2"/>
          <p:cNvSpPr/>
          <p:nvPr/>
        </p:nvSpPr>
        <p:spPr>
          <a:xfrm>
            <a:off x="1029653" y="2685693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Data Storage</a:t>
            </a:r>
            <a:endParaRPr b="0" i="0" sz="1750" u="none" cap="none" strike="noStrike"/>
          </a:p>
        </p:txBody>
      </p:sp>
      <p:sp>
        <p:nvSpPr>
          <p:cNvPr id="150" name="Google Shape;150;p22"/>
          <p:cNvSpPr/>
          <p:nvPr/>
        </p:nvSpPr>
        <p:spPr>
          <a:xfrm>
            <a:off x="5375077" y="2685693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Internal, fully managed</a:t>
            </a:r>
            <a:endParaRPr b="0" i="0" sz="1750" u="none" cap="none" strike="noStrike"/>
          </a:p>
        </p:txBody>
      </p:sp>
      <p:sp>
        <p:nvSpPr>
          <p:cNvPr id="151" name="Google Shape;151;p22"/>
          <p:cNvSpPr/>
          <p:nvPr/>
        </p:nvSpPr>
        <p:spPr>
          <a:xfrm>
            <a:off x="9716691" y="2685693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External (e.g., Supabase API)</a:t>
            </a:r>
            <a:endParaRPr b="0" i="0" sz="1750" u="none" cap="none" strike="noStrike"/>
          </a:p>
        </p:txBody>
      </p:sp>
      <p:sp>
        <p:nvSpPr>
          <p:cNvPr id="152" name="Google Shape;152;p22"/>
          <p:cNvSpPr/>
          <p:nvPr/>
        </p:nvSpPr>
        <p:spPr>
          <a:xfrm>
            <a:off x="801410" y="3192304"/>
            <a:ext cx="13026271" cy="1013222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2"/>
          <p:cNvSpPr/>
          <p:nvPr/>
        </p:nvSpPr>
        <p:spPr>
          <a:xfrm>
            <a:off x="1029653" y="3336012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Permission Management</a:t>
            </a:r>
            <a:endParaRPr b="0" i="0" sz="1750" u="none" cap="none" strike="noStrike"/>
          </a:p>
        </p:txBody>
      </p:sp>
      <p:sp>
        <p:nvSpPr>
          <p:cNvPr id="154" name="Google Shape;154;p22"/>
          <p:cNvSpPr/>
          <p:nvPr/>
        </p:nvSpPr>
        <p:spPr>
          <a:xfrm>
            <a:off x="5375077" y="3336012"/>
            <a:ext cx="388036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Simple UI-based controls via the Dashboard</a:t>
            </a:r>
            <a:endParaRPr b="0" i="0" sz="1750" u="none" cap="none" strike="noStrike"/>
          </a:p>
        </p:txBody>
      </p:sp>
      <p:sp>
        <p:nvSpPr>
          <p:cNvPr id="155" name="Google Shape;155;p22"/>
          <p:cNvSpPr/>
          <p:nvPr/>
        </p:nvSpPr>
        <p:spPr>
          <a:xfrm>
            <a:off x="9716691" y="3336012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Often requires manual configuration</a:t>
            </a:r>
            <a:endParaRPr b="0" i="0" sz="1750" u="none" cap="none" strike="noStrike"/>
          </a:p>
        </p:txBody>
      </p:sp>
      <p:sp>
        <p:nvSpPr>
          <p:cNvPr id="156" name="Google Shape;156;p22"/>
          <p:cNvSpPr/>
          <p:nvPr/>
        </p:nvSpPr>
        <p:spPr>
          <a:xfrm>
            <a:off x="801410" y="4205526"/>
            <a:ext cx="13026271" cy="1013222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2"/>
          <p:cNvSpPr/>
          <p:nvPr/>
        </p:nvSpPr>
        <p:spPr>
          <a:xfrm>
            <a:off x="1029653" y="4349234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Code Management</a:t>
            </a:r>
            <a:endParaRPr b="0" i="0" sz="1750" u="none" cap="none" strike="noStrike"/>
          </a:p>
        </p:txBody>
      </p:sp>
      <p:sp>
        <p:nvSpPr>
          <p:cNvPr id="158" name="Google Shape;158;p22"/>
          <p:cNvSpPr/>
          <p:nvPr/>
        </p:nvSpPr>
        <p:spPr>
          <a:xfrm>
            <a:off x="5375077" y="4349234"/>
            <a:ext cx="388036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Inside the platform, easy export to GitHub</a:t>
            </a:r>
            <a:endParaRPr b="0" i="0" sz="1750" u="none" cap="none" strike="noStrike"/>
          </a:p>
        </p:txBody>
      </p:sp>
      <p:sp>
        <p:nvSpPr>
          <p:cNvPr id="159" name="Google Shape;159;p22"/>
          <p:cNvSpPr/>
          <p:nvPr/>
        </p:nvSpPr>
        <p:spPr>
          <a:xfrm>
            <a:off x="9716691" y="4349234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via GitHub </a:t>
            </a:r>
            <a:endParaRPr b="0" i="0" sz="1750" u="none" cap="none" strike="noStrike"/>
          </a:p>
        </p:txBody>
      </p:sp>
      <p:sp>
        <p:nvSpPr>
          <p:cNvPr id="160" name="Google Shape;160;p22"/>
          <p:cNvSpPr/>
          <p:nvPr/>
        </p:nvSpPr>
        <p:spPr>
          <a:xfrm>
            <a:off x="801410" y="5218748"/>
            <a:ext cx="13026271" cy="650319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2"/>
          <p:cNvSpPr/>
          <p:nvPr/>
        </p:nvSpPr>
        <p:spPr>
          <a:xfrm>
            <a:off x="1029653" y="5362456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Authentication</a:t>
            </a:r>
            <a:endParaRPr b="0" i="0" sz="1750" u="none" cap="none" strike="noStrike"/>
          </a:p>
        </p:txBody>
      </p:sp>
      <p:sp>
        <p:nvSpPr>
          <p:cNvPr id="162" name="Google Shape;162;p22"/>
          <p:cNvSpPr/>
          <p:nvPr/>
        </p:nvSpPr>
        <p:spPr>
          <a:xfrm>
            <a:off x="5375077" y="5362456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Google sign-in by default</a:t>
            </a:r>
            <a:endParaRPr b="0" i="0" sz="1750" u="none" cap="none" strike="noStrike"/>
          </a:p>
        </p:txBody>
      </p:sp>
      <p:sp>
        <p:nvSpPr>
          <p:cNvPr id="163" name="Google Shape;163;p22"/>
          <p:cNvSpPr/>
          <p:nvPr/>
        </p:nvSpPr>
        <p:spPr>
          <a:xfrm>
            <a:off x="9716691" y="5362456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Manual setup required</a:t>
            </a:r>
            <a:endParaRPr b="0" i="0" sz="1750" u="none" cap="none" strike="noStrike"/>
          </a:p>
        </p:txBody>
      </p:sp>
      <p:sp>
        <p:nvSpPr>
          <p:cNvPr id="164" name="Google Shape;164;p22"/>
          <p:cNvSpPr/>
          <p:nvPr/>
        </p:nvSpPr>
        <p:spPr>
          <a:xfrm>
            <a:off x="801410" y="5869067"/>
            <a:ext cx="13026271" cy="650319"/>
          </a:xfrm>
          <a:prstGeom prst="rect">
            <a:avLst/>
          </a:pr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2"/>
          <p:cNvSpPr/>
          <p:nvPr/>
        </p:nvSpPr>
        <p:spPr>
          <a:xfrm>
            <a:off x="1029653" y="6012775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Hosting</a:t>
            </a:r>
            <a:endParaRPr b="0" i="0" sz="1750" u="none" cap="none" strike="noStrike"/>
          </a:p>
        </p:txBody>
      </p:sp>
      <p:sp>
        <p:nvSpPr>
          <p:cNvPr id="166" name="Google Shape;166;p22"/>
          <p:cNvSpPr/>
          <p:nvPr/>
        </p:nvSpPr>
        <p:spPr>
          <a:xfrm>
            <a:off x="5375077" y="6012775"/>
            <a:ext cx="388036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Inside the platform</a:t>
            </a:r>
            <a:endParaRPr b="0" i="0" sz="1750" u="none" cap="none" strike="noStrike"/>
          </a:p>
        </p:txBody>
      </p:sp>
      <p:sp>
        <p:nvSpPr>
          <p:cNvPr id="167" name="Google Shape;167;p22"/>
          <p:cNvSpPr/>
          <p:nvPr/>
        </p:nvSpPr>
        <p:spPr>
          <a:xfrm>
            <a:off x="9716691" y="6012775"/>
            <a:ext cx="388417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External hosting services (i.e. Netlify)</a:t>
            </a:r>
            <a:endParaRPr b="0" i="0" sz="1750" u="none" cap="none" strike="noStrike"/>
          </a:p>
        </p:txBody>
      </p:sp>
      <p:sp>
        <p:nvSpPr>
          <p:cNvPr id="168" name="Google Shape;168;p22"/>
          <p:cNvSpPr/>
          <p:nvPr/>
        </p:nvSpPr>
        <p:spPr>
          <a:xfrm>
            <a:off x="793790" y="6782157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Base44 prioritizes simplicity and speed, presenting the first all-in-one application builder tool, making it ideal for quick launches and non-technical users while maintaining essential functionality.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4" name="Google Shape;17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3856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5" name="Google Shape;17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8562" y="238482"/>
            <a:ext cx="5253276" cy="190869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3"/>
          <p:cNvSpPr/>
          <p:nvPr/>
        </p:nvSpPr>
        <p:spPr>
          <a:xfrm>
            <a:off x="785813" y="3003947"/>
            <a:ext cx="10764203" cy="5965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3750"/>
              <a:buFont typeface="Rubik"/>
              <a:buNone/>
            </a:pPr>
            <a:r>
              <a:rPr b="0" i="0" lang="en-US" sz="37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Strategic Growth: </a:t>
            </a:r>
            <a:r>
              <a:rPr b="0" i="0" lang="en-US" sz="3750" u="sng" cap="none" strike="noStrike">
                <a:solidFill>
                  <a:schemeClr val="hlink"/>
                </a:solidFill>
                <a:latin typeface="Rubik"/>
                <a:ea typeface="Rubik"/>
                <a:cs typeface="Rubik"/>
                <a:sym typeface="Rubik"/>
                <a:hlinkClick r:id="rId5"/>
              </a:rPr>
              <a:t>Wix Acquisition</a:t>
            </a:r>
            <a:r>
              <a:rPr b="0" i="0" lang="en-US" sz="37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 (June 2025)</a:t>
            </a:r>
            <a:endParaRPr b="0" i="0" sz="3750" u="none" cap="none" strike="noStrike"/>
          </a:p>
        </p:txBody>
      </p:sp>
      <p:sp>
        <p:nvSpPr>
          <p:cNvPr id="177" name="Google Shape;177;p23"/>
          <p:cNvSpPr/>
          <p:nvPr/>
        </p:nvSpPr>
        <p:spPr>
          <a:xfrm>
            <a:off x="785813" y="3886676"/>
            <a:ext cx="429339" cy="429339"/>
          </a:xfrm>
          <a:prstGeom prst="roundRect">
            <a:avLst>
              <a:gd fmla="val 18671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3"/>
          <p:cNvSpPr/>
          <p:nvPr/>
        </p:nvSpPr>
        <p:spPr>
          <a:xfrm>
            <a:off x="1406009" y="3952280"/>
            <a:ext cx="2607826" cy="298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Rubik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$80 Million Acquisition</a:t>
            </a:r>
            <a:endParaRPr b="0" i="0" sz="1850" u="none" cap="none" strike="noStrike"/>
          </a:p>
        </p:txBody>
      </p:sp>
      <p:sp>
        <p:nvSpPr>
          <p:cNvPr id="179" name="Google Shape;179;p23"/>
          <p:cNvSpPr/>
          <p:nvPr/>
        </p:nvSpPr>
        <p:spPr>
          <a:xfrm>
            <a:off x="1406009" y="4364950"/>
            <a:ext cx="12438578" cy="610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Wix acquired Base44 for approximately $80 million plus performance-based earn-outs, signaling strong confidence in the platform's value and future growth potential.</a:t>
            </a:r>
            <a:endParaRPr b="0" i="0" sz="1500" u="none" cap="none" strike="noStrike"/>
          </a:p>
        </p:txBody>
      </p:sp>
      <p:sp>
        <p:nvSpPr>
          <p:cNvPr id="180" name="Google Shape;180;p23"/>
          <p:cNvSpPr/>
          <p:nvPr/>
        </p:nvSpPr>
        <p:spPr>
          <a:xfrm>
            <a:off x="785813" y="5357217"/>
            <a:ext cx="429339" cy="429339"/>
          </a:xfrm>
          <a:prstGeom prst="roundRect">
            <a:avLst>
              <a:gd fmla="val 18671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3"/>
          <p:cNvSpPr/>
          <p:nvPr/>
        </p:nvSpPr>
        <p:spPr>
          <a:xfrm>
            <a:off x="1406009" y="5422821"/>
            <a:ext cx="2421850" cy="298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Rubik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Strategic Integration</a:t>
            </a:r>
            <a:endParaRPr b="0" i="0" sz="1850" u="none" cap="none" strike="noStrike"/>
          </a:p>
        </p:txBody>
      </p:sp>
      <p:sp>
        <p:nvSpPr>
          <p:cNvPr id="182" name="Google Shape;182;p23"/>
          <p:cNvSpPr/>
          <p:nvPr/>
        </p:nvSpPr>
        <p:spPr>
          <a:xfrm>
            <a:off x="1406009" y="5835491"/>
            <a:ext cx="12438578" cy="610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Base44 continues as a distinct product within the Wix portfolio while enhancing Wix's suite of AI-powered creation tools for businesses and individuals.</a:t>
            </a:r>
            <a:endParaRPr b="0" i="0" sz="1500" u="none" cap="none" strike="noStrike"/>
          </a:p>
        </p:txBody>
      </p:sp>
      <p:sp>
        <p:nvSpPr>
          <p:cNvPr id="183" name="Google Shape;183;p23"/>
          <p:cNvSpPr/>
          <p:nvPr/>
        </p:nvSpPr>
        <p:spPr>
          <a:xfrm>
            <a:off x="785813" y="6827758"/>
            <a:ext cx="429339" cy="429339"/>
          </a:xfrm>
          <a:prstGeom prst="roundRect">
            <a:avLst>
              <a:gd fmla="val 18671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3"/>
          <p:cNvSpPr/>
          <p:nvPr/>
        </p:nvSpPr>
        <p:spPr>
          <a:xfrm>
            <a:off x="1406009" y="6893362"/>
            <a:ext cx="2385655" cy="298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Rubik"/>
              <a:buNone/>
            </a:pPr>
            <a:r>
              <a:rPr b="0" i="0" lang="en-US" sz="185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Accelerated Vision</a:t>
            </a:r>
            <a:endParaRPr b="0" i="0" sz="1850" u="none" cap="none" strike="noStrike"/>
          </a:p>
        </p:txBody>
      </p:sp>
      <p:sp>
        <p:nvSpPr>
          <p:cNvPr id="185" name="Google Shape;185;p23"/>
          <p:cNvSpPr/>
          <p:nvPr/>
        </p:nvSpPr>
        <p:spPr>
          <a:xfrm>
            <a:off x="1406009" y="7306032"/>
            <a:ext cx="12438578" cy="305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00"/>
              <a:buFont typeface="Open Sans"/>
              <a:buNone/>
            </a:pPr>
            <a:r>
              <a:rPr b="0" i="0" lang="en-US" sz="150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The acquisition fast-tracks Base44's mission to democratize software creation through intent-driven, code-free digital experiences.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4"/>
          <p:cNvSpPr/>
          <p:nvPr/>
        </p:nvSpPr>
        <p:spPr>
          <a:xfrm>
            <a:off x="760690" y="598527"/>
            <a:ext cx="6998970" cy="6092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3800"/>
              <a:buFont typeface="Rubik"/>
              <a:buNone/>
            </a:pPr>
            <a:r>
              <a:rPr b="0" i="0" lang="en-US" sz="380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Pricing and Usage Limitations</a:t>
            </a:r>
            <a:endParaRPr b="0" i="0" sz="3800" u="none" cap="none" strike="noStrike"/>
          </a:p>
        </p:txBody>
      </p:sp>
      <p:pic>
        <p:nvPicPr>
          <p:cNvPr descr="preencoded.png" id="192" name="Google Shape;19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7260" y="1490305"/>
            <a:ext cx="10855762" cy="5755719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4"/>
          <p:cNvSpPr/>
          <p:nvPr/>
        </p:nvSpPr>
        <p:spPr>
          <a:xfrm>
            <a:off x="760690" y="7404973"/>
            <a:ext cx="13109019" cy="2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5"/>
          <p:cNvSpPr/>
          <p:nvPr/>
        </p:nvSpPr>
        <p:spPr>
          <a:xfrm>
            <a:off x="793800" y="623772"/>
            <a:ext cx="13042800" cy="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Practical Uses and Recommendations for Base44</a:t>
            </a:r>
            <a:endParaRPr b="0" i="0" sz="4450" u="none" cap="none" strike="noStrike"/>
          </a:p>
        </p:txBody>
      </p:sp>
      <p:sp>
        <p:nvSpPr>
          <p:cNvPr id="200" name="Google Shape;200;p25"/>
          <p:cNvSpPr/>
          <p:nvPr/>
        </p:nvSpPr>
        <p:spPr>
          <a:xfrm>
            <a:off x="793790" y="1702130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21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Base44 platform offers versatile applications across various fields.</a:t>
            </a:r>
            <a:endParaRPr b="0" i="0" sz="2150" u="none" cap="none" strike="noStrike"/>
          </a:p>
        </p:txBody>
      </p:sp>
      <p:sp>
        <p:nvSpPr>
          <p:cNvPr id="201" name="Google Shape;201;p25"/>
          <p:cNvSpPr/>
          <p:nvPr/>
        </p:nvSpPr>
        <p:spPr>
          <a:xfrm>
            <a:off x="793790" y="2503408"/>
            <a:ext cx="6408000" cy="3771900"/>
          </a:xfrm>
          <a:prstGeom prst="roundRect">
            <a:avLst>
              <a:gd fmla="val 2526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5"/>
          <p:cNvSpPr/>
          <p:nvPr/>
        </p:nvSpPr>
        <p:spPr>
          <a:xfrm>
            <a:off x="1028224" y="2737842"/>
            <a:ext cx="34335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Solutions for Individuals</a:t>
            </a:r>
            <a:endParaRPr b="0" i="0" sz="2200" u="none" cap="none" strike="noStrike"/>
          </a:p>
        </p:txBody>
      </p:sp>
      <p:sp>
        <p:nvSpPr>
          <p:cNvPr id="203" name="Google Shape;203;p25"/>
          <p:cNvSpPr/>
          <p:nvPr/>
        </p:nvSpPr>
        <p:spPr>
          <a:xfrm>
            <a:off x="1028224" y="3228261"/>
            <a:ext cx="59391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Create personalized budget management apps, goal trackers, and trip planners with expense tracking.</a:t>
            </a:r>
            <a:endParaRPr b="0" i="0" sz="1750" u="none" cap="none" strike="noStrike"/>
          </a:p>
        </p:txBody>
      </p:sp>
      <p:sp>
        <p:nvSpPr>
          <p:cNvPr id="204" name="Google Shape;204;p25"/>
          <p:cNvSpPr/>
          <p:nvPr/>
        </p:nvSpPr>
        <p:spPr>
          <a:xfrm>
            <a:off x="1028224" y="4090154"/>
            <a:ext cx="59391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Build digital catalogs for collections and recipe/menu management systems.</a:t>
            </a:r>
            <a:endParaRPr b="0" i="0" sz="1750" u="none" cap="none" strike="noStrike"/>
          </a:p>
        </p:txBody>
      </p:sp>
      <p:sp>
        <p:nvSpPr>
          <p:cNvPr id="205" name="Google Shape;205;p25"/>
          <p:cNvSpPr/>
          <p:nvPr/>
        </p:nvSpPr>
        <p:spPr>
          <a:xfrm>
            <a:off x="7428548" y="2503408"/>
            <a:ext cx="6408000" cy="3771900"/>
          </a:xfrm>
          <a:prstGeom prst="roundRect">
            <a:avLst>
              <a:gd fmla="val 2526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5"/>
          <p:cNvSpPr/>
          <p:nvPr/>
        </p:nvSpPr>
        <p:spPr>
          <a:xfrm>
            <a:off x="7662982" y="2737842"/>
            <a:ext cx="54711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Tools for Small and Medium Businesses</a:t>
            </a:r>
            <a:endParaRPr b="0" i="0" sz="2200" u="none" cap="none" strike="noStrike"/>
          </a:p>
        </p:txBody>
      </p:sp>
      <p:sp>
        <p:nvSpPr>
          <p:cNvPr id="207" name="Google Shape;207;p25"/>
          <p:cNvSpPr/>
          <p:nvPr/>
        </p:nvSpPr>
        <p:spPr>
          <a:xfrm>
            <a:off x="7662982" y="3228261"/>
            <a:ext cx="59391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Develop customer portals with order tracking, inventory management tools, and employee time systems.</a:t>
            </a:r>
            <a:endParaRPr b="0" i="0" sz="1750" u="none" cap="none" strike="noStrike"/>
          </a:p>
        </p:txBody>
      </p:sp>
      <p:sp>
        <p:nvSpPr>
          <p:cNvPr id="208" name="Google Shape;208;p25"/>
          <p:cNvSpPr/>
          <p:nvPr/>
        </p:nvSpPr>
        <p:spPr>
          <a:xfrm>
            <a:off x="7662982" y="4090154"/>
            <a:ext cx="59391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Case study: A marketing agency's customer portal with task tracking and analytics saved $8,000 annually on SaaS subscriptions.</a:t>
            </a:r>
            <a:endParaRPr b="0" i="0" sz="1750" u="none" cap="none" strike="noStrike"/>
          </a:p>
        </p:txBody>
      </p:sp>
      <p:sp>
        <p:nvSpPr>
          <p:cNvPr id="209" name="Google Shape;209;p25"/>
          <p:cNvSpPr/>
          <p:nvPr/>
        </p:nvSpPr>
        <p:spPr>
          <a:xfrm>
            <a:off x="7662982" y="5314950"/>
            <a:ext cx="59391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Create customized management dashboards tailored to specific business needs.</a:t>
            </a:r>
            <a:endParaRPr b="0" i="0" sz="1750" u="none" cap="none" strike="noStrike"/>
          </a:p>
        </p:txBody>
      </p:sp>
      <p:sp>
        <p:nvSpPr>
          <p:cNvPr id="210" name="Google Shape;210;p25"/>
          <p:cNvSpPr txBox="1"/>
          <p:nvPr/>
        </p:nvSpPr>
        <p:spPr>
          <a:xfrm>
            <a:off x="793800" y="6840875"/>
            <a:ext cx="11562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3429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Open Sans"/>
              <a:buChar char="•"/>
            </a:pPr>
            <a:r>
              <a:rPr lang="en-US" sz="20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Explore common questions when using Base44 - </a:t>
            </a:r>
            <a:r>
              <a:rPr lang="en-US" sz="205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https://docs.base44.com/</a:t>
            </a:r>
            <a:endParaRPr sz="2050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6"/>
          <p:cNvSpPr/>
          <p:nvPr/>
        </p:nvSpPr>
        <p:spPr>
          <a:xfrm>
            <a:off x="793790" y="623768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When Not to Use...</a:t>
            </a:r>
            <a:endParaRPr b="0" i="0" sz="4450" u="none" cap="none" strike="noStrike"/>
          </a:p>
        </p:txBody>
      </p:sp>
      <p:sp>
        <p:nvSpPr>
          <p:cNvPr id="217" name="Google Shape;217;p26"/>
          <p:cNvSpPr/>
          <p:nvPr/>
        </p:nvSpPr>
        <p:spPr>
          <a:xfrm>
            <a:off x="793790" y="1686938"/>
            <a:ext cx="13042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21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Despite its benefits, consider alternatives in these scenarios:</a:t>
            </a:r>
            <a:endParaRPr b="0" i="0" sz="2150" u="none" cap="none" strike="noStrike"/>
          </a:p>
        </p:txBody>
      </p:sp>
      <p:sp>
        <p:nvSpPr>
          <p:cNvPr id="218" name="Google Shape;218;p26"/>
          <p:cNvSpPr/>
          <p:nvPr/>
        </p:nvSpPr>
        <p:spPr>
          <a:xfrm>
            <a:off x="793800" y="2404225"/>
            <a:ext cx="4196400" cy="3689100"/>
          </a:xfrm>
          <a:prstGeom prst="roundRect">
            <a:avLst>
              <a:gd fmla="val 272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6"/>
          <p:cNvSpPr/>
          <p:nvPr/>
        </p:nvSpPr>
        <p:spPr>
          <a:xfrm>
            <a:off x="1028224" y="2638663"/>
            <a:ext cx="3727490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Projects Requiring Full Control</a:t>
            </a:r>
            <a:endParaRPr b="0" i="0" sz="2200" u="none" cap="none" strike="noStrike"/>
          </a:p>
        </p:txBody>
      </p:sp>
      <p:sp>
        <p:nvSpPr>
          <p:cNvPr id="220" name="Google Shape;220;p26"/>
          <p:cNvSpPr/>
          <p:nvPr/>
        </p:nvSpPr>
        <p:spPr>
          <a:xfrm>
            <a:off x="1028224" y="3483412"/>
            <a:ext cx="3727490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Experienced developers needing complete code control prefer tools like Cursor. Applications requiring advanced performance optimizations need custom development.</a:t>
            </a:r>
            <a:endParaRPr b="0" i="0" sz="1750" u="none" cap="none" strike="noStrike"/>
          </a:p>
        </p:txBody>
      </p:sp>
      <p:sp>
        <p:nvSpPr>
          <p:cNvPr id="221" name="Google Shape;221;p26"/>
          <p:cNvSpPr/>
          <p:nvPr/>
        </p:nvSpPr>
        <p:spPr>
          <a:xfrm>
            <a:off x="5216950" y="2404225"/>
            <a:ext cx="4196400" cy="3689100"/>
          </a:xfrm>
          <a:prstGeom prst="roundRect">
            <a:avLst>
              <a:gd fmla="val 272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6"/>
          <p:cNvSpPr/>
          <p:nvPr/>
        </p:nvSpPr>
        <p:spPr>
          <a:xfrm>
            <a:off x="5451400" y="2638675"/>
            <a:ext cx="39237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Massive Enterprise Applications</a:t>
            </a:r>
            <a:endParaRPr b="0" i="0" sz="2200" u="none" cap="none" strike="noStrike"/>
          </a:p>
        </p:txBody>
      </p:sp>
      <p:sp>
        <p:nvSpPr>
          <p:cNvPr id="223" name="Google Shape;223;p26"/>
          <p:cNvSpPr/>
          <p:nvPr/>
        </p:nvSpPr>
        <p:spPr>
          <a:xfrm>
            <a:off x="5451396" y="3483412"/>
            <a:ext cx="3727490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Systems with thousands of users and strict security requirements need enterprise solutions. Complex integrations with legacy systems may prove challenging.</a:t>
            </a:r>
            <a:endParaRPr b="0" i="0" sz="1750" u="none" cap="none" strike="noStrike"/>
          </a:p>
        </p:txBody>
      </p:sp>
      <p:sp>
        <p:nvSpPr>
          <p:cNvPr id="224" name="Google Shape;224;p26"/>
          <p:cNvSpPr/>
          <p:nvPr/>
        </p:nvSpPr>
        <p:spPr>
          <a:xfrm>
            <a:off x="9640125" y="2404225"/>
            <a:ext cx="4196400" cy="3689100"/>
          </a:xfrm>
          <a:prstGeom prst="roundRect">
            <a:avLst>
              <a:gd fmla="val 2729" name="adj"/>
            </a:avLst>
          </a:prstGeom>
          <a:solidFill>
            <a:srgbClr val="F4D4F7"/>
          </a:solidFill>
          <a:ln cap="flat" cmpd="sng" w="9525">
            <a:solidFill>
              <a:srgbClr val="DABA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6"/>
          <p:cNvSpPr/>
          <p:nvPr/>
        </p:nvSpPr>
        <p:spPr>
          <a:xfrm>
            <a:off x="9874576" y="2638675"/>
            <a:ext cx="39621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Rubik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Rubik"/>
                <a:ea typeface="Rubik"/>
                <a:cs typeface="Rubik"/>
                <a:sym typeface="Rubik"/>
              </a:rPr>
              <a:t>Limited Long-Term Budgets</a:t>
            </a:r>
            <a:endParaRPr b="0" i="0" sz="2200" u="none" cap="none" strike="noStrike"/>
          </a:p>
        </p:txBody>
      </p:sp>
      <p:sp>
        <p:nvSpPr>
          <p:cNvPr id="226" name="Google Shape;226;p26"/>
          <p:cNvSpPr/>
          <p:nvPr/>
        </p:nvSpPr>
        <p:spPr>
          <a:xfrm>
            <a:off x="9874568" y="3483412"/>
            <a:ext cx="3727490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Organizations avoiding recurring payments should seek one-time solutions. Notification features may incur unexpected costs.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7"/>
          <p:cNvSpPr/>
          <p:nvPr/>
        </p:nvSpPr>
        <p:spPr>
          <a:xfrm>
            <a:off x="793790" y="623768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Today</a:t>
            </a:r>
            <a:endParaRPr b="0" i="0" sz="4450" u="none" cap="none" strike="noStrike"/>
          </a:p>
        </p:txBody>
      </p:sp>
      <p:sp>
        <p:nvSpPr>
          <p:cNvPr id="233" name="Google Shape;233;p27"/>
          <p:cNvSpPr/>
          <p:nvPr/>
        </p:nvSpPr>
        <p:spPr>
          <a:xfrm>
            <a:off x="793790" y="2254201"/>
            <a:ext cx="130428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Tour of the Base44 interface.</a:t>
            </a:r>
            <a:endParaRPr b="0" i="0" sz="1750" u="none" cap="none" strike="noStrike"/>
          </a:p>
        </p:txBody>
      </p:sp>
      <p:sp>
        <p:nvSpPr>
          <p:cNvPr id="234" name="Google Shape;234;p27"/>
          <p:cNvSpPr/>
          <p:nvPr/>
        </p:nvSpPr>
        <p:spPr>
          <a:xfrm>
            <a:off x="793790" y="2787005"/>
            <a:ext cx="130428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How to build a working app with user input, saved data, and dynamic screens.</a:t>
            </a:r>
            <a:endParaRPr b="0" i="0" sz="1750" u="none" cap="none" strike="noStrike"/>
          </a:p>
        </p:txBody>
      </p:sp>
      <p:sp>
        <p:nvSpPr>
          <p:cNvPr id="235" name="Google Shape;235;p27"/>
          <p:cNvSpPr/>
          <p:nvPr/>
        </p:nvSpPr>
        <p:spPr>
          <a:xfrm>
            <a:off x="793790" y="3319810"/>
            <a:ext cx="130428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How to use flows (logic engine), the database, and API integrations.</a:t>
            </a:r>
            <a:endParaRPr b="0" i="0" sz="1750" u="none" cap="none" strike="noStrike"/>
          </a:p>
        </p:txBody>
      </p:sp>
      <p:sp>
        <p:nvSpPr>
          <p:cNvPr id="236" name="Google Shape;236;p27"/>
          <p:cNvSpPr/>
          <p:nvPr/>
        </p:nvSpPr>
        <p:spPr>
          <a:xfrm>
            <a:off x="793790" y="3852615"/>
            <a:ext cx="130428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Open Sans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Build a full app step-by-step together with your instructor.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8"/>
          <p:cNvSpPr/>
          <p:nvPr/>
        </p:nvSpPr>
        <p:spPr>
          <a:xfrm>
            <a:off x="4157067" y="2388751"/>
            <a:ext cx="63162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75BE2"/>
              </a:buClr>
              <a:buSzPts val="4450"/>
              <a:buFont typeface="Rubik"/>
              <a:buNone/>
            </a:pPr>
            <a:r>
              <a:rPr b="0" i="0" lang="en-US" sz="4450" u="none" cap="none" strike="noStrike">
                <a:solidFill>
                  <a:srgbClr val="D75BE2"/>
                </a:solidFill>
                <a:latin typeface="Rubik"/>
                <a:ea typeface="Rubik"/>
                <a:cs typeface="Rubik"/>
                <a:sym typeface="Rubik"/>
              </a:rPr>
              <a:t>Base44 Demonstration</a:t>
            </a:r>
            <a:endParaRPr b="0" i="0" sz="4450" u="none" cap="none" strike="noStrike"/>
          </a:p>
        </p:txBody>
      </p:sp>
      <p:sp>
        <p:nvSpPr>
          <p:cNvPr id="243" name="Google Shape;243;p28"/>
          <p:cNvSpPr/>
          <p:nvPr/>
        </p:nvSpPr>
        <p:spPr>
          <a:xfrm>
            <a:off x="534100" y="4123260"/>
            <a:ext cx="13042800" cy="11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96875" lvl="0" marL="45720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2650"/>
              <a:buAutoNum type="arabicPeriod"/>
            </a:pPr>
            <a:r>
              <a:rPr lang="en-US" sz="26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“FixMe” app - Service Call Management System</a:t>
            </a:r>
            <a:endParaRPr sz="2650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96875" lvl="0" marL="45720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2650"/>
              <a:buAutoNum type="arabicPeriod"/>
            </a:pPr>
            <a:r>
              <a:rPr lang="en-US" sz="2650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"FormFlow" app – Build-Your-Own Form and Analyze Submissions</a:t>
            </a:r>
            <a:endParaRPr sz="2650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50">
              <a:solidFill>
                <a:srgbClr val="27252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