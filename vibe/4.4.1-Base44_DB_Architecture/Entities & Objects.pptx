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5143500" cx="9144000"/>
  <p:notesSz cx="5143500" cy="9144000"/>
  <p:embeddedFontLst>
    <p:embeddedFont>
      <p:font typeface="Nunito SemiBold"/>
      <p:regular r:id="rId20"/>
      <p:bold r:id="rId21"/>
      <p:italic r:id="rId22"/>
      <p:boldItalic r:id="rId23"/>
    </p:embeddedFont>
    <p:embeddedFont>
      <p:font typeface="PT Sans"/>
      <p:regular r:id="rId24"/>
      <p:bold r:id="rId25"/>
      <p:italic r:id="rId26"/>
      <p:boldItalic r:id="rId27"/>
    </p:embeddedFont>
    <p:embeddedFont>
      <p:font typeface="Nunito Light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SemiBold-regular.fntdata"/><Relationship Id="rId22" Type="http://schemas.openxmlformats.org/officeDocument/2006/relationships/font" Target="fonts/NunitoSemiBold-italic.fntdata"/><Relationship Id="rId21" Type="http://schemas.openxmlformats.org/officeDocument/2006/relationships/font" Target="fonts/NunitoSemiBold-bold.fntdata"/><Relationship Id="rId24" Type="http://schemas.openxmlformats.org/officeDocument/2006/relationships/font" Target="fonts/PTSans-regular.fntdata"/><Relationship Id="rId23" Type="http://schemas.openxmlformats.org/officeDocument/2006/relationships/font" Target="fonts/NunitoSemiBold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PTSans-italic.fntdata"/><Relationship Id="rId25" Type="http://schemas.openxmlformats.org/officeDocument/2006/relationships/font" Target="fonts/PTSans-bold.fntdata"/><Relationship Id="rId28" Type="http://schemas.openxmlformats.org/officeDocument/2006/relationships/font" Target="fonts/NunitoLight-regular.fntdata"/><Relationship Id="rId27" Type="http://schemas.openxmlformats.org/officeDocument/2006/relationships/font" Target="fonts/PT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NunitoLigh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NunitoLight-boldItalic.fntdata"/><Relationship Id="rId30" Type="http://schemas.openxmlformats.org/officeDocument/2006/relationships/font" Target="fonts/NunitoLigh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w-I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52.png"/><Relationship Id="rId5" Type="http://schemas.openxmlformats.org/officeDocument/2006/relationships/image" Target="../media/image4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jpg"/><Relationship Id="rId4" Type="http://schemas.openxmlformats.org/officeDocument/2006/relationships/image" Target="../media/image14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9" Type="http://schemas.openxmlformats.org/officeDocument/2006/relationships/image" Target="../media/image53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49.png"/><Relationship Id="rId7" Type="http://schemas.openxmlformats.org/officeDocument/2006/relationships/image" Target="../media/image35.png"/><Relationship Id="rId8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6.jpg"/><Relationship Id="rId4" Type="http://schemas.openxmlformats.org/officeDocument/2006/relationships/image" Target="../media/image34.png"/><Relationship Id="rId5" Type="http://schemas.openxmlformats.org/officeDocument/2006/relationships/image" Target="../media/image33.png"/><Relationship Id="rId6" Type="http://schemas.openxmlformats.org/officeDocument/2006/relationships/image" Target="../media/image37.png"/><Relationship Id="rId7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jpg"/><Relationship Id="rId4" Type="http://schemas.openxmlformats.org/officeDocument/2006/relationships/image" Target="../media/image45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Relationship Id="rId5" Type="http://schemas.openxmlformats.org/officeDocument/2006/relationships/image" Target="../media/image41.png"/><Relationship Id="rId6" Type="http://schemas.openxmlformats.org/officeDocument/2006/relationships/image" Target="../media/image44.png"/><Relationship Id="rId7" Type="http://schemas.openxmlformats.org/officeDocument/2006/relationships/image" Target="../media/image43.png"/><Relationship Id="rId8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1090985" y="1511275"/>
            <a:ext cx="4100438" cy="38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2400"/>
              <a:buFont typeface="Nunito SemiBold"/>
              <a:buNone/>
            </a:pPr>
            <a:r>
              <a:rPr b="0" i="0" lang="iw-IL" sz="24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בניית מסדי נתונים ב-Base44</a:t>
            </a:r>
            <a:endParaRPr b="0" i="0" sz="24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23577" y="2092523"/>
            <a:ext cx="4707954" cy="5313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3300"/>
              <a:buFont typeface="Nunito SemiBold"/>
              <a:buNone/>
            </a:pPr>
            <a:r>
              <a:rPr b="0" i="0" lang="iw-IL" sz="33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Entities &amp; Objects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23577" y="2820144"/>
            <a:ext cx="4667845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מדריך מעשי למפתחים ומעצבי מוצר — כיצד לבנות שכבת נתונים חכמה, מובנית ומותאמת לבינה מלאכותית.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23577" y="3386212"/>
            <a:ext cx="505271" cy="245938"/>
          </a:xfrm>
          <a:prstGeom prst="roundRect">
            <a:avLst>
              <a:gd fmla="val 63875" name="adj"/>
            </a:avLst>
          </a:prstGeom>
          <a:solidFill>
            <a:srgbClr val="CF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602084" y="3425428"/>
            <a:ext cx="805458" cy="16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00"/>
              <a:buFont typeface="PT Sans"/>
              <a:buNone/>
            </a:pPr>
            <a:r>
              <a:rPr b="0" i="0" lang="iw-IL" sz="8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BASE44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1094259" y="3386212"/>
            <a:ext cx="707901" cy="245938"/>
          </a:xfrm>
          <a:prstGeom prst="roundRect">
            <a:avLst>
              <a:gd fmla="val 63875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2D4DF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1172766" y="3425428"/>
            <a:ext cx="1008087" cy="16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800"/>
              <a:buFont typeface="PT Sans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867570" y="3386212"/>
            <a:ext cx="798835" cy="245938"/>
          </a:xfrm>
          <a:prstGeom prst="roundRect">
            <a:avLst>
              <a:gd fmla="val 63875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2D4DF2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1946077" y="3425428"/>
            <a:ext cx="1099021" cy="167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800"/>
              <a:buFont typeface="PT Sans"/>
              <a:buNone/>
            </a:pPr>
            <a:r>
              <a:rPr b="0" i="0" lang="iw-IL" sz="800" u="none" cap="none" strike="noStrike">
                <a:solidFill>
                  <a:srgbClr val="2D4DF2"/>
                </a:solidFill>
                <a:latin typeface="PT Sans"/>
                <a:ea typeface="PT Sans"/>
                <a:cs typeface="PT Sans"/>
                <a:sym typeface="PT Sans"/>
              </a:rPr>
              <a:t>AI DATABASES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6623149" y="658564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רקע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2730550" y="903387"/>
            <a:ext cx="5889873" cy="38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2400"/>
              <a:buFont typeface="Nunito SemiBold"/>
              <a:buNone/>
            </a:pPr>
            <a:r>
              <a:rPr b="0" i="0" lang="iw-IL" sz="24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מהכרת הממשק — לשליטה בשכבת הנתונים</a:t>
            </a:r>
            <a:endParaRPr b="0" i="0" sz="24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429295" y="1484635"/>
            <a:ext cx="4498107" cy="3000226"/>
          </a:xfrm>
          <a:prstGeom prst="roundRect">
            <a:avLst>
              <a:gd fmla="val 10472" name="adj"/>
            </a:avLst>
          </a:prstGeom>
          <a:solidFill>
            <a:srgbClr val="2D4DF2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2799234" y="1615529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איפה אנחנו עומדים?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560189" y="1938933"/>
            <a:ext cx="4236318" cy="6282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עד כה הכרנו את ממשק העבודה ב-Gamma וב-Base44, את כלי העיצוב ואת אפשרויות הפרויקט. עכשיו הגיע הזמן להתקדם לשלב הבא: </a:t>
            </a: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שליטה מלאה בשכבת הנתונים</a:t>
            </a: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627912" y="1615529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מה נלמד היום?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1" name="Google Shape;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9768" y="1961852"/>
            <a:ext cx="196304" cy="19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5157267" y="1955304"/>
            <a:ext cx="3042493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הגדרת Entities — טבלאות חכמות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" name="Google Shape;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79768" y="2622872"/>
            <a:ext cx="196304" cy="19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>
            <a:off x="5157267" y="2616324"/>
            <a:ext cx="3042493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סוגי שדות ותכונות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5" name="Google Shape;45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79768" y="3283893"/>
            <a:ext cx="196304" cy="19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5"/>
          <p:cNvSpPr/>
          <p:nvPr/>
        </p:nvSpPr>
        <p:spPr>
          <a:xfrm>
            <a:off x="5157267" y="3277344"/>
            <a:ext cx="3042493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קשרים בין ישויות (Relationships)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" name="Google Shape;4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79768" y="3944913"/>
            <a:ext cx="196304" cy="196304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5"/>
          <p:cNvSpPr/>
          <p:nvPr/>
        </p:nvSpPr>
        <p:spPr>
          <a:xfrm>
            <a:off x="5157267" y="3938364"/>
            <a:ext cx="3042493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כללי שם מתאימים ל-AI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6671221" y="382563"/>
            <a:ext cx="1949202" cy="186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50"/>
              <a:buFont typeface="Nunito SemiBold"/>
              <a:buNone/>
            </a:pPr>
            <a:r>
              <a:rPr b="0" i="0" lang="iw-IL" sz="115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יסודות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523577" y="618158"/>
            <a:ext cx="3721671" cy="3729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2300"/>
              <a:buFont typeface="Nunito SemiBold"/>
              <a:buNone/>
            </a:pPr>
            <a:r>
              <a:rPr b="0" i="0" lang="iw-IL" sz="23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Entities — טבלאות חכמות</a:t>
            </a:r>
            <a:endParaRPr b="0" i="0" sz="23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523577" y="1175370"/>
            <a:ext cx="8554045" cy="199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Entity הוא הלב של מסד הנתונים ב-Base44. כל Entity מייצג ישות עסקית — כמו משתמשים, מוצרים, או קורסים — ומאחסן את הנתונים שלה במבנה מוגדר.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523577" y="1513210"/>
            <a:ext cx="3987031" cy="1245171"/>
          </a:xfrm>
          <a:prstGeom prst="roundRect">
            <a:avLst>
              <a:gd fmla="val 15277" name="adj"/>
            </a:avLst>
          </a:prstGeom>
          <a:solidFill>
            <a:srgbClr val="F3F3FF"/>
          </a:solidFill>
          <a:ln cap="flat" cmpd="sng" w="14275">
            <a:solidFill>
              <a:srgbClr val="2D4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6"/>
          <p:cNvSpPr/>
          <p:nvPr/>
        </p:nvSpPr>
        <p:spPr>
          <a:xfrm>
            <a:off x="664666" y="1654299"/>
            <a:ext cx="380405" cy="380405"/>
          </a:xfrm>
          <a:prstGeom prst="ellipse">
            <a:avLst/>
          </a:prstGeom>
          <a:solidFill>
            <a:srgbClr val="2D4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9" name="Google Shape;5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293" y="1758851"/>
            <a:ext cx="171152" cy="17115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6"/>
          <p:cNvSpPr/>
          <p:nvPr/>
        </p:nvSpPr>
        <p:spPr>
          <a:xfrm>
            <a:off x="664666" y="2157487"/>
            <a:ext cx="1492002" cy="186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50"/>
              <a:buFont typeface="Nunito SemiBold"/>
              <a:buNone/>
            </a:pPr>
            <a:r>
              <a:rPr b="0" i="0" lang="iw-IL" sz="115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Text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664666" y="2417638"/>
            <a:ext cx="3704853" cy="199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טקסט חופשי — שמות, תיאורים, כתובות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4633392" y="1513210"/>
            <a:ext cx="3987031" cy="1245171"/>
          </a:xfrm>
          <a:prstGeom prst="roundRect">
            <a:avLst>
              <a:gd fmla="val 15277" name="adj"/>
            </a:avLst>
          </a:prstGeom>
          <a:solidFill>
            <a:srgbClr val="F3F3FF"/>
          </a:solidFill>
          <a:ln cap="flat" cmpd="sng" w="14275">
            <a:solidFill>
              <a:srgbClr val="018C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6"/>
          <p:cNvSpPr/>
          <p:nvPr/>
        </p:nvSpPr>
        <p:spPr>
          <a:xfrm>
            <a:off x="4774481" y="1654299"/>
            <a:ext cx="380405" cy="380405"/>
          </a:xfrm>
          <a:prstGeom prst="ellipse">
            <a:avLst/>
          </a:prstGeom>
          <a:solidFill>
            <a:srgbClr val="018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9107" y="1758851"/>
            <a:ext cx="171152" cy="17115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/>
          <p:nvPr/>
        </p:nvSpPr>
        <p:spPr>
          <a:xfrm>
            <a:off x="4774481" y="2157487"/>
            <a:ext cx="1492002" cy="186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50"/>
              <a:buFont typeface="Nunito SemiBold"/>
              <a:buNone/>
            </a:pPr>
            <a:r>
              <a:rPr b="0" i="0" lang="iw-IL" sz="115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Number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4774481" y="2417638"/>
            <a:ext cx="3704853" cy="199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מספרים — מחירים, כמויות, דירוגים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23577" y="2881164"/>
            <a:ext cx="3987031" cy="1245171"/>
          </a:xfrm>
          <a:prstGeom prst="roundRect">
            <a:avLst>
              <a:gd fmla="val 15277" name="adj"/>
            </a:avLst>
          </a:prstGeom>
          <a:solidFill>
            <a:srgbClr val="F3F3FF"/>
          </a:solidFill>
          <a:ln cap="flat" cmpd="sng" w="14275">
            <a:solidFill>
              <a:srgbClr val="DA33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664666" y="3022253"/>
            <a:ext cx="380405" cy="380405"/>
          </a:xfrm>
          <a:prstGeom prst="ellipse">
            <a:avLst/>
          </a:prstGeom>
          <a:solidFill>
            <a:srgbClr val="DA3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9293" y="3126804"/>
            <a:ext cx="171152" cy="17115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6"/>
          <p:cNvSpPr/>
          <p:nvPr/>
        </p:nvSpPr>
        <p:spPr>
          <a:xfrm>
            <a:off x="664666" y="3525441"/>
            <a:ext cx="1492002" cy="186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50"/>
              <a:buFont typeface="Nunito SemiBold"/>
              <a:buNone/>
            </a:pPr>
            <a:r>
              <a:rPr b="0" i="0" lang="iw-IL" sz="115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Boolean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664666" y="3785592"/>
            <a:ext cx="3704853" cy="199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אמת/שקר — סטטוס פעיל, הרשאות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4633392" y="2881164"/>
            <a:ext cx="3987031" cy="1245171"/>
          </a:xfrm>
          <a:prstGeom prst="roundRect">
            <a:avLst>
              <a:gd fmla="val 15277" name="adj"/>
            </a:avLst>
          </a:prstGeom>
          <a:solidFill>
            <a:srgbClr val="F3F3FF"/>
          </a:solidFill>
          <a:ln cap="flat" cmpd="sng" w="14275">
            <a:solidFill>
              <a:srgbClr val="2D4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4774481" y="3022253"/>
            <a:ext cx="380405" cy="380405"/>
          </a:xfrm>
          <a:prstGeom prst="ellipse">
            <a:avLst/>
          </a:prstGeom>
          <a:solidFill>
            <a:srgbClr val="2D4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79107" y="3126804"/>
            <a:ext cx="171152" cy="171152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6"/>
          <p:cNvSpPr/>
          <p:nvPr/>
        </p:nvSpPr>
        <p:spPr>
          <a:xfrm>
            <a:off x="4774481" y="3525441"/>
            <a:ext cx="1492002" cy="186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50"/>
              <a:buFont typeface="Nunito SemiBold"/>
              <a:buNone/>
            </a:pPr>
            <a:r>
              <a:rPr b="0" i="0" lang="iw-IL" sz="115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Date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774481" y="3785592"/>
            <a:ext cx="3704853" cy="199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תאריכים ושעות — תאריך יצירה, תוקף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23577" y="4264521"/>
            <a:ext cx="8096845" cy="496342"/>
          </a:xfrm>
          <a:prstGeom prst="roundRect">
            <a:avLst>
              <a:gd fmla="val 38327" name="adj"/>
            </a:avLst>
          </a:prstGeom>
          <a:solidFill>
            <a:srgbClr val="CF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379" y="4445422"/>
            <a:ext cx="158502" cy="126802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6"/>
          <p:cNvSpPr/>
          <p:nvPr/>
        </p:nvSpPr>
        <p:spPr>
          <a:xfrm>
            <a:off x="478482" y="4419005"/>
            <a:ext cx="8015139" cy="1996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דוגמאות ל-Entities נפוצים: </a:t>
            </a:r>
            <a:r>
              <a:rPr b="1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Users</a:t>
            </a:r>
            <a:r>
              <a:rPr b="0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, </a:t>
            </a:r>
            <a:r>
              <a:rPr b="1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Products</a:t>
            </a:r>
            <a:r>
              <a:rPr b="0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, </a:t>
            </a:r>
            <a:r>
              <a:rPr b="1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Orders</a:t>
            </a:r>
            <a:r>
              <a:rPr b="0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, </a:t>
            </a:r>
            <a:r>
              <a:rPr b="1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Courses</a:t>
            </a:r>
            <a:r>
              <a:rPr b="0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— כל אחד עם שדות ייחודיים המתאימים לצרכיו.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6623149" y="434057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הדגמה חיה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5083001" y="678879"/>
            <a:ext cx="3537421" cy="38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2400"/>
              <a:buFont typeface="Nunito SemiBold"/>
              <a:buNone/>
            </a:pPr>
            <a:r>
              <a:rPr b="0" i="0" lang="iw-IL" sz="24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יצירת Entity: Courses</a:t>
            </a:r>
            <a:endParaRPr b="0" i="0" sz="24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7"/>
          <p:cNvSpPr/>
          <p:nvPr/>
        </p:nvSpPr>
        <p:spPr>
          <a:xfrm>
            <a:off x="2415034" y="1391022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שדות ה-Entity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523577" y="1730797"/>
            <a:ext cx="3888730" cy="1527572"/>
          </a:xfrm>
          <a:prstGeom prst="roundRect">
            <a:avLst>
              <a:gd fmla="val 12855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7"/>
          <p:cNvSpPr/>
          <p:nvPr/>
        </p:nvSpPr>
        <p:spPr>
          <a:xfrm>
            <a:off x="202034" y="1818829"/>
            <a:ext cx="1744712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1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שם השדה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1756097" y="1818829"/>
            <a:ext cx="1354410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1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סוג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2919859" y="1818829"/>
            <a:ext cx="1356792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1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תיאור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659234" y="2199531"/>
            <a:ext cx="1744712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7"/>
          <p:cNvSpPr/>
          <p:nvPr/>
        </p:nvSpPr>
        <p:spPr>
          <a:xfrm>
            <a:off x="2213297" y="2199531"/>
            <a:ext cx="1354410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Text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2919859" y="2199531"/>
            <a:ext cx="1356792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שם הקורס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59234" y="2580233"/>
            <a:ext cx="1744712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price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7"/>
          <p:cNvSpPr/>
          <p:nvPr/>
        </p:nvSpPr>
        <p:spPr>
          <a:xfrm>
            <a:off x="2213297" y="2580233"/>
            <a:ext cx="1354410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Number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2919859" y="2580233"/>
            <a:ext cx="1356792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מחיר הקורס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659234" y="2960936"/>
            <a:ext cx="1744712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is_active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2213297" y="2960936"/>
            <a:ext cx="1354410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Boolean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2919859" y="2960936"/>
            <a:ext cx="1356792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האם הקורס פעיל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66377" y="3405634"/>
            <a:ext cx="4345930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שימו לב: שמות שדות באנגלית, ב-snake_case, תיאוריים וברורים.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642172" y="1260128"/>
            <a:ext cx="4077295" cy="3449315"/>
          </a:xfrm>
          <a:prstGeom prst="roundRect">
            <a:avLst>
              <a:gd fmla="val 9109" name="adj"/>
            </a:avLst>
          </a:prstGeom>
          <a:solidFill>
            <a:srgbClr val="2D4DF2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6591300" y="1391022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שלבי היצירה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8326785" y="1730797"/>
            <a:ext cx="261789" cy="163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 Light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Nunito Light"/>
                <a:ea typeface="Nunito Light"/>
                <a:cs typeface="Nunito Light"/>
                <a:sym typeface="Nunito Light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4773067" y="1938933"/>
            <a:ext cx="3815507" cy="14288"/>
          </a:xfrm>
          <a:prstGeom prst="rect">
            <a:avLst/>
          </a:prstGeom>
          <a:solidFill>
            <a:srgbClr val="2D4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4773067" y="2032918"/>
            <a:ext cx="3815507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לחצו על </a:t>
            </a: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+ New Entity</a:t>
            </a: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ב-Data Panel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326785" y="2471365"/>
            <a:ext cx="261789" cy="163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 Light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Nunito Light"/>
                <a:ea typeface="Nunito Light"/>
                <a:cs typeface="Nunito Light"/>
                <a:sym typeface="Nunito Light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773067" y="2679502"/>
            <a:ext cx="3815507" cy="14288"/>
          </a:xfrm>
          <a:prstGeom prst="rect">
            <a:avLst/>
          </a:prstGeom>
          <a:solidFill>
            <a:srgbClr val="018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4773067" y="2773487"/>
            <a:ext cx="3815507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הזינו שם: </a:t>
            </a: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Courses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8326785" y="3211934"/>
            <a:ext cx="261789" cy="163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 Light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Nunito Light"/>
                <a:ea typeface="Nunito Light"/>
                <a:cs typeface="Nunito Light"/>
                <a:sym typeface="Nunito Light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773067" y="3420070"/>
            <a:ext cx="3815507" cy="14288"/>
          </a:xfrm>
          <a:prstGeom prst="rect">
            <a:avLst/>
          </a:prstGeom>
          <a:solidFill>
            <a:srgbClr val="DA33B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4773067" y="3514055"/>
            <a:ext cx="3815507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הוסיפו שדות לפי הטבלה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8326785" y="3952503"/>
            <a:ext cx="261789" cy="163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 Light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Nunito Light"/>
                <a:ea typeface="Nunito Light"/>
                <a:cs typeface="Nunito Light"/>
                <a:sym typeface="Nunito Light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773067" y="4160639"/>
            <a:ext cx="3815507" cy="14288"/>
          </a:xfrm>
          <a:prstGeom prst="rect">
            <a:avLst/>
          </a:prstGeom>
          <a:solidFill>
            <a:srgbClr val="2D4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4773067" y="4254624"/>
            <a:ext cx="3815507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שמרו ואמתו את המבנה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1" name="Google Shape;1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8"/>
          <p:cNvSpPr/>
          <p:nvPr/>
        </p:nvSpPr>
        <p:spPr>
          <a:xfrm>
            <a:off x="3314477" y="369838"/>
            <a:ext cx="1876946" cy="177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00"/>
              <a:buFont typeface="Nunito SemiBold"/>
              <a:buNone/>
            </a:pPr>
            <a:r>
              <a:rPr b="0" i="0" lang="iw-IL" sz="11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תרגיל מעשי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1894656" y="591815"/>
            <a:ext cx="3296766" cy="354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2200"/>
              <a:buFont typeface="Nunito SemiBold"/>
              <a:buNone/>
            </a:pPr>
            <a:r>
              <a:rPr b="0" i="0" lang="iw-IL" sz="22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צרו Entity: Students</a:t>
            </a:r>
            <a:endParaRPr b="0" i="0" sz="22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523577" y="1113606"/>
            <a:ext cx="4667845" cy="37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עכשיו תורכם! בנו Entity חדש שיאחסן את נתוני הסטודנטים שלכם. השתמשו בשלושת השדות הבאים: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5" name="Google Shape;125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77" y="1609725"/>
            <a:ext cx="2278261" cy="123281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8"/>
          <p:cNvSpPr/>
          <p:nvPr/>
        </p:nvSpPr>
        <p:spPr>
          <a:xfrm>
            <a:off x="1590266" y="1700213"/>
            <a:ext cx="14481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 SemiBold"/>
              <a:buNone/>
            </a:pPr>
            <a:r>
              <a:rPr b="0" i="0" lang="iw-IL" sz="1100" u="none" cap="none" strike="noStrike">
                <a:solidFill>
                  <a:srgbClr val="FFFF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658490" y="2092375"/>
            <a:ext cx="1419746" cy="177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00"/>
              <a:buFont typeface="Nunito SemiBold"/>
              <a:buNone/>
            </a:pPr>
            <a:r>
              <a:rPr b="0" i="0" lang="iw-IL" sz="11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658490" y="2336602"/>
            <a:ext cx="2008436" cy="37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1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Text</a:t>
            </a: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— שם מלא של הסטודנט. השתמשו בשדה טקסט חופשי.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13087" y="1609725"/>
            <a:ext cx="2278335" cy="123281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8"/>
          <p:cNvSpPr/>
          <p:nvPr/>
        </p:nvSpPr>
        <p:spPr>
          <a:xfrm>
            <a:off x="3979776" y="1700213"/>
            <a:ext cx="14481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 SemiBold"/>
              <a:buNone/>
            </a:pPr>
            <a:r>
              <a:rPr b="0" i="0" lang="iw-IL" sz="1100" u="none" cap="none" strike="noStrike">
                <a:solidFill>
                  <a:srgbClr val="FFFF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3048000" y="2092375"/>
            <a:ext cx="1419746" cy="177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00"/>
              <a:buFont typeface="Nunito SemiBold"/>
              <a:buNone/>
            </a:pPr>
            <a:r>
              <a:rPr b="0" i="0" lang="iw-IL" sz="11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email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3048000" y="2336602"/>
            <a:ext cx="2008510" cy="371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1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Text</a:t>
            </a: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— כתובת אימייל ייחודית. ניתן להוסיף ולידציה בהמשך.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3" name="Google Shape;133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577" y="2953792"/>
            <a:ext cx="4667845" cy="1047304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8"/>
          <p:cNvSpPr/>
          <p:nvPr/>
        </p:nvSpPr>
        <p:spPr>
          <a:xfrm>
            <a:off x="2785058" y="3044279"/>
            <a:ext cx="144810" cy="18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unito SemiBold"/>
              <a:buNone/>
            </a:pPr>
            <a:r>
              <a:rPr b="0" i="0" lang="iw-IL" sz="1100" u="none" cap="none" strike="noStrike">
                <a:solidFill>
                  <a:srgbClr val="FFFF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658490" y="3436441"/>
            <a:ext cx="1419746" cy="177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00"/>
              <a:buFont typeface="Nunito SemiBold"/>
              <a:buNone/>
            </a:pPr>
            <a:r>
              <a:rPr b="0" i="0" lang="iw-IL" sz="11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enrolled_date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58490" y="3680668"/>
            <a:ext cx="4398020" cy="1855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1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Date</a:t>
            </a: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— תאריך ההרשמה לקורס. שדה תאריך סטנדרטי.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523577" y="4126185"/>
            <a:ext cx="4667845" cy="647402"/>
          </a:xfrm>
          <a:prstGeom prst="roundRect">
            <a:avLst>
              <a:gd fmla="val 27962" name="adj"/>
            </a:avLst>
          </a:prstGeom>
          <a:solidFill>
            <a:srgbClr val="B6FC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8" name="Google Shape;13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4203" y="4295180"/>
            <a:ext cx="150837" cy="12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/>
          <p:nvPr/>
        </p:nvSpPr>
        <p:spPr>
          <a:xfrm>
            <a:off x="915665" y="4267572"/>
            <a:ext cx="4155132" cy="3757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💡 </a:t>
            </a:r>
            <a:r>
              <a:rPr b="1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טיפ:</a:t>
            </a:r>
            <a:r>
              <a:rPr b="0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השתמשו בשמות שדות תיאוריים כמו </a:t>
            </a:r>
            <a:r>
              <a:rPr b="0" i="0" lang="iw-IL" sz="950" u="none" cap="none" strike="noStrike">
                <a:solidFill>
                  <a:srgbClr val="000000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enrolled_date</a:t>
            </a:r>
            <a:r>
              <a:rPr b="0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ולא קיצורים כמו </a:t>
            </a:r>
            <a:r>
              <a:rPr b="0" i="0" lang="iw-IL" sz="950" u="none" cap="none" strike="noStrike">
                <a:solidFill>
                  <a:srgbClr val="000000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dt</a:t>
            </a:r>
            <a:r>
              <a:rPr b="0" i="0" lang="iw-IL" sz="95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— זה חשוב לאינטגרציה עם AI.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/>
          <p:nvPr/>
        </p:nvSpPr>
        <p:spPr>
          <a:xfrm>
            <a:off x="6623149" y="1047750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קשרים בין ישויות</a:t>
            </a:r>
            <a:endParaRPr b="0" i="0" sz="12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523577" y="1292572"/>
            <a:ext cx="4991100" cy="38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2400"/>
              <a:buFont typeface="Nunito SemiBold"/>
              <a:buNone/>
            </a:pPr>
            <a:r>
              <a:rPr b="0" i="0" lang="iw-IL" sz="24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Relationships — הלוגיקה של ה-AI</a:t>
            </a:r>
            <a:endParaRPr b="0" i="0" sz="24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523577" y="1873821"/>
            <a:ext cx="8554045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Relationships מאפשרים לחבר בין Entities שונים וליצור מבנה נתונים עשיר. ה-AI של Base44 מבין את הקשרים הללו ומשתמש בהם כדי לייצר לוגיקה חכמה.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4637484" y="2230487"/>
            <a:ext cx="3982938" cy="1508522"/>
          </a:xfrm>
          <a:prstGeom prst="roundRect">
            <a:avLst>
              <a:gd fmla="val 13017" name="adj"/>
            </a:avLst>
          </a:prstGeom>
          <a:solidFill>
            <a:srgbClr val="F3F3FF"/>
          </a:solidFill>
          <a:ln cap="flat" cmpd="sng" w="14275">
            <a:solidFill>
              <a:srgbClr val="2D4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9"/>
          <p:cNvSpPr/>
          <p:nvPr/>
        </p:nvSpPr>
        <p:spPr>
          <a:xfrm>
            <a:off x="8082558" y="2375669"/>
            <a:ext cx="392683" cy="392683"/>
          </a:xfrm>
          <a:prstGeom prst="ellipse">
            <a:avLst/>
          </a:prstGeom>
          <a:solidFill>
            <a:srgbClr val="2D4D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0607" y="2483644"/>
            <a:ext cx="176659" cy="17665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/>
          <p:nvPr/>
        </p:nvSpPr>
        <p:spPr>
          <a:xfrm>
            <a:off x="6935167" y="2899246"/>
            <a:ext cx="15400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אחד לרבים (1:N)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4782666" y="3170262"/>
            <a:ext cx="3692575" cy="4235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ישות אחת מקושרת לרבות. דוגמה: </a:t>
            </a:r>
            <a:r>
              <a:rPr b="1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מורה אחד</a:t>
            </a: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מלמד </a:t>
            </a:r>
            <a:r>
              <a:rPr b="1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קורסים רבים</a:t>
            </a: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 השדה מסוג </a:t>
            </a:r>
            <a:r>
              <a:rPr b="0" i="0" lang="iw-IL" sz="100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Relation</a:t>
            </a: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נמצא בצד ה"רבים".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523577" y="2230487"/>
            <a:ext cx="3983013" cy="1508522"/>
          </a:xfrm>
          <a:prstGeom prst="roundRect">
            <a:avLst>
              <a:gd fmla="val 13017" name="adj"/>
            </a:avLst>
          </a:prstGeom>
          <a:solidFill>
            <a:srgbClr val="F3F3FF"/>
          </a:solidFill>
          <a:ln cap="flat" cmpd="sng" w="14275">
            <a:solidFill>
              <a:srgbClr val="018C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3968725" y="2375669"/>
            <a:ext cx="392683" cy="392683"/>
          </a:xfrm>
          <a:prstGeom prst="ellipse">
            <a:avLst/>
          </a:prstGeom>
          <a:solidFill>
            <a:srgbClr val="018CE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5" name="Google Shape;15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76774" y="2483644"/>
            <a:ext cx="176659" cy="17665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9"/>
          <p:cNvSpPr/>
          <p:nvPr/>
        </p:nvSpPr>
        <p:spPr>
          <a:xfrm>
            <a:off x="2821335" y="2899246"/>
            <a:ext cx="15400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רבים לרבים (N:M)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68759" y="3170262"/>
            <a:ext cx="3692649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ישויות רבות מקושרות לישויות רבות. דוגמה: </a:t>
            </a:r>
            <a:r>
              <a:rPr b="1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סטודנטים רבים</a:t>
            </a: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נרשמים ל</a:t>
            </a:r>
            <a:r>
              <a:rPr b="1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קורסים רבים</a:t>
            </a: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 Base44 מנהל את טבלת הביניים אוטומטית.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66377" y="3886274"/>
            <a:ext cx="8554045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הקשרים הללו הם הלב של הלוגיקה העסקית — הם מאפשרים ל-AI להבין את ההקשר ולהציע פעולות חכמות.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/>
          <p:nvPr/>
        </p:nvSpPr>
        <p:spPr>
          <a:xfrm>
            <a:off x="6623149" y="695474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הדגמה חיה</a:t>
            </a:r>
            <a:endParaRPr b="0" i="0" sz="12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0"/>
          <p:cNvSpPr/>
          <p:nvPr/>
        </p:nvSpPr>
        <p:spPr>
          <a:xfrm>
            <a:off x="4388048" y="940296"/>
            <a:ext cx="4232374" cy="38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2400"/>
              <a:buFont typeface="Nunito SemiBold"/>
              <a:buNone/>
            </a:pPr>
            <a:r>
              <a:rPr b="0" i="0" lang="iw-IL" sz="24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קישור Courses ל-Instructors</a:t>
            </a:r>
            <a:endParaRPr b="0" i="0" sz="24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/>
          <p:nvPr/>
        </p:nvSpPr>
        <p:spPr>
          <a:xfrm>
            <a:off x="429295" y="1521544"/>
            <a:ext cx="3656484" cy="2926482"/>
          </a:xfrm>
          <a:prstGeom prst="roundRect">
            <a:avLst>
              <a:gd fmla="val 10736" name="adj"/>
            </a:avLst>
          </a:prstGeom>
          <a:solidFill>
            <a:srgbClr val="2D4DF2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/>
          <p:nvPr/>
        </p:nvSpPr>
        <p:spPr>
          <a:xfrm>
            <a:off x="1957611" y="1652439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הגדרת הקשר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/>
          <p:nvPr/>
        </p:nvSpPr>
        <p:spPr>
          <a:xfrm>
            <a:off x="102989" y="1975842"/>
            <a:ext cx="3851895" cy="2141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נוסיף שדה </a:t>
            </a:r>
            <a:r>
              <a:rPr b="0" i="0" lang="iw-IL" sz="1000" u="none" cap="none" strike="noStrike">
                <a:solidFill>
                  <a:srgbClr val="FFFFFF"/>
                </a:solidFill>
                <a:highlight>
                  <a:srgbClr val="3A5AFF"/>
                </a:highlight>
                <a:latin typeface="Consolas"/>
                <a:ea typeface="Consolas"/>
                <a:cs typeface="Consolas"/>
                <a:sym typeface="Consolas"/>
              </a:rPr>
              <a:t>Relation</a:t>
            </a: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ב-Entity </a:t>
            </a: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Courses</a:t>
            </a: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שמצביע על </a:t>
            </a: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Instructors</a:t>
            </a: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3660353" y="2337271"/>
            <a:ext cx="294531" cy="294531"/>
          </a:xfrm>
          <a:prstGeom prst="ellipse">
            <a:avLst/>
          </a:prstGeom>
          <a:solidFill>
            <a:srgbClr val="2D4DF2"/>
          </a:solidFill>
          <a:ln cap="flat" cmpd="sng" w="14275">
            <a:solidFill>
              <a:srgbClr val="2D4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"/>
          <p:cNvSpPr/>
          <p:nvPr/>
        </p:nvSpPr>
        <p:spPr>
          <a:xfrm>
            <a:off x="560189" y="2379762"/>
            <a:ext cx="2969270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פתחו את Entity </a:t>
            </a: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Courses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3660353" y="2893591"/>
            <a:ext cx="294531" cy="294531"/>
          </a:xfrm>
          <a:prstGeom prst="ellipse">
            <a:avLst/>
          </a:prstGeom>
          <a:solidFill>
            <a:srgbClr val="2D4DF2"/>
          </a:solidFill>
          <a:ln cap="flat" cmpd="sng" w="14275">
            <a:solidFill>
              <a:srgbClr val="018C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560189" y="2936081"/>
            <a:ext cx="2969270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הוסיפו שדה חדש מסוג </a:t>
            </a: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Relation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3660353" y="3449910"/>
            <a:ext cx="294531" cy="294531"/>
          </a:xfrm>
          <a:prstGeom prst="ellipse">
            <a:avLst/>
          </a:prstGeom>
          <a:solidFill>
            <a:srgbClr val="2D4DF2"/>
          </a:solidFill>
          <a:ln cap="flat" cmpd="sng" w="14275">
            <a:solidFill>
              <a:srgbClr val="DA33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560189" y="3492401"/>
            <a:ext cx="2969270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בחרו את היעד: </a:t>
            </a: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Instructors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3660353" y="4006230"/>
            <a:ext cx="294531" cy="294531"/>
          </a:xfrm>
          <a:prstGeom prst="ellipse">
            <a:avLst/>
          </a:prstGeom>
          <a:solidFill>
            <a:srgbClr val="2D4DF2"/>
          </a:solidFill>
          <a:ln cap="flat" cmpd="sng" w="14275">
            <a:solidFill>
              <a:srgbClr val="2D4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/>
          <p:nvPr/>
        </p:nvSpPr>
        <p:spPr>
          <a:xfrm>
            <a:off x="560189" y="4048720"/>
            <a:ext cx="2969270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הגדירו כ-</a:t>
            </a: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Many-to-One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6627912" y="1652439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תוצאה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3858444" y="1975842"/>
            <a:ext cx="4766742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כעת כל קורס "יודע" מי המורה שלו. ה-AI ישתמש בקשר זה כדי: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4315644" y="2303041"/>
            <a:ext cx="4309542" cy="97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Char char="•"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להציג את פרטי המורה בדף הקורס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Char char="•"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לסנן קורסים לפי מורה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Char char="•"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לייצר דוחות ביצוע לפי מורה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Char char="•"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להציע המלצות מבוססות מומחיות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4315644" y="3425205"/>
            <a:ext cx="4309542" cy="719733"/>
          </a:xfrm>
          <a:prstGeom prst="roundRect">
            <a:avLst>
              <a:gd fmla="val 27283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6538" y="3621807"/>
            <a:ext cx="163637" cy="130894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/>
          <p:nvPr/>
        </p:nvSpPr>
        <p:spPr>
          <a:xfrm>
            <a:off x="4741069" y="3575670"/>
            <a:ext cx="3753222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הקשר נוצר אוטומטית גם בכיוון ההפוך — ב-Entity Instructors יופיע שדה עם כל הקורסים.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8" name="Google Shape;1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1"/>
          <p:cNvSpPr/>
          <p:nvPr/>
        </p:nvSpPr>
        <p:spPr>
          <a:xfrm>
            <a:off x="3290367" y="397073"/>
            <a:ext cx="1901056" cy="180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00"/>
              <a:buFont typeface="Nunito SemiBold"/>
              <a:buNone/>
            </a:pPr>
            <a:r>
              <a:rPr b="0" i="0" lang="iw-IL" sz="11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תרגיל מעשי</a:t>
            </a:r>
            <a:endParaRPr b="0" i="0" sz="11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523577" y="623515"/>
            <a:ext cx="4667845" cy="721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2250"/>
              <a:buFont typeface="Nunito SemiBold"/>
              <a:buNone/>
            </a:pPr>
            <a:r>
              <a:rPr b="0" i="0" lang="iw-IL" sz="225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קישור Students ל-Courses — Many-to-Many</a:t>
            </a:r>
            <a:endParaRPr b="0" i="0" sz="225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523577" y="1518047"/>
            <a:ext cx="4667845" cy="380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כעת נבנה קשר מורכב יותר: סטודנט אחד יכול ללמוד בקורסים רבים, וקורס אחד יכול להכיל סטודנטים רבים.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2" name="Google Shape;19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77" y="2027709"/>
            <a:ext cx="613618" cy="73632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1"/>
          <p:cNvSpPr/>
          <p:nvPr/>
        </p:nvSpPr>
        <p:spPr>
          <a:xfrm>
            <a:off x="1252240" y="2150418"/>
            <a:ext cx="1443856" cy="180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00"/>
              <a:buFont typeface="Nunito SemiBold"/>
              <a:buNone/>
            </a:pPr>
            <a:r>
              <a:rPr b="0" i="0" lang="iw-IL" sz="11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Students Entity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1252240" y="2399854"/>
            <a:ext cx="3939183" cy="190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הוסיפו שדה Relation בשם </a:t>
            </a:r>
            <a:r>
              <a:rPr b="0" i="0" lang="iw-IL" sz="9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courses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5" name="Google Shape;19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577" y="2764036"/>
            <a:ext cx="613618" cy="73632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1"/>
          <p:cNvSpPr/>
          <p:nvPr/>
        </p:nvSpPr>
        <p:spPr>
          <a:xfrm>
            <a:off x="1252240" y="2886745"/>
            <a:ext cx="1443856" cy="180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00"/>
              <a:buFont typeface="Nunito SemiBold"/>
              <a:buNone/>
            </a:pPr>
            <a:r>
              <a:rPr b="0" i="0" lang="iw-IL" sz="11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הגדרת הקשר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1252240" y="3136181"/>
            <a:ext cx="3939183" cy="190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בחרו יעד: </a:t>
            </a:r>
            <a:r>
              <a:rPr b="1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Courses</a:t>
            </a: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, סוג: </a:t>
            </a:r>
            <a:r>
              <a:rPr b="1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Many-to-Many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3577" y="3500363"/>
            <a:ext cx="613618" cy="73632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1"/>
          <p:cNvSpPr/>
          <p:nvPr/>
        </p:nvSpPr>
        <p:spPr>
          <a:xfrm>
            <a:off x="1252240" y="3623072"/>
            <a:ext cx="1443856" cy="180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00"/>
              <a:buFont typeface="Nunito SemiBold"/>
              <a:buNone/>
            </a:pPr>
            <a:r>
              <a:rPr b="0" i="0" lang="iw-IL" sz="11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תוצאה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252240" y="3872508"/>
            <a:ext cx="3939183" cy="1901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כל סטודנט מחובר לקורסים שלו, ולהפך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23577" y="4366096"/>
            <a:ext cx="4667845" cy="3802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PT Sans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Base44 ינהל אוטומטית את טבלת הביניים — אין צורך ליצור Entity נפרד. ה-AI ישתמש בקשר זה כדי לייצר רשימות סטודנטים, דוחות השלמה, והמלצות קורסים מותאמות אישית.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"/>
          <p:cNvSpPr/>
          <p:nvPr/>
        </p:nvSpPr>
        <p:spPr>
          <a:xfrm>
            <a:off x="6647185" y="386432"/>
            <a:ext cx="1973238" cy="189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150"/>
              <a:buFont typeface="Nunito SemiBold"/>
              <a:buNone/>
            </a:pPr>
            <a:r>
              <a:rPr b="0" i="0" lang="iw-IL" sz="115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כלל AI קריטי</a:t>
            </a:r>
            <a:endParaRPr b="0" i="0" sz="115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4020220" y="626566"/>
            <a:ext cx="4600203" cy="378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2350"/>
              <a:buFont typeface="Nunito SemiBold"/>
              <a:buNone/>
            </a:pPr>
            <a:r>
              <a:rPr b="0" i="0" lang="iw-IL" sz="235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שמות תיאוריים — השפה של ה-AI</a:t>
            </a:r>
            <a:endParaRPr b="0" i="0" sz="235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430783" y="1195834"/>
            <a:ext cx="4076849" cy="2908697"/>
          </a:xfrm>
          <a:prstGeom prst="roundRect">
            <a:avLst>
              <a:gd fmla="val 10633" name="adj"/>
            </a:avLst>
          </a:prstGeom>
          <a:solidFill>
            <a:srgbClr val="2D4DF2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2405583" y="1322636"/>
            <a:ext cx="1973238" cy="189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iw-IL" sz="1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0" i="0" lang="iw-IL" sz="115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 נכון — תיאורי וברור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1" name="Google Shape;2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306" y="1640458"/>
            <a:ext cx="3833515" cy="23313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2"/>
          <p:cNvSpPr/>
          <p:nvPr/>
        </p:nvSpPr>
        <p:spPr>
          <a:xfrm>
            <a:off x="716979" y="1654746"/>
            <a:ext cx="3661842" cy="20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highlight>
                  <a:srgbClr val="3A5AFF"/>
                </a:highlight>
                <a:latin typeface="Consolas"/>
                <a:ea typeface="Consolas"/>
                <a:cs typeface="Consolas"/>
                <a:sym typeface="Consolas"/>
              </a:rPr>
              <a:t>user_full_name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3" name="Google Shape;213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5306" y="2098700"/>
            <a:ext cx="3833515" cy="23313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2"/>
          <p:cNvSpPr/>
          <p:nvPr/>
        </p:nvSpPr>
        <p:spPr>
          <a:xfrm>
            <a:off x="716979" y="2112987"/>
            <a:ext cx="3661842" cy="20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highlight>
                  <a:srgbClr val="3A5AFF"/>
                </a:highlight>
                <a:latin typeface="Consolas"/>
                <a:ea typeface="Consolas"/>
                <a:cs typeface="Consolas"/>
                <a:sym typeface="Consolas"/>
              </a:rPr>
              <a:t>course_price_usd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5" name="Google Shape;21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5306" y="2556942"/>
            <a:ext cx="3833515" cy="233139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2"/>
          <p:cNvSpPr/>
          <p:nvPr/>
        </p:nvSpPr>
        <p:spPr>
          <a:xfrm>
            <a:off x="716979" y="2571229"/>
            <a:ext cx="3661842" cy="20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highlight>
                  <a:srgbClr val="3A5AFF"/>
                </a:highlight>
                <a:latin typeface="Consolas"/>
                <a:ea typeface="Consolas"/>
                <a:cs typeface="Consolas"/>
                <a:sym typeface="Consolas"/>
              </a:rPr>
              <a:t>is_active_subscriber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7" name="Google Shape;2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5306" y="3015183"/>
            <a:ext cx="3833515" cy="23313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/>
          <p:nvPr/>
        </p:nvSpPr>
        <p:spPr>
          <a:xfrm>
            <a:off x="716979" y="3029471"/>
            <a:ext cx="3661842" cy="20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iw-IL" sz="1000" u="none" cap="none" strike="noStrike">
                <a:solidFill>
                  <a:srgbClr val="FFFFFF"/>
                </a:solidFill>
                <a:highlight>
                  <a:srgbClr val="3A5AFF"/>
                </a:highlight>
                <a:latin typeface="Consolas"/>
                <a:ea typeface="Consolas"/>
                <a:cs typeface="Consolas"/>
                <a:sym typeface="Consolas"/>
              </a:rPr>
              <a:t>enrolled_date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6651947" y="1322636"/>
            <a:ext cx="1973238" cy="189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iw-IL" sz="11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b="0" i="0" lang="iw-IL" sz="115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 לא נכון — קצר מדי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9638" y="1640458"/>
            <a:ext cx="3905548" cy="23313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2"/>
          <p:cNvSpPr/>
          <p:nvPr/>
        </p:nvSpPr>
        <p:spPr>
          <a:xfrm>
            <a:off x="4891311" y="1654746"/>
            <a:ext cx="3733874" cy="20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Consola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usr_nm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2" name="Google Shape;222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19638" y="2098700"/>
            <a:ext cx="3905548" cy="23313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2"/>
          <p:cNvSpPr/>
          <p:nvPr/>
        </p:nvSpPr>
        <p:spPr>
          <a:xfrm>
            <a:off x="4891311" y="2112987"/>
            <a:ext cx="3733874" cy="20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Consola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prc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4" name="Google Shape;224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9638" y="2556942"/>
            <a:ext cx="3905548" cy="23313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2"/>
          <p:cNvSpPr/>
          <p:nvPr/>
        </p:nvSpPr>
        <p:spPr>
          <a:xfrm>
            <a:off x="4891311" y="2571229"/>
            <a:ext cx="3733874" cy="20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Consola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actv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9638" y="3015183"/>
            <a:ext cx="3905548" cy="23313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/>
          <p:nvPr/>
        </p:nvSpPr>
        <p:spPr>
          <a:xfrm>
            <a:off x="4891311" y="3029471"/>
            <a:ext cx="3733874" cy="20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Consola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dt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4733925" y="3376687"/>
            <a:ext cx="3891260" cy="613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ה-AI של Base44 קורא את שמות השדות ומשתמש בהם כדי להבין את ההקשר. שמות ברורים משפרים את איכות ההמלצות, הדוחות, והלוגיקה האוטומטית.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523577" y="4247183"/>
            <a:ext cx="8096845" cy="509811"/>
          </a:xfrm>
          <a:prstGeom prst="roundRect">
            <a:avLst>
              <a:gd fmla="val 37916" name="adj"/>
            </a:avLst>
          </a:prstGeom>
          <a:solidFill>
            <a:srgbClr val="CF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0" name="Google Shape;230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388" y="4428753"/>
            <a:ext cx="161032" cy="128811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2"/>
          <p:cNvSpPr/>
          <p:nvPr/>
        </p:nvSpPr>
        <p:spPr>
          <a:xfrm>
            <a:off x="485031" y="4406131"/>
            <a:ext cx="8006581" cy="2045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PT Sans"/>
              <a:buNone/>
            </a:pPr>
            <a:r>
              <a:rPr b="1" i="0" lang="iw-IL" sz="10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כלל הזהב:</a:t>
            </a:r>
            <a:r>
              <a:rPr b="0" i="0" lang="iw-IL" sz="10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אם שם השדה לא מובן לבדו — הוא לא מספיק תיאורי. השתמשו ב-snake_case עם שמות מלאים באנגלית.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7" name="Google Shape;23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3"/>
          <p:cNvSpPr/>
          <p:nvPr/>
        </p:nvSpPr>
        <p:spPr>
          <a:xfrm>
            <a:off x="6623149" y="371029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סיכום</a:t>
            </a:r>
            <a:endParaRPr b="0" i="0" sz="12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5083001" y="615851"/>
            <a:ext cx="3537421" cy="38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2400"/>
              <a:buFont typeface="Nunito SemiBold"/>
              <a:buNone/>
            </a:pPr>
            <a:r>
              <a:rPr b="0" i="0" lang="iw-IL" sz="24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מה למדנו היום?</a:t>
            </a:r>
            <a:endParaRPr b="0" i="0" sz="24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3952577" y="1197099"/>
            <a:ext cx="2268438" cy="980182"/>
          </a:xfrm>
          <a:prstGeom prst="roundRect">
            <a:avLst>
              <a:gd fmla="val 20034" name="adj"/>
            </a:avLst>
          </a:prstGeom>
          <a:solidFill>
            <a:srgbClr val="F3F3FF"/>
          </a:solidFill>
          <a:ln cap="flat" cmpd="sng" w="14275">
            <a:solidFill>
              <a:srgbClr val="2D4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3"/>
          <p:cNvSpPr/>
          <p:nvPr/>
        </p:nvSpPr>
        <p:spPr>
          <a:xfrm>
            <a:off x="4097759" y="1342281"/>
            <a:ext cx="15400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w-I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🗃</a:t>
            </a: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 Entities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/>
          <p:nvPr/>
        </p:nvSpPr>
        <p:spPr>
          <a:xfrm>
            <a:off x="4097759" y="1613297"/>
            <a:ext cx="1978075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טבלאות חכמות עם שדות מובנים: Text, Number, Boolean, 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6351910" y="1197099"/>
            <a:ext cx="2268513" cy="980182"/>
          </a:xfrm>
          <a:prstGeom prst="roundRect">
            <a:avLst>
              <a:gd fmla="val 20034" name="adj"/>
            </a:avLst>
          </a:prstGeom>
          <a:solidFill>
            <a:srgbClr val="F3F3FF"/>
          </a:solidFill>
          <a:ln cap="flat" cmpd="sng" w="14275">
            <a:solidFill>
              <a:srgbClr val="018C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3"/>
          <p:cNvSpPr/>
          <p:nvPr/>
        </p:nvSpPr>
        <p:spPr>
          <a:xfrm>
            <a:off x="6497092" y="1342281"/>
            <a:ext cx="15400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w-I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🔗</a:t>
            </a: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 Relationships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3"/>
          <p:cNvSpPr/>
          <p:nvPr/>
        </p:nvSpPr>
        <p:spPr>
          <a:xfrm>
            <a:off x="6497092" y="1613297"/>
            <a:ext cx="1978149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קשרי 1:N ו-N:M שמאפשרים ל-AI להבין את ההקשר העסקי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3952577" y="2308175"/>
            <a:ext cx="4667845" cy="770781"/>
          </a:xfrm>
          <a:prstGeom prst="roundRect">
            <a:avLst>
              <a:gd fmla="val 25476" name="adj"/>
            </a:avLst>
          </a:prstGeom>
          <a:solidFill>
            <a:srgbClr val="F3F3FF"/>
          </a:solidFill>
          <a:ln cap="flat" cmpd="sng" w="14275">
            <a:solidFill>
              <a:srgbClr val="DA33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4097759" y="2453357"/>
            <a:ext cx="15400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w-I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✏️</a:t>
            </a: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 Naming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3"/>
          <p:cNvSpPr/>
          <p:nvPr/>
        </p:nvSpPr>
        <p:spPr>
          <a:xfrm>
            <a:off x="4097759" y="2724373"/>
            <a:ext cx="4377482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שמות תיאוריים ב-snake_case — השפה שה-AI מבין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3"/>
          <p:cNvSpPr/>
          <p:nvPr/>
        </p:nvSpPr>
        <p:spPr>
          <a:xfrm>
            <a:off x="3952577" y="3226222"/>
            <a:ext cx="4667845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עכשיו יש לכם את הכלים לבנות שכבת נתונים מלאה ב-Base44 — מובנית, חכמה, ומותאמת ל-AI. השלב הבא: התחילו לבנות את הפרויקט שלכם!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3"/>
          <p:cNvSpPr/>
          <p:nvPr/>
        </p:nvSpPr>
        <p:spPr>
          <a:xfrm>
            <a:off x="6351984" y="3792289"/>
            <a:ext cx="2268438" cy="980182"/>
          </a:xfrm>
          <a:prstGeom prst="roundRect">
            <a:avLst>
              <a:gd fmla="val 20034" name="adj"/>
            </a:avLst>
          </a:prstGeom>
          <a:solidFill>
            <a:srgbClr val="F3F3FF">
              <a:alpha val="74901"/>
            </a:srgbClr>
          </a:solidFill>
          <a:ln cap="flat" cmpd="sng" w="14275">
            <a:solidFill>
              <a:srgbClr val="2D4D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6935167" y="3937471"/>
            <a:ext cx="15400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שאלות?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3"/>
          <p:cNvSpPr/>
          <p:nvPr/>
        </p:nvSpPr>
        <p:spPr>
          <a:xfrm>
            <a:off x="6497166" y="4208487"/>
            <a:ext cx="1978075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זמן לשאלות ודיון פתוח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3"/>
          <p:cNvSpPr/>
          <p:nvPr/>
        </p:nvSpPr>
        <p:spPr>
          <a:xfrm>
            <a:off x="3952577" y="3792289"/>
            <a:ext cx="2268513" cy="980182"/>
          </a:xfrm>
          <a:prstGeom prst="roundRect">
            <a:avLst>
              <a:gd fmla="val 20034" name="adj"/>
            </a:avLst>
          </a:prstGeom>
          <a:solidFill>
            <a:srgbClr val="F3F3FF">
              <a:alpha val="74901"/>
            </a:srgbClr>
          </a:solidFill>
          <a:ln cap="flat" cmpd="sng" w="14275">
            <a:solidFill>
              <a:srgbClr val="018C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"/>
          <p:cNvSpPr/>
          <p:nvPr/>
        </p:nvSpPr>
        <p:spPr>
          <a:xfrm>
            <a:off x="4535835" y="3937471"/>
            <a:ext cx="15400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2D4DF2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המשך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/>
          <p:nvPr/>
        </p:nvSpPr>
        <p:spPr>
          <a:xfrm>
            <a:off x="4097759" y="4208487"/>
            <a:ext cx="1978149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פרויקט מעשי — בניית מסד נתונים מלא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4"/>
          <p:cNvSpPr/>
          <p:nvPr/>
        </p:nvSpPr>
        <p:spPr>
          <a:xfrm>
            <a:off x="3540472" y="913730"/>
            <a:ext cx="5079950" cy="38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400"/>
              <a:buFont typeface="Nunito SemiBold"/>
              <a:buNone/>
            </a:pPr>
            <a:r>
              <a:rPr b="0" i="0" lang="iw-IL" sz="24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שיטות עבודה מומלצות וטעויות נפוצות</a:t>
            </a:r>
            <a:endParaRPr b="0" i="0" sz="24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/>
          <p:nvPr/>
        </p:nvSpPr>
        <p:spPr>
          <a:xfrm>
            <a:off x="66377" y="1560463"/>
            <a:ext cx="8554045" cy="2094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בניית מסד נתונים יעיל דורשת הבנה של עקרונות תכנון נכונים והימנעות מטעויות שעלולות לפגוע בביצועים ובגמישות. בואו נצלול פנימה.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/>
          <p:nvPr/>
        </p:nvSpPr>
        <p:spPr>
          <a:xfrm>
            <a:off x="429295" y="1917129"/>
            <a:ext cx="4077295" cy="2312566"/>
          </a:xfrm>
          <a:prstGeom prst="roundRect">
            <a:avLst>
              <a:gd fmla="val 13586" name="adj"/>
            </a:avLst>
          </a:prstGeom>
          <a:solidFill>
            <a:srgbClr val="2D4DF2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4"/>
          <p:cNvSpPr/>
          <p:nvPr/>
        </p:nvSpPr>
        <p:spPr>
          <a:xfrm>
            <a:off x="2314054" y="2048024"/>
            <a:ext cx="2061642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w-I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r>
              <a:rPr b="0" i="0" lang="iw-IL" sz="1200" u="none" cap="none" strike="noStrike">
                <a:solidFill>
                  <a:srgbClr val="FFFF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 שיטות עבודה מומלצות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4"/>
          <p:cNvSpPr/>
          <p:nvPr/>
        </p:nvSpPr>
        <p:spPr>
          <a:xfrm>
            <a:off x="560189" y="2371427"/>
            <a:ext cx="3815507" cy="1812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Char char="•"/>
            </a:pP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שמות שדות תיאוריים:</a:t>
            </a: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ודאו שכל שדה וה-Entity מקבלים שם ברור וחד-משמעי עבור ה-AI.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Char char="•"/>
            </a:pP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נירמול נתונים:</a:t>
            </a: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הימנעו משכפול נתונים על ידי ארגון טבלאות ויחסים נכונים.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Char char="•"/>
            </a:pP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הגדרת קשרים נכונה:</a:t>
            </a: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השתמשו בקשרי 1:N ו-N:M לקישור לוגי חזק בין ישויות.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PT Sans"/>
              <a:buChar char="•"/>
            </a:pPr>
            <a:r>
              <a:rPr b="1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ולידציה קפדנית:</a:t>
            </a:r>
            <a:r>
              <a:rPr b="0" i="0" lang="iw-IL" sz="1000" u="none" cap="none" strike="noStrik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הגדירו כללי ולידציה לשדות כדי להבטיח איכות נתונים.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4"/>
          <p:cNvSpPr/>
          <p:nvPr/>
        </p:nvSpPr>
        <p:spPr>
          <a:xfrm>
            <a:off x="6627912" y="2048024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iw-IL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❌</a:t>
            </a:r>
            <a:r>
              <a:rPr b="0" i="0" lang="iw-IL" sz="1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 טעויות נפוצות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4"/>
          <p:cNvSpPr/>
          <p:nvPr/>
        </p:nvSpPr>
        <p:spPr>
          <a:xfrm>
            <a:off x="4736455" y="2371427"/>
            <a:ext cx="3888730" cy="18125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03200" lvl="0" marL="20320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Char char="•"/>
            </a:pPr>
            <a:r>
              <a:rPr b="1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שמות גנריים:</a:t>
            </a: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הימנעו מקיצורים או שמות שדה שאינם מובנים ל-AI או למפתחים אחרים.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Char char="•"/>
            </a:pPr>
            <a:r>
              <a:rPr b="1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התעלמות מקשרים:</a:t>
            </a: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אל תאחסנו נתונים קשורים באותה טבלה במקום ליצור קשרים נפרדים.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Char char="•"/>
            </a:pPr>
            <a:r>
              <a:rPr b="1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דופליקציה מיותרת:</a:t>
            </a: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שכפול נתונים מוביל לחוסר עקביות ולקשיים בתחזוקה.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3200" lvl="0" marL="20320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Char char="•"/>
            </a:pPr>
            <a:r>
              <a:rPr b="1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חוסר תיעוד:</a:t>
            </a: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מסדי נתונים לא מתועדים קשים להבנה ולתחזוקה לאורך זמן.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"/>
          <p:cNvSpPr/>
          <p:nvPr/>
        </p:nvSpPr>
        <p:spPr>
          <a:xfrm>
            <a:off x="6623149" y="975047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תחקור נתונים</a:t>
            </a:r>
            <a:endParaRPr b="0" i="0" sz="12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3784699" y="1219870"/>
            <a:ext cx="4835723" cy="38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400"/>
              <a:buFont typeface="Nunito SemiBold"/>
              <a:buNone/>
            </a:pPr>
            <a:r>
              <a:rPr b="0" i="0" lang="iw-IL" sz="24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שאילתות וסינון — מציאת מידע חכם</a:t>
            </a:r>
            <a:endParaRPr b="0" i="0" sz="24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523577" y="1801118"/>
            <a:ext cx="8096845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לאחר שבנינו את שכבת הנתונים עם Entities ו-Relationships, הגיע הזמן ללמוד כיצד לתחקר אותה ביעילות. היכולת לשלוף, לסנן ולחפש מידע חכם היא קריטית עבור יישומי AI.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6" name="Google Shape;2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08787" y="2367186"/>
            <a:ext cx="2611636" cy="1801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77" name="Google Shape;27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6453" y="2472482"/>
            <a:ext cx="196304" cy="19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5"/>
          <p:cNvSpPr/>
          <p:nvPr/>
        </p:nvSpPr>
        <p:spPr>
          <a:xfrm>
            <a:off x="6935167" y="2905051"/>
            <a:ext cx="15400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שאילתות ישויות בסיסיות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6153969" y="3176067"/>
            <a:ext cx="2321272" cy="632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כיצד לשלוף נתונים ישירות מה-Entities השונים באמצעות שאילתות פשוטות, לדוגמה: </a:t>
            </a:r>
            <a:r>
              <a:rPr b="0" i="0" lang="iw-IL" sz="100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GET all Courses</a:t>
            </a: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0" name="Google Shape;28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6182" y="2367186"/>
            <a:ext cx="2611710" cy="1801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1" name="Google Shape;28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473922" y="2472482"/>
            <a:ext cx="196304" cy="19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15"/>
          <p:cNvSpPr/>
          <p:nvPr/>
        </p:nvSpPr>
        <p:spPr>
          <a:xfrm>
            <a:off x="4192637" y="2905051"/>
            <a:ext cx="15400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סינון דרך קשרים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/>
          <p:nvPr/>
        </p:nvSpPr>
        <p:spPr>
          <a:xfrm>
            <a:off x="3411364" y="3176067"/>
            <a:ext cx="2321347" cy="84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ניצול ה-Relationships שקבענו כדי לסנן נתונים בצורה מתוחכמת בין ישויות מחוברות, למשל: </a:t>
            </a:r>
            <a:r>
              <a:rPr b="0" i="0" lang="iw-IL" sz="100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GET Students of Course 'Database Design'</a:t>
            </a: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4" name="Google Shape;28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577" y="2367186"/>
            <a:ext cx="2611710" cy="18011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85" name="Google Shape;28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731318" y="2472482"/>
            <a:ext cx="196304" cy="196304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5"/>
          <p:cNvSpPr/>
          <p:nvPr/>
        </p:nvSpPr>
        <p:spPr>
          <a:xfrm>
            <a:off x="1450032" y="2905051"/>
            <a:ext cx="15400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תבניות חיפוש מתקדמות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668759" y="3176067"/>
            <a:ext cx="2321347" cy="837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שימוש באפשרויות חיפוש מורכבות יותר, כולל חיפוש טקסט חופשי, תאריכים וטווחים מספריים, כדי למצוא בדיוק את מה שאתם צריכים.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3" name="Google Shape;2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16"/>
          <p:cNvSpPr/>
          <p:nvPr/>
        </p:nvSpPr>
        <p:spPr>
          <a:xfrm>
            <a:off x="6911876" y="403994"/>
            <a:ext cx="1708547" cy="156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Nunito SemiBold"/>
              <a:buNone/>
            </a:pPr>
            <a:r>
              <a:rPr b="0" i="0" lang="iw-IL" sz="95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שלב חשוב</a:t>
            </a:r>
            <a:endParaRPr b="0" i="0" sz="95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5660529" y="594940"/>
            <a:ext cx="2959894" cy="312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950"/>
              <a:buFont typeface="Nunito SemiBold"/>
              <a:buNone/>
            </a:pPr>
            <a:r>
              <a:rPr b="0" i="0" lang="iw-IL" sz="195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אימות שדות ומגבלות</a:t>
            </a:r>
            <a:endParaRPr b="0" i="0" sz="195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3952577" y="1037332"/>
            <a:ext cx="4667845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00"/>
              <a:buFont typeface="PT Sans"/>
              <a:buNone/>
            </a:pPr>
            <a:r>
              <a:rPr b="0" i="0" lang="iw-IL" sz="8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אימות שדות ומגבלות מבטיח שנתונים הנכנסים למסד הנתונים יהיו נקיים, עקביים ונכונים — קריטי למודלי AI אמינים וביצועים מדויקים.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7" name="Google Shape;29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577" y="1442889"/>
            <a:ext cx="4667845" cy="603647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6"/>
          <p:cNvSpPr/>
          <p:nvPr/>
        </p:nvSpPr>
        <p:spPr>
          <a:xfrm>
            <a:off x="7191301" y="1563514"/>
            <a:ext cx="1251347" cy="156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Nunito SemiBold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שדות חובה (Required)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4073203" y="1771724"/>
            <a:ext cx="4369445" cy="154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00"/>
              <a:buFont typeface="PT Sans"/>
              <a:buNone/>
            </a:pPr>
            <a:r>
              <a:rPr b="0" i="0" lang="iw-IL" sz="8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ודאו ששדות קריטיים, כמו </a:t>
            </a:r>
            <a:r>
              <a:rPr b="0" i="0" lang="iw-IL" sz="80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b="0" i="0" lang="iw-IL" sz="8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או </a:t>
            </a:r>
            <a:r>
              <a:rPr b="0" i="0" lang="iw-IL" sz="80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b="0" i="0" lang="iw-IL" sz="8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, תמיד יכילו ערך. נתונים חסרים פוגעים באימון AI.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52577" y="2132930"/>
            <a:ext cx="4667845" cy="603647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6"/>
          <p:cNvSpPr/>
          <p:nvPr/>
        </p:nvSpPr>
        <p:spPr>
          <a:xfrm>
            <a:off x="7191301" y="2253555"/>
            <a:ext cx="1251347" cy="156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Nunito SemiBold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ערכים ייחודיים (Unique)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4073203" y="2461766"/>
            <a:ext cx="4369445" cy="154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00"/>
              <a:buFont typeface="PT Sans"/>
              <a:buNone/>
            </a:pPr>
            <a:r>
              <a:rPr b="0" i="0" lang="iw-IL" sz="8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אכפו ייחודיות לשדות כמו </a:t>
            </a:r>
            <a:r>
              <a:rPr b="0" i="0" lang="iw-IL" sz="80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email</a:t>
            </a:r>
            <a:r>
              <a:rPr b="0" i="0" lang="iw-IL" sz="8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או </a:t>
            </a:r>
            <a:r>
              <a:rPr b="0" i="0" lang="iw-IL" sz="80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SKU</a:t>
            </a:r>
            <a:r>
              <a:rPr b="0" i="0" lang="iw-IL" sz="8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כדי למנוע כפילויות ולשמור על עקביות הנתונים.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3" name="Google Shape;30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52577" y="2822972"/>
            <a:ext cx="4667845" cy="7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6"/>
          <p:cNvSpPr/>
          <p:nvPr/>
        </p:nvSpPr>
        <p:spPr>
          <a:xfrm>
            <a:off x="7191301" y="2943597"/>
            <a:ext cx="1251347" cy="156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Nunito SemiBold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אימות סוג נתונים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4073203" y="3151808"/>
            <a:ext cx="4369445" cy="3083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00"/>
              <a:buFont typeface="PT Sans"/>
              <a:buNone/>
            </a:pPr>
            <a:r>
              <a:rPr b="0" i="0" lang="iw-IL" sz="8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Base44 מטפל באימות סוגים בסיסי, אך ודאו שהנתונים תואמים את ציפיות ה-AI (לדוגמה, מספרים אינם טקסט).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6" name="Google Shape;30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2577" y="3667199"/>
            <a:ext cx="4667845" cy="603647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16"/>
          <p:cNvSpPr/>
          <p:nvPr/>
        </p:nvSpPr>
        <p:spPr>
          <a:xfrm>
            <a:off x="7089800" y="3787825"/>
            <a:ext cx="1352848" cy="156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950"/>
              <a:buFont typeface="Nunito SemiBold"/>
              <a:buNone/>
            </a:pPr>
            <a:r>
              <a:rPr b="0" i="0" lang="iw-IL" sz="95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כללי אימות מותאמים אישית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4073203" y="3996035"/>
            <a:ext cx="4369445" cy="154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00"/>
              <a:buFont typeface="PT Sans"/>
              <a:buNone/>
            </a:pPr>
            <a:r>
              <a:rPr b="0" i="0" lang="iw-IL" sz="8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הגדירו לוגיקה מורכבת יותר, כגון טווח גילאים (</a:t>
            </a:r>
            <a:r>
              <a:rPr b="0" i="0" lang="iw-IL" sz="80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age &gt; 18</a:t>
            </a:r>
            <a:r>
              <a:rPr b="0" i="0" lang="iw-IL" sz="8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) או פורמט של קוד פוסט, להתאמה מרבית.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3952577" y="4368031"/>
            <a:ext cx="4667845" cy="371475"/>
          </a:xfrm>
          <a:prstGeom prst="roundRect">
            <a:avLst>
              <a:gd fmla="val 42950" name="adj"/>
            </a:avLst>
          </a:prstGeom>
          <a:solidFill>
            <a:srgbClr val="CF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058915" y="4512618"/>
            <a:ext cx="132904" cy="10633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6"/>
          <p:cNvSpPr/>
          <p:nvPr/>
        </p:nvSpPr>
        <p:spPr>
          <a:xfrm>
            <a:off x="3840956" y="4480992"/>
            <a:ext cx="4673129" cy="1541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PT Sans"/>
              <a:buNone/>
            </a:pPr>
            <a:r>
              <a:rPr b="1" i="0" lang="iw-IL" sz="8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חשוב לזכור:</a:t>
            </a:r>
            <a:r>
              <a:rPr b="0" i="0" lang="iw-IL" sz="8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 נתונים נקיים ומאומתים הם הדלק למנוע ה-AI שלכם.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7" name="Google Shape;3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7"/>
          <p:cNvSpPr/>
          <p:nvPr/>
        </p:nvSpPr>
        <p:spPr>
          <a:xfrm>
            <a:off x="6623149" y="579165"/>
            <a:ext cx="1997273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מושגים מתקדמים</a:t>
            </a:r>
            <a:endParaRPr b="0" i="0" sz="12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7"/>
          <p:cNvSpPr/>
          <p:nvPr/>
        </p:nvSpPr>
        <p:spPr>
          <a:xfrm>
            <a:off x="4914826" y="823987"/>
            <a:ext cx="3705597" cy="3849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2400"/>
              <a:buFont typeface="Nunito SemiBold"/>
              <a:buNone/>
            </a:pPr>
            <a:r>
              <a:rPr b="0" i="0" lang="iw-IL" sz="24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הרחבת היכולות של Entity</a:t>
            </a:r>
            <a:endParaRPr b="0" i="0" sz="24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7"/>
          <p:cNvSpPr/>
          <p:nvPr/>
        </p:nvSpPr>
        <p:spPr>
          <a:xfrm>
            <a:off x="3952577" y="1405235"/>
            <a:ext cx="4667845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מעבר לשדות הבסיסיים ולקשרים, Base44 מציע כלים מתקדמים לניהול נתונים מורכבים יותר, הבטחת איכות, ויצירת מבנים ניתנים לשימוש חוזר.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1" name="Google Shape;3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93150" y="1971303"/>
            <a:ext cx="327273" cy="32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17"/>
          <p:cNvSpPr/>
          <p:nvPr/>
        </p:nvSpPr>
        <p:spPr>
          <a:xfrm>
            <a:off x="5878711" y="1971303"/>
            <a:ext cx="2250802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שדות מחושבים (Computed Fields)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7"/>
          <p:cNvSpPr/>
          <p:nvPr/>
        </p:nvSpPr>
        <p:spPr>
          <a:xfrm>
            <a:off x="3952577" y="2242319"/>
            <a:ext cx="4176936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הגדרת ערכים הנוצרים באופן אוטומטי מנתונים קיימים, כמו סכום הזמנה כולל, גיל הלקוח, או סטטוס קורס (פעיל/לא פעיל).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4" name="Google Shape;32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93150" y="2922910"/>
            <a:ext cx="327273" cy="32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7"/>
          <p:cNvSpPr/>
          <p:nvPr/>
        </p:nvSpPr>
        <p:spPr>
          <a:xfrm>
            <a:off x="6177855" y="2922910"/>
            <a:ext cx="1951658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כללי אימות (Validation Rules)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7"/>
          <p:cNvSpPr/>
          <p:nvPr/>
        </p:nvSpPr>
        <p:spPr>
          <a:xfrm>
            <a:off x="3952577" y="3193926"/>
            <a:ext cx="4176936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הבטחת תקינות ושלמות הנתונים על ידי הגדרת מגבלות או תנאים מסוימים לפני שמירתם במסד הנתונים.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7" name="Google Shape;32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93150" y="3874517"/>
            <a:ext cx="327273" cy="32727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7"/>
          <p:cNvSpPr/>
          <p:nvPr/>
        </p:nvSpPr>
        <p:spPr>
          <a:xfrm>
            <a:off x="5997476" y="3874517"/>
            <a:ext cx="2132037" cy="1925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200"/>
              <a:buFont typeface="Nunito SemiBold"/>
              <a:buNone/>
            </a:pPr>
            <a:r>
              <a:rPr b="0" i="0" lang="iw-IL" sz="12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ירושת ישויות (Entity Inheritance)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7"/>
          <p:cNvSpPr/>
          <p:nvPr/>
        </p:nvSpPr>
        <p:spPr>
          <a:xfrm>
            <a:off x="3952577" y="4145533"/>
            <a:ext cx="4176936" cy="4188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PT Sans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בניית ישויות היררכיות המאפשרות שימוש חוזר במבנה ובתכונות משותפות, תוך שמירה על גמישות לתוספות ייחודיות.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"/>
          <p:cNvSpPr/>
          <p:nvPr/>
        </p:nvSpPr>
        <p:spPr>
          <a:xfrm>
            <a:off x="6863804" y="371326"/>
            <a:ext cx="1756618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1000"/>
              <a:buFont typeface="Nunito SemiBold"/>
              <a:buNone/>
            </a:pPr>
            <a:r>
              <a:rPr b="0" i="0" lang="iw-IL" sz="10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תרגיל מעשי</a:t>
            </a:r>
            <a:endParaRPr b="0" i="0" sz="10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3496419" y="570905"/>
            <a:ext cx="5124004" cy="324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D4DF2"/>
              </a:buClr>
              <a:buSzPts val="2000"/>
              <a:buFont typeface="Nunito SemiBold"/>
              <a:buNone/>
            </a:pPr>
            <a:r>
              <a:rPr b="0" i="0" lang="iw-IL" sz="2000" u="none" cap="none" strike="noStrike">
                <a:solidFill>
                  <a:srgbClr val="FF00FF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בניית סכימת נתונים למערכת מסחר אלקטרוני</a:t>
            </a:r>
            <a:endParaRPr b="0" i="0" sz="2000" u="none" cap="none" strike="noStrike">
              <a:solidFill>
                <a:srgbClr val="FF00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66377" y="1035546"/>
            <a:ext cx="8554045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None/>
            </a:pP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בואו נשלב את מה שלמדנו ונבנה סכימת נתונים מלאה למערכת מסחר אלקטרוני. עליכם להגדיר Entities, שדות, קשרים, כללי אימות ושמות תיאוריים עבור המרכיבים הבאים: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3577" y="1303139"/>
            <a:ext cx="4001839" cy="155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39" name="Google Shape;3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41674" y="1395487"/>
            <a:ext cx="165646" cy="16564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8"/>
          <p:cNvSpPr/>
          <p:nvPr/>
        </p:nvSpPr>
        <p:spPr>
          <a:xfrm>
            <a:off x="648295" y="1741959"/>
            <a:ext cx="1299418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Nunito SemiBold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Products (מוצרים)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8"/>
          <p:cNvSpPr/>
          <p:nvPr/>
        </p:nvSpPr>
        <p:spPr>
          <a:xfrm>
            <a:off x="648295" y="1960215"/>
            <a:ext cx="3752404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None/>
            </a:pP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הגדירו שדות למוצרים (שם, תיאור, מחיר, מק"ט). קשרו אותם למלאי ולפריטי הזמנה.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648295" y="2178918"/>
            <a:ext cx="3752404" cy="553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2720" lvl="0" marL="17272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Char char="•"/>
            </a:pPr>
            <a:r>
              <a:rPr b="1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שדות חובה: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product_name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,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price_usd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,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sku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Char char="•"/>
            </a:pPr>
            <a:r>
              <a:rPr b="1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אימות: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price_usd &gt; 0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,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sku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ייחודי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Char char="•"/>
            </a:pPr>
            <a:r>
              <a:rPr b="1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קשרים: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אחד למלאי (1:1), רבים להזמנות (N:M)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3" name="Google Shape;34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8583" y="1303139"/>
            <a:ext cx="4001839" cy="155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4" name="Google Shape;34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6680" y="1395487"/>
            <a:ext cx="165646" cy="16564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8"/>
          <p:cNvSpPr/>
          <p:nvPr/>
        </p:nvSpPr>
        <p:spPr>
          <a:xfrm>
            <a:off x="4743301" y="1741959"/>
            <a:ext cx="1299418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Nunito SemiBold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Orders (הזמנות)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4743301" y="1960215"/>
            <a:ext cx="3752404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None/>
            </a:pP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הגדירו שדות להזמנות (תאריך, סטטוס, סכום כולל). קשרו אותן ללקוחות ולמוצרים.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4743301" y="2178918"/>
            <a:ext cx="3752404" cy="553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2720" lvl="0" marL="17272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Char char="•"/>
            </a:pPr>
            <a:r>
              <a:rPr b="1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שדות חובה: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order_date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,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,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total_amount_usd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Char char="•"/>
            </a:pPr>
            <a:r>
              <a:rPr b="1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אימות: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status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מתוך רשימה קבועה (pending, shipped, delivered)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Char char="•"/>
            </a:pPr>
            <a:r>
              <a:rPr b="1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קשרים: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אחד ללקוח (N:1), רבים למוצרים (N:M)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8" name="Google Shape;348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23577" y="2950443"/>
            <a:ext cx="4001839" cy="155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49" name="Google Shape;349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441674" y="3042791"/>
            <a:ext cx="165646" cy="165646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18"/>
          <p:cNvSpPr/>
          <p:nvPr/>
        </p:nvSpPr>
        <p:spPr>
          <a:xfrm>
            <a:off x="648295" y="3389263"/>
            <a:ext cx="1299418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Nunito SemiBold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Customers (לקוחות)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648295" y="3607519"/>
            <a:ext cx="3752404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None/>
            </a:pP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הגדירו שדות ללקוחות (שם, אימייל, כתובת). קשרו אותם להזמנות.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648295" y="3826222"/>
            <a:ext cx="3752404" cy="553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2720" lvl="0" marL="17272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Char char="•"/>
            </a:pPr>
            <a:r>
              <a:rPr b="1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שדות חובה: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first_name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,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last_name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,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email_address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Char char="•"/>
            </a:pPr>
            <a:r>
              <a:rPr b="1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אימות: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email_address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ייחודי, פורמט אימייל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Char char="•"/>
            </a:pPr>
            <a:r>
              <a:rPr b="1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קשרים: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רבים להזמנות (1:N)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53" name="Google Shape;3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8583" y="2950443"/>
            <a:ext cx="4001839" cy="1554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354" name="Google Shape;354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6680" y="3042791"/>
            <a:ext cx="165646" cy="16564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8"/>
          <p:cNvSpPr/>
          <p:nvPr/>
        </p:nvSpPr>
        <p:spPr>
          <a:xfrm>
            <a:off x="4743301" y="3389263"/>
            <a:ext cx="1299418" cy="162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1000"/>
              <a:buFont typeface="Nunito SemiBold"/>
              <a:buNone/>
            </a:pPr>
            <a:r>
              <a:rPr b="0" i="0" lang="iw-IL" sz="1000" u="none" cap="none" strike="noStrike">
                <a:solidFill>
                  <a:srgbClr val="00002E"/>
                </a:solidFill>
                <a:latin typeface="Nunito SemiBold"/>
                <a:ea typeface="Nunito SemiBold"/>
                <a:cs typeface="Nunito SemiBold"/>
                <a:sym typeface="Nunito SemiBold"/>
              </a:rPr>
              <a:t>Inventory (מלאי)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4743301" y="3607519"/>
            <a:ext cx="3752404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None/>
            </a:pP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הגדירו שדות למעקב אחר מלאי (כמות זמינה, מיקום). קשרו אותם למוצרים.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8"/>
          <p:cNvSpPr/>
          <p:nvPr/>
        </p:nvSpPr>
        <p:spPr>
          <a:xfrm>
            <a:off x="4743301" y="3826222"/>
            <a:ext cx="3752404" cy="553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2720" lvl="0" marL="17272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Char char="•"/>
            </a:pPr>
            <a:r>
              <a:rPr b="1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שדות חובה: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quantity_on_hand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,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warehouse_location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Char char="•"/>
            </a:pPr>
            <a:r>
              <a:rPr b="1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אימות: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b="0" i="0" lang="iw-IL" sz="850" u="none" cap="none" strike="noStrike">
                <a:solidFill>
                  <a:srgbClr val="00002E"/>
                </a:solidFill>
                <a:highlight>
                  <a:srgbClr val="E6E6F2"/>
                </a:highlight>
                <a:latin typeface="Consolas"/>
                <a:ea typeface="Consolas"/>
                <a:cs typeface="Consolas"/>
                <a:sym typeface="Consolas"/>
              </a:rPr>
              <a:t>quantity_on_hand &gt;= 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2720" lvl="0" marL="17272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Char char="•"/>
            </a:pPr>
            <a:r>
              <a:rPr b="1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קשרים:</a:t>
            </a: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 רבים למוצר (1:1)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8"/>
          <p:cNvSpPr/>
          <p:nvPr/>
        </p:nvSpPr>
        <p:spPr>
          <a:xfrm>
            <a:off x="66377" y="4609356"/>
            <a:ext cx="8554045" cy="162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1" algn="r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00002E"/>
              </a:buClr>
              <a:buSzPts val="850"/>
              <a:buFont typeface="PT Sans"/>
              <a:buNone/>
            </a:pPr>
            <a:r>
              <a:rPr b="0" i="0" lang="iw-IL" sz="850" u="none" cap="none" strike="noStrike">
                <a:solidFill>
                  <a:srgbClr val="00002E"/>
                </a:solidFill>
                <a:latin typeface="PT Sans"/>
                <a:ea typeface="PT Sans"/>
                <a:cs typeface="PT Sans"/>
                <a:sym typeface="PT Sans"/>
              </a:rPr>
              <a:t>זכרו את כלל הזהב לשמות תיאוריים ואת חשיבות האימות עבור AI אמין.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