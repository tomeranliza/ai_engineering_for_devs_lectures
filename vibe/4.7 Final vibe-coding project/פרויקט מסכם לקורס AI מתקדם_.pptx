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Rubik"/>
      <p:regular r:id="rId15"/>
      <p:bold r:id="rId16"/>
      <p:italic r:id="rId17"/>
      <p:boldItalic r:id="rId18"/>
    </p:embeddedFon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7.xml"/><Relationship Id="rId22" Type="http://schemas.openxmlformats.org/officeDocument/2006/relationships/font" Target="fonts/OpenSans-boldItalic.fntdata"/><Relationship Id="rId10" Type="http://schemas.openxmlformats.org/officeDocument/2006/relationships/slide" Target="slides/slide6.xml"/><Relationship Id="rId21"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ubik-regular.fntdata"/><Relationship Id="rId14" Type="http://schemas.openxmlformats.org/officeDocument/2006/relationships/slide" Target="slides/slide10.xml"/><Relationship Id="rId17" Type="http://schemas.openxmlformats.org/officeDocument/2006/relationships/font" Target="fonts/Rubik-italic.fntdata"/><Relationship Id="rId16" Type="http://schemas.openxmlformats.org/officeDocument/2006/relationships/font" Target="fonts/Rubik-bold.fntdata"/><Relationship Id="rId5" Type="http://schemas.openxmlformats.org/officeDocument/2006/relationships/slide" Target="slides/slide1.xml"/><Relationship Id="rId19" Type="http://schemas.openxmlformats.org/officeDocument/2006/relationships/font" Target="fonts/OpenSans-regular.fntdata"/><Relationship Id="rId6" Type="http://schemas.openxmlformats.org/officeDocument/2006/relationships/slide" Target="slides/slide2.xml"/><Relationship Id="rId18" Type="http://schemas.openxmlformats.org/officeDocument/2006/relationships/font" Target="fonts/Rubik-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פרויקט זה נועד לאפשר לך ליישם את הכלים והמיומנויות החדשניים שרכשת במהלך הקורס כדי ליצור מיזם עסקי חדש המותאם לתחומי העניין והמומחיות שלך. באמצעות שימוש במגוון כלי בינה מלאכותית, תפתח/י את כל האלמנטים הנדרשים להצגת רעיון עסקי מקיף - החל ממחקר שוק ופיתוח הרעיון העסקי, יצירת לוגו ו-branding לעסק, ותוצרים שיווקיים.</a:t>
            </a:r>
            <a:br>
              <a:rPr lang="en-US"/>
            </a:br>
            <a:br>
              <a:rPr lang="en-US"/>
            </a:br>
            <a:r>
              <a:rPr lang="en-US"/>
              <a:t>לצד הפנמת ויישום החומר הנלמד בקורס, מטרת הפרויקט היא לאפשר לך לבצע צעד ראשון אמיתי לעבר עסק, יוזמה או פרויקט שתמיד רצית לעשות ומותאם לתחומי העניין ולצרכים שלך, ולראות כיצד הכוח העצום של הבינה המלאכותית מסייע לך לעשות זאת! כל רעיון מתאים - החל מרצון להתחיל להיות מורה פרטי לתחום מסויים, להקים סדנא להנחיית כישורים חברתיים לילדים, להתחיל למכור את היצירות שאת מכינה כבר כמה עשורים, ועוד ועוד :)</a:t>
            </a:r>
            <a:endParaRPr/>
          </a:p>
        </p:txBody>
      </p:sp>
      <p:sp>
        <p:nvSpPr>
          <p:cNvPr id="53" name="Google Shape;5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pic>
        <p:nvPicPr>
          <p:cNvPr descr="preencoded.png" id="46" name="Google Shape;46;p1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47" name="Google Shape;47;p13"/>
          <p:cNvSpPr/>
          <p:nvPr/>
        </p:nvSpPr>
        <p:spPr>
          <a:xfrm>
            <a:off x="7033379" y="1445776"/>
            <a:ext cx="6049923" cy="566976"/>
          </a:xfrm>
          <a:prstGeom prst="rect">
            <a:avLst/>
          </a:prstGeom>
          <a:noFill/>
          <a:ln>
            <a:noFill/>
          </a:ln>
        </p:spPr>
        <p:txBody>
          <a:bodyPr anchorCtr="0" anchor="t" bIns="0" lIns="0" spcFirstLastPara="1" rIns="0" wrap="square" tIns="0">
            <a:noAutofit/>
          </a:bodyPr>
          <a:lstStyle/>
          <a:p>
            <a:pPr indent="0" lvl="0" marL="0" marR="0" rtl="1" algn="ctr">
              <a:lnSpc>
                <a:spcPct val="125352"/>
              </a:lnSpc>
              <a:spcBef>
                <a:spcPts val="0"/>
              </a:spcBef>
              <a:spcAft>
                <a:spcPts val="0"/>
              </a:spcAft>
              <a:buClr>
                <a:srgbClr val="D75BE2"/>
              </a:buClr>
              <a:buSzPts val="3550"/>
              <a:buFont typeface="Rubik"/>
              <a:buNone/>
            </a:pPr>
            <a:r>
              <a:rPr b="0" i="0" lang="en-US" sz="3550" u="none" cap="none" strike="noStrike">
                <a:solidFill>
                  <a:srgbClr val="D75BE2"/>
                </a:solidFill>
                <a:latin typeface="Rubik"/>
                <a:ea typeface="Rubik"/>
                <a:cs typeface="Rubik"/>
                <a:sym typeface="Rubik"/>
              </a:rPr>
              <a:t>פרויקט מסכם לקורס AI מתקדם:</a:t>
            </a:r>
            <a:endParaRPr b="0" i="0" sz="3550" u="none" cap="none" strike="noStrike"/>
          </a:p>
        </p:txBody>
      </p:sp>
      <p:sp>
        <p:nvSpPr>
          <p:cNvPr id="48" name="Google Shape;48;p13"/>
          <p:cNvSpPr/>
          <p:nvPr/>
        </p:nvSpPr>
        <p:spPr>
          <a:xfrm>
            <a:off x="6280190" y="2239566"/>
            <a:ext cx="7556421" cy="2934653"/>
          </a:xfrm>
          <a:prstGeom prst="rect">
            <a:avLst/>
          </a:prstGeom>
          <a:noFill/>
          <a:ln>
            <a:noFill/>
          </a:ln>
        </p:spPr>
        <p:txBody>
          <a:bodyPr anchorCtr="0" anchor="t" bIns="0" lIns="0" spcFirstLastPara="1" rIns="0" wrap="square" tIns="0">
            <a:noAutofit/>
          </a:bodyPr>
          <a:lstStyle/>
          <a:p>
            <a:pPr indent="0" lvl="0" marL="0" marR="0" rtl="1" algn="ctr">
              <a:lnSpc>
                <a:spcPct val="125203"/>
              </a:lnSpc>
              <a:spcBef>
                <a:spcPts val="0"/>
              </a:spcBef>
              <a:spcAft>
                <a:spcPts val="0"/>
              </a:spcAft>
              <a:buClr>
                <a:srgbClr val="D75BE2"/>
              </a:buClr>
              <a:buSzPts val="6150"/>
              <a:buFont typeface="Rubik"/>
              <a:buNone/>
            </a:pPr>
            <a:r>
              <a:rPr b="0" i="0" lang="en-US" sz="6150" u="none" cap="none" strike="noStrike">
                <a:solidFill>
                  <a:srgbClr val="D75BE2"/>
                </a:solidFill>
                <a:latin typeface="Rubik"/>
                <a:ea typeface="Rubik"/>
                <a:cs typeface="Rubik"/>
                <a:sym typeface="Rubik"/>
              </a:rPr>
              <a:t>פיתוח פתרונות מותאמים אישית באמצעות כלי AI</a:t>
            </a:r>
            <a:endParaRPr b="0" i="0" sz="6150" u="none" cap="none" strike="noStrike"/>
          </a:p>
        </p:txBody>
      </p:sp>
      <p:pic>
        <p:nvPicPr>
          <p:cNvPr descr="preencoded.png" id="49" name="Google Shape;49;p13"/>
          <p:cNvPicPr preferRelativeResize="0"/>
          <p:nvPr/>
        </p:nvPicPr>
        <p:blipFill rotWithShape="1">
          <a:blip r:embed="rId4">
            <a:alphaModFix/>
          </a:blip>
          <a:srcRect b="0" l="0" r="0" t="0"/>
          <a:stretch/>
        </p:blipFill>
        <p:spPr>
          <a:xfrm>
            <a:off x="8623221" y="5514380"/>
            <a:ext cx="2870240" cy="1269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descr="preencoded.png" id="55" name="Google Shape;55;p14"/>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6" name="Google Shape;56;p14"/>
          <p:cNvSpPr/>
          <p:nvPr/>
        </p:nvSpPr>
        <p:spPr>
          <a:xfrm>
            <a:off x="8166021" y="623768"/>
            <a:ext cx="5670590" cy="708779"/>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מטרות הפרויקט</a:t>
            </a:r>
            <a:endParaRPr b="0" i="0" sz="4450" u="none" cap="none" strike="noStrike"/>
          </a:p>
        </p:txBody>
      </p:sp>
      <p:sp>
        <p:nvSpPr>
          <p:cNvPr id="57" name="Google Shape;57;p14"/>
          <p:cNvSpPr/>
          <p:nvPr/>
        </p:nvSpPr>
        <p:spPr>
          <a:xfrm>
            <a:off x="13326308" y="1672709"/>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10264259" y="1750576"/>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יישום כלי AI שנלמדו</a:t>
            </a:r>
            <a:endParaRPr b="0" i="0" sz="2200" u="none" cap="none" strike="noStrike"/>
          </a:p>
        </p:txBody>
      </p:sp>
      <p:sp>
        <p:nvSpPr>
          <p:cNvPr id="59" name="Google Shape;59;p14"/>
          <p:cNvSpPr/>
          <p:nvPr/>
        </p:nvSpPr>
        <p:spPr>
          <a:xfrm>
            <a:off x="6280190" y="2240994"/>
            <a:ext cx="6819305"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יישום המיומנויות וכלי AI שנלמדו בקורס ליצירת אפליקציה מותאמת אישית או ניתוח נתונים</a:t>
            </a:r>
            <a:endParaRPr b="0" i="0" sz="1750" u="none" cap="none" strike="noStrike"/>
          </a:p>
        </p:txBody>
      </p:sp>
      <p:sp>
        <p:nvSpPr>
          <p:cNvPr id="60" name="Google Shape;60;p14"/>
          <p:cNvSpPr/>
          <p:nvPr/>
        </p:nvSpPr>
        <p:spPr>
          <a:xfrm>
            <a:off x="13326308" y="3420428"/>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7948374" y="3498294"/>
            <a:ext cx="5151120"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הפיכת רעיון למציאות בעזרת בינה מלאכותית</a:t>
            </a:r>
            <a:endParaRPr b="0" i="0" sz="2200" u="none" cap="none" strike="noStrike"/>
          </a:p>
        </p:txBody>
      </p:sp>
      <p:sp>
        <p:nvSpPr>
          <p:cNvPr id="62" name="Google Shape;62;p14"/>
          <p:cNvSpPr/>
          <p:nvPr/>
        </p:nvSpPr>
        <p:spPr>
          <a:xfrm>
            <a:off x="6280190" y="3988713"/>
            <a:ext cx="6819305"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חוויית תהליך עבודה מלא – החל מזיהוי בעיה ועד לבניית פתרון שלם מותאם אישית באמצעות כלי AI </a:t>
            </a:r>
            <a:endParaRPr b="0" i="0" sz="1750" u="none" cap="none" strike="noStrike"/>
          </a:p>
        </p:txBody>
      </p:sp>
      <p:sp>
        <p:nvSpPr>
          <p:cNvPr id="63" name="Google Shape;63;p14"/>
          <p:cNvSpPr/>
          <p:nvPr/>
        </p:nvSpPr>
        <p:spPr>
          <a:xfrm>
            <a:off x="13326308" y="5168146"/>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10264259" y="5246013"/>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התאמה אישית</a:t>
            </a:r>
            <a:endParaRPr b="0" i="0" sz="2200" u="none" cap="none" strike="noStrike"/>
          </a:p>
        </p:txBody>
      </p:sp>
      <p:sp>
        <p:nvSpPr>
          <p:cNvPr id="65" name="Google Shape;65;p14"/>
          <p:cNvSpPr/>
          <p:nvPr/>
        </p:nvSpPr>
        <p:spPr>
          <a:xfrm>
            <a:off x="6280190" y="5736431"/>
            <a:ext cx="6819305" cy="362903"/>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התמקדות בתחומי עניין ומומחיות אישיים. כל רעיון הולך :)</a:t>
            </a:r>
            <a:endParaRPr b="0" i="0" sz="1750" u="none" cap="none" strike="noStrike"/>
          </a:p>
        </p:txBody>
      </p:sp>
      <p:sp>
        <p:nvSpPr>
          <p:cNvPr id="66" name="Google Shape;66;p14"/>
          <p:cNvSpPr/>
          <p:nvPr/>
        </p:nvSpPr>
        <p:spPr>
          <a:xfrm>
            <a:off x="6280190" y="6235422"/>
            <a:ext cx="6819305" cy="362903"/>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הדגמת יכולת לפתור בעיות אישיות או מקצועיות באמצעות טכנולוגיות AI</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p:nvPr/>
        </p:nvSpPr>
        <p:spPr>
          <a:xfrm>
            <a:off x="8171974" y="623173"/>
            <a:ext cx="5665351" cy="708065"/>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שני מסלולים לבחירה</a:t>
            </a:r>
            <a:endParaRPr b="0" i="0" sz="4450" u="none" cap="none" strike="noStrike"/>
          </a:p>
        </p:txBody>
      </p:sp>
      <p:pic>
        <p:nvPicPr>
          <p:cNvPr descr="preencoded.png" id="73" name="Google Shape;73;p15"/>
          <p:cNvPicPr preferRelativeResize="0"/>
          <p:nvPr/>
        </p:nvPicPr>
        <p:blipFill rotWithShape="1">
          <a:blip r:embed="rId3">
            <a:alphaModFix/>
          </a:blip>
          <a:srcRect b="0" l="0" r="0" t="0"/>
          <a:stretch/>
        </p:blipFill>
        <p:spPr>
          <a:xfrm>
            <a:off x="3908107" y="1926074"/>
            <a:ext cx="3131939" cy="3131939"/>
          </a:xfrm>
          <a:prstGeom prst="rect">
            <a:avLst/>
          </a:prstGeom>
          <a:noFill/>
          <a:ln>
            <a:noFill/>
          </a:ln>
        </p:spPr>
      </p:pic>
      <p:sp>
        <p:nvSpPr>
          <p:cNvPr id="74" name="Google Shape;74;p15"/>
          <p:cNvSpPr/>
          <p:nvPr/>
        </p:nvSpPr>
        <p:spPr>
          <a:xfrm>
            <a:off x="3640812" y="5312926"/>
            <a:ext cx="3399234" cy="424815"/>
          </a:xfrm>
          <a:prstGeom prst="rect">
            <a:avLst/>
          </a:prstGeom>
          <a:noFill/>
          <a:ln>
            <a:noFill/>
          </a:ln>
        </p:spPr>
        <p:txBody>
          <a:bodyPr anchorCtr="0" anchor="t" bIns="0" lIns="0" spcFirstLastPara="1" rIns="0" wrap="square" tIns="0">
            <a:noAutofit/>
          </a:bodyPr>
          <a:lstStyle/>
          <a:p>
            <a:pPr indent="0" lvl="0" marL="0" marR="0" rtl="1" algn="r">
              <a:lnSpc>
                <a:spcPct val="124528"/>
              </a:lnSpc>
              <a:spcBef>
                <a:spcPts val="0"/>
              </a:spcBef>
              <a:spcAft>
                <a:spcPts val="0"/>
              </a:spcAft>
              <a:buClr>
                <a:srgbClr val="D75BE2"/>
              </a:buClr>
              <a:buSzPts val="2650"/>
              <a:buFont typeface="Rubik"/>
              <a:buNone/>
            </a:pPr>
            <a:r>
              <a:rPr b="0" i="0" lang="en-US" sz="2650" u="none" cap="none" strike="noStrike">
                <a:solidFill>
                  <a:srgbClr val="D75BE2"/>
                </a:solidFill>
                <a:latin typeface="Rubik"/>
                <a:ea typeface="Rubik"/>
                <a:cs typeface="Rubik"/>
                <a:sym typeface="Rubik"/>
              </a:rPr>
              <a:t>אופציה 2: ניתוח נתונים</a:t>
            </a:r>
            <a:endParaRPr b="0" i="0" sz="2650" u="none" cap="none" strike="noStrike"/>
          </a:p>
        </p:txBody>
      </p:sp>
      <p:sp>
        <p:nvSpPr>
          <p:cNvPr id="75" name="Google Shape;75;p15"/>
          <p:cNvSpPr/>
          <p:nvPr/>
        </p:nvSpPr>
        <p:spPr>
          <a:xfrm>
            <a:off x="793075" y="5964317"/>
            <a:ext cx="6246971" cy="1359456"/>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Open Sans"/>
              <a:buNone/>
            </a:pPr>
            <a:r>
              <a:rPr b="0" i="0" lang="en-US" sz="2200" u="none" cap="none" strike="noStrike">
                <a:solidFill>
                  <a:srgbClr val="272525"/>
                </a:solidFill>
                <a:latin typeface="Open Sans"/>
                <a:ea typeface="Open Sans"/>
                <a:cs typeface="Open Sans"/>
                <a:sym typeface="Open Sans"/>
              </a:rPr>
              <a:t>ניתוח דאטא מתוך אפליקציית מעקב הוצאות משפחתית, והפקת תובנות לשיפור ההתנהלות הכלכלית המשפחתית.</a:t>
            </a:r>
            <a:endParaRPr b="0" i="0" sz="2200" u="none" cap="none" strike="noStrike"/>
          </a:p>
        </p:txBody>
      </p:sp>
      <p:pic>
        <p:nvPicPr>
          <p:cNvPr descr="preencoded.png" id="76" name="Google Shape;76;p15"/>
          <p:cNvPicPr preferRelativeResize="0"/>
          <p:nvPr/>
        </p:nvPicPr>
        <p:blipFill rotWithShape="1">
          <a:blip r:embed="rId4">
            <a:alphaModFix/>
          </a:blip>
          <a:srcRect b="0" l="0" r="0" t="0"/>
          <a:stretch/>
        </p:blipFill>
        <p:spPr>
          <a:xfrm>
            <a:off x="10630495" y="1926074"/>
            <a:ext cx="3214330" cy="3214330"/>
          </a:xfrm>
          <a:prstGeom prst="rect">
            <a:avLst/>
          </a:prstGeom>
          <a:noFill/>
          <a:ln>
            <a:noFill/>
          </a:ln>
        </p:spPr>
      </p:pic>
      <p:sp>
        <p:nvSpPr>
          <p:cNvPr id="77" name="Google Shape;77;p15"/>
          <p:cNvSpPr/>
          <p:nvPr/>
        </p:nvSpPr>
        <p:spPr>
          <a:xfrm>
            <a:off x="10167223" y="5395317"/>
            <a:ext cx="3677602" cy="424815"/>
          </a:xfrm>
          <a:prstGeom prst="rect">
            <a:avLst/>
          </a:prstGeom>
          <a:noFill/>
          <a:ln>
            <a:noFill/>
          </a:ln>
        </p:spPr>
        <p:txBody>
          <a:bodyPr anchorCtr="0" anchor="t" bIns="0" lIns="0" spcFirstLastPara="1" rIns="0" wrap="square" tIns="0">
            <a:noAutofit/>
          </a:bodyPr>
          <a:lstStyle/>
          <a:p>
            <a:pPr indent="0" lvl="0" marL="0" marR="0" rtl="1" algn="r">
              <a:lnSpc>
                <a:spcPct val="124528"/>
              </a:lnSpc>
              <a:spcBef>
                <a:spcPts val="0"/>
              </a:spcBef>
              <a:spcAft>
                <a:spcPts val="0"/>
              </a:spcAft>
              <a:buClr>
                <a:srgbClr val="D75BE2"/>
              </a:buClr>
              <a:buSzPts val="2650"/>
              <a:buFont typeface="Rubik"/>
              <a:buNone/>
            </a:pPr>
            <a:r>
              <a:rPr b="0" i="0" lang="en-US" sz="2650" u="none" cap="none" strike="noStrike">
                <a:solidFill>
                  <a:srgbClr val="D75BE2"/>
                </a:solidFill>
                <a:latin typeface="Rubik"/>
                <a:ea typeface="Rubik"/>
                <a:cs typeface="Rubik"/>
                <a:sym typeface="Rubik"/>
              </a:rPr>
              <a:t>אופציה 1: פיתוח אפליקציה</a:t>
            </a:r>
            <a:endParaRPr b="0" i="0" sz="2650" u="none" cap="none" strike="noStrike"/>
          </a:p>
        </p:txBody>
      </p:sp>
      <p:sp>
        <p:nvSpPr>
          <p:cNvPr id="78" name="Google Shape;78;p15"/>
          <p:cNvSpPr/>
          <p:nvPr/>
        </p:nvSpPr>
        <p:spPr>
          <a:xfrm>
            <a:off x="7600593" y="6046708"/>
            <a:ext cx="6244233" cy="1359456"/>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Open Sans"/>
              <a:buNone/>
            </a:pPr>
            <a:r>
              <a:rPr b="0" i="0" lang="en-US" sz="2200" u="none" cap="none" strike="noStrike">
                <a:solidFill>
                  <a:srgbClr val="272525"/>
                </a:solidFill>
                <a:latin typeface="Open Sans"/>
                <a:ea typeface="Open Sans"/>
                <a:cs typeface="Open Sans"/>
                <a:sym typeface="Open Sans"/>
              </a:rPr>
              <a:t>פיתוח אפליקציה באמצעות כלי vibe coding שנלמדו בקורס (Base44, Lovable), שמטרתה לתת מענה אמיתי לצורך אישי או מקצועי.</a:t>
            </a:r>
            <a:endParaRPr b="0" i="0" sz="22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p:nvPr/>
        </p:nvSpPr>
        <p:spPr>
          <a:xfrm>
            <a:off x="7630954" y="1232892"/>
            <a:ext cx="6205657" cy="708779"/>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מסלול 1 - פיתוח אפליקציה</a:t>
            </a:r>
            <a:endParaRPr b="0" i="0" sz="4450" u="none" cap="none" strike="noStrike"/>
          </a:p>
        </p:txBody>
      </p:sp>
      <p:sp>
        <p:nvSpPr>
          <p:cNvPr id="85" name="Google Shape;85;p16"/>
          <p:cNvSpPr/>
          <p:nvPr/>
        </p:nvSpPr>
        <p:spPr>
          <a:xfrm>
            <a:off x="793790" y="4518779"/>
            <a:ext cx="13042821" cy="30480"/>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11742063" y="3838337"/>
            <a:ext cx="30480" cy="680442"/>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11502152" y="4263628"/>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11587222" y="4306133"/>
            <a:ext cx="340162" cy="425291"/>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1</a:t>
            </a:r>
            <a:endParaRPr b="0" i="0" sz="2650" u="none" cap="none" strike="noStrike"/>
          </a:p>
        </p:txBody>
      </p:sp>
      <p:sp>
        <p:nvSpPr>
          <p:cNvPr id="89" name="Google Shape;89;p16"/>
          <p:cNvSpPr/>
          <p:nvPr/>
        </p:nvSpPr>
        <p:spPr>
          <a:xfrm>
            <a:off x="10339745" y="2395299"/>
            <a:ext cx="2835235" cy="35433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1. בחירת רעיון אישי</a:t>
            </a:r>
            <a:endParaRPr b="0" i="0" sz="2200" u="none" cap="none" strike="noStrike"/>
          </a:p>
        </p:txBody>
      </p:sp>
      <p:sp>
        <p:nvSpPr>
          <p:cNvPr id="90" name="Google Shape;90;p16"/>
          <p:cNvSpPr/>
          <p:nvPr/>
        </p:nvSpPr>
        <p:spPr>
          <a:xfrm>
            <a:off x="9904809" y="2885718"/>
            <a:ext cx="3704987" cy="725805"/>
          </a:xfrm>
          <a:prstGeom prst="rect">
            <a:avLst/>
          </a:prstGeom>
          <a:noFill/>
          <a:ln>
            <a:noFill/>
          </a:ln>
        </p:spPr>
        <p:txBody>
          <a:bodyPr anchorCtr="0" anchor="t" bIns="0" lIns="0" spcFirstLastPara="1" rIns="0" wrap="square" tIns="0">
            <a:noAutofit/>
          </a:bodyPr>
          <a:lstStyle/>
          <a:p>
            <a:pPr indent="0" lvl="0" marL="0" marR="0" rtl="1" algn="ct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חשיבה על בעיה/צורך אישי או מקצועי שדורש פתרון</a:t>
            </a:r>
            <a:endParaRPr b="0" i="0" sz="1750" u="none" cap="none" strike="noStrike"/>
          </a:p>
        </p:txBody>
      </p:sp>
      <p:sp>
        <p:nvSpPr>
          <p:cNvPr id="91" name="Google Shape;91;p16"/>
          <p:cNvSpPr/>
          <p:nvPr/>
        </p:nvSpPr>
        <p:spPr>
          <a:xfrm>
            <a:off x="9521071" y="4518779"/>
            <a:ext cx="30480" cy="680442"/>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9281160" y="4263628"/>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p:nvPr/>
        </p:nvSpPr>
        <p:spPr>
          <a:xfrm>
            <a:off x="9366230" y="4306133"/>
            <a:ext cx="340162" cy="425291"/>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2</a:t>
            </a:r>
            <a:endParaRPr b="0" i="0" sz="2650" u="none" cap="none" strike="noStrike"/>
          </a:p>
        </p:txBody>
      </p:sp>
      <p:sp>
        <p:nvSpPr>
          <p:cNvPr id="94" name="Google Shape;94;p16"/>
          <p:cNvSpPr/>
          <p:nvPr/>
        </p:nvSpPr>
        <p:spPr>
          <a:xfrm>
            <a:off x="8118753" y="5426035"/>
            <a:ext cx="2835235" cy="70866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2. יצירת פרוטוטיפ (אופציונלי אך מומלץ)</a:t>
            </a:r>
            <a:endParaRPr b="0" i="0" sz="2200" u="none" cap="none" strike="noStrike"/>
          </a:p>
        </p:txBody>
      </p:sp>
      <p:sp>
        <p:nvSpPr>
          <p:cNvPr id="95" name="Google Shape;95;p16"/>
          <p:cNvSpPr/>
          <p:nvPr/>
        </p:nvSpPr>
        <p:spPr>
          <a:xfrm>
            <a:off x="7683817" y="6270784"/>
            <a:ext cx="3704987" cy="725805"/>
          </a:xfrm>
          <a:prstGeom prst="rect">
            <a:avLst/>
          </a:prstGeom>
          <a:noFill/>
          <a:ln>
            <a:noFill/>
          </a:ln>
        </p:spPr>
        <p:txBody>
          <a:bodyPr anchorCtr="0" anchor="t" bIns="0" lIns="0" spcFirstLastPara="1" rIns="0" wrap="square" tIns="0">
            <a:noAutofit/>
          </a:bodyPr>
          <a:lstStyle/>
          <a:p>
            <a:pPr indent="0" lvl="0" marL="0" marR="0" rtl="1" algn="ct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תכנון המסכים והפונקציונליות באמצעות כלי vibe coding חסכוני בפרומפטים</a:t>
            </a:r>
            <a:endParaRPr b="0" i="0" sz="1750" u="none" cap="none" strike="noStrike"/>
          </a:p>
        </p:txBody>
      </p:sp>
      <p:sp>
        <p:nvSpPr>
          <p:cNvPr id="96" name="Google Shape;96;p16"/>
          <p:cNvSpPr/>
          <p:nvPr/>
        </p:nvSpPr>
        <p:spPr>
          <a:xfrm>
            <a:off x="7299960" y="3838337"/>
            <a:ext cx="30480" cy="680442"/>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7060049" y="4263628"/>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7145119" y="4306133"/>
            <a:ext cx="340162" cy="425291"/>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3</a:t>
            </a:r>
            <a:endParaRPr b="0" i="0" sz="2650" u="none" cap="none" strike="noStrike"/>
          </a:p>
        </p:txBody>
      </p:sp>
      <p:sp>
        <p:nvSpPr>
          <p:cNvPr id="99" name="Google Shape;99;p16"/>
          <p:cNvSpPr/>
          <p:nvPr/>
        </p:nvSpPr>
        <p:spPr>
          <a:xfrm>
            <a:off x="5897642" y="2395299"/>
            <a:ext cx="2835235" cy="35433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3. פיתוח האפליקציה</a:t>
            </a:r>
            <a:endParaRPr b="0" i="0" sz="2200" u="none" cap="none" strike="noStrike"/>
          </a:p>
        </p:txBody>
      </p:sp>
      <p:sp>
        <p:nvSpPr>
          <p:cNvPr id="100" name="Google Shape;100;p16"/>
          <p:cNvSpPr/>
          <p:nvPr/>
        </p:nvSpPr>
        <p:spPr>
          <a:xfrm>
            <a:off x="5462707" y="2885718"/>
            <a:ext cx="3704987" cy="725805"/>
          </a:xfrm>
          <a:prstGeom prst="rect">
            <a:avLst/>
          </a:prstGeom>
          <a:noFill/>
          <a:ln>
            <a:noFill/>
          </a:ln>
        </p:spPr>
        <p:txBody>
          <a:bodyPr anchorCtr="0" anchor="t" bIns="0" lIns="0" spcFirstLastPara="1" rIns="0" wrap="square" tIns="0">
            <a:noAutofit/>
          </a:bodyPr>
          <a:lstStyle/>
          <a:p>
            <a:pPr indent="0" lvl="0" marL="0" marR="0" rtl="1" algn="ct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יצירת האפליקציה בפועל באמצעות Base44 או Lovable</a:t>
            </a:r>
            <a:endParaRPr b="0" i="0" sz="1750" u="none" cap="none" strike="noStrike"/>
          </a:p>
        </p:txBody>
      </p:sp>
      <p:sp>
        <p:nvSpPr>
          <p:cNvPr id="101" name="Google Shape;101;p16"/>
          <p:cNvSpPr/>
          <p:nvPr/>
        </p:nvSpPr>
        <p:spPr>
          <a:xfrm>
            <a:off x="5078968" y="4518779"/>
            <a:ext cx="30480" cy="680442"/>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4839057" y="4263628"/>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p:nvPr/>
        </p:nvSpPr>
        <p:spPr>
          <a:xfrm>
            <a:off x="4924127" y="4306133"/>
            <a:ext cx="340162" cy="425291"/>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4</a:t>
            </a:r>
            <a:endParaRPr b="0" i="0" sz="2650" u="none" cap="none" strike="noStrike"/>
          </a:p>
        </p:txBody>
      </p:sp>
      <p:sp>
        <p:nvSpPr>
          <p:cNvPr id="104" name="Google Shape;104;p16"/>
          <p:cNvSpPr/>
          <p:nvPr/>
        </p:nvSpPr>
        <p:spPr>
          <a:xfrm>
            <a:off x="3676650" y="5426035"/>
            <a:ext cx="2835235" cy="35433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4. שיפור ודיוק</a:t>
            </a:r>
            <a:endParaRPr b="0" i="0" sz="2200" u="none" cap="none" strike="noStrike"/>
          </a:p>
        </p:txBody>
      </p:sp>
      <p:sp>
        <p:nvSpPr>
          <p:cNvPr id="105" name="Google Shape;105;p16"/>
          <p:cNvSpPr/>
          <p:nvPr/>
        </p:nvSpPr>
        <p:spPr>
          <a:xfrm>
            <a:off x="3241715" y="5916454"/>
            <a:ext cx="3704987" cy="725805"/>
          </a:xfrm>
          <a:prstGeom prst="rect">
            <a:avLst/>
          </a:prstGeom>
          <a:noFill/>
          <a:ln>
            <a:noFill/>
          </a:ln>
        </p:spPr>
        <p:txBody>
          <a:bodyPr anchorCtr="0" anchor="t" bIns="0" lIns="0" spcFirstLastPara="1" rIns="0" wrap="square" tIns="0">
            <a:noAutofit/>
          </a:bodyPr>
          <a:lstStyle/>
          <a:p>
            <a:pPr indent="0" lvl="0" marL="0" marR="0" rtl="1" algn="ct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בחינת ה-frontend וה-backend ושיפור האפליקציה עד לקבלת תוצר מספק</a:t>
            </a:r>
            <a:endParaRPr b="0" i="0" sz="1750" u="none" cap="none" strike="noStrike"/>
          </a:p>
        </p:txBody>
      </p:sp>
      <p:sp>
        <p:nvSpPr>
          <p:cNvPr id="106" name="Google Shape;106;p16"/>
          <p:cNvSpPr/>
          <p:nvPr/>
        </p:nvSpPr>
        <p:spPr>
          <a:xfrm>
            <a:off x="2857857" y="3838337"/>
            <a:ext cx="30480" cy="680442"/>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2617946" y="4263628"/>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16"/>
          <p:cNvPicPr preferRelativeResize="0"/>
          <p:nvPr/>
        </p:nvPicPr>
        <p:blipFill rotWithShape="1">
          <a:blip r:embed="rId3">
            <a:alphaModFix/>
          </a:blip>
          <a:srcRect b="0" l="0" r="0" t="0"/>
          <a:stretch/>
        </p:blipFill>
        <p:spPr>
          <a:xfrm>
            <a:off x="2703016" y="4348639"/>
            <a:ext cx="340162" cy="340162"/>
          </a:xfrm>
          <a:prstGeom prst="rect">
            <a:avLst/>
          </a:prstGeom>
          <a:noFill/>
          <a:ln>
            <a:noFill/>
          </a:ln>
        </p:spPr>
      </p:pic>
      <p:sp>
        <p:nvSpPr>
          <p:cNvPr id="109" name="Google Shape;109;p16"/>
          <p:cNvSpPr/>
          <p:nvPr/>
        </p:nvSpPr>
        <p:spPr>
          <a:xfrm>
            <a:off x="1256705" y="2395299"/>
            <a:ext cx="3232785" cy="35433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הוציאו אותה לפועל לשימוש!</a:t>
            </a:r>
            <a:endParaRPr b="0" i="0" sz="22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p:nvPr/>
        </p:nvSpPr>
        <p:spPr>
          <a:xfrm>
            <a:off x="8166021" y="1292543"/>
            <a:ext cx="5670590" cy="708779"/>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רעיונות לאפליקציות</a:t>
            </a:r>
            <a:endParaRPr b="0" i="0" sz="4450" u="none" cap="none" strike="noStrike"/>
          </a:p>
        </p:txBody>
      </p:sp>
      <p:pic>
        <p:nvPicPr>
          <p:cNvPr descr="preencoded.png" id="116" name="Google Shape;116;p17"/>
          <p:cNvPicPr preferRelativeResize="0"/>
          <p:nvPr/>
        </p:nvPicPr>
        <p:blipFill rotWithShape="1">
          <a:blip r:embed="rId3">
            <a:alphaModFix/>
          </a:blip>
          <a:srcRect b="0" l="0" r="0" t="0"/>
          <a:stretch/>
        </p:blipFill>
        <p:spPr>
          <a:xfrm>
            <a:off x="13269635" y="2454950"/>
            <a:ext cx="566976" cy="566976"/>
          </a:xfrm>
          <a:prstGeom prst="rect">
            <a:avLst/>
          </a:prstGeom>
          <a:noFill/>
          <a:ln>
            <a:noFill/>
          </a:ln>
        </p:spPr>
      </p:pic>
      <p:sp>
        <p:nvSpPr>
          <p:cNvPr id="117" name="Google Shape;117;p17"/>
          <p:cNvSpPr/>
          <p:nvPr/>
        </p:nvSpPr>
        <p:spPr>
          <a:xfrm>
            <a:off x="10150912" y="2589609"/>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מעקב וניהול אישי</a:t>
            </a:r>
            <a:endParaRPr b="0" i="0" sz="2200" u="none" cap="none" strike="noStrike"/>
          </a:p>
        </p:txBody>
      </p:sp>
      <p:sp>
        <p:nvSpPr>
          <p:cNvPr id="118" name="Google Shape;118;p17"/>
          <p:cNvSpPr/>
          <p:nvPr/>
        </p:nvSpPr>
        <p:spPr>
          <a:xfrm>
            <a:off x="7457003" y="3080028"/>
            <a:ext cx="5529143"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אפליקציה למעקב אחר הרגלים בריאותיים, שעות לימוד, שעות שינה, הוצאות כספיות או משימות יומיות</a:t>
            </a:r>
            <a:endParaRPr b="0" i="0" sz="1750" u="none" cap="none" strike="noStrike"/>
          </a:p>
        </p:txBody>
      </p:sp>
      <p:pic>
        <p:nvPicPr>
          <p:cNvPr descr="preencoded.png" id="119" name="Google Shape;119;p17"/>
          <p:cNvPicPr preferRelativeResize="0"/>
          <p:nvPr/>
        </p:nvPicPr>
        <p:blipFill rotWithShape="1">
          <a:blip r:embed="rId4">
            <a:alphaModFix/>
          </a:blip>
          <a:srcRect b="0" l="0" r="0" t="0"/>
          <a:stretch/>
        </p:blipFill>
        <p:spPr>
          <a:xfrm>
            <a:off x="6606540" y="2454950"/>
            <a:ext cx="566976" cy="566976"/>
          </a:xfrm>
          <a:prstGeom prst="rect">
            <a:avLst/>
          </a:prstGeom>
          <a:noFill/>
          <a:ln>
            <a:noFill/>
          </a:ln>
        </p:spPr>
      </p:pic>
      <p:sp>
        <p:nvSpPr>
          <p:cNvPr id="120" name="Google Shape;120;p17"/>
          <p:cNvSpPr/>
          <p:nvPr/>
        </p:nvSpPr>
        <p:spPr>
          <a:xfrm>
            <a:off x="3487817" y="2589609"/>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שיתוף ותיאום עם אחרים</a:t>
            </a:r>
            <a:endParaRPr b="0" i="0" sz="2200" u="none" cap="none" strike="noStrike"/>
          </a:p>
        </p:txBody>
      </p:sp>
      <p:sp>
        <p:nvSpPr>
          <p:cNvPr id="121" name="Google Shape;121;p17"/>
          <p:cNvSpPr/>
          <p:nvPr/>
        </p:nvSpPr>
        <p:spPr>
          <a:xfrm>
            <a:off x="793790" y="3080028"/>
            <a:ext cx="5529263"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ניהול משימות, אירועים או קניות משותפות מול בני משפחה, חברים או קולגות</a:t>
            </a:r>
            <a:endParaRPr b="0" i="0" sz="1750" u="none" cap="none" strike="noStrike"/>
          </a:p>
        </p:txBody>
      </p:sp>
      <p:pic>
        <p:nvPicPr>
          <p:cNvPr descr="preencoded.png" id="122" name="Google Shape;122;p17"/>
          <p:cNvPicPr preferRelativeResize="0"/>
          <p:nvPr/>
        </p:nvPicPr>
        <p:blipFill rotWithShape="1">
          <a:blip r:embed="rId5">
            <a:alphaModFix/>
          </a:blip>
          <a:srcRect b="0" l="0" r="0" t="0"/>
          <a:stretch/>
        </p:blipFill>
        <p:spPr>
          <a:xfrm>
            <a:off x="13269635" y="4259461"/>
            <a:ext cx="566976" cy="566976"/>
          </a:xfrm>
          <a:prstGeom prst="rect">
            <a:avLst/>
          </a:prstGeom>
          <a:noFill/>
          <a:ln>
            <a:noFill/>
          </a:ln>
        </p:spPr>
      </p:pic>
      <p:sp>
        <p:nvSpPr>
          <p:cNvPr id="123" name="Google Shape;123;p17"/>
          <p:cNvSpPr/>
          <p:nvPr/>
        </p:nvSpPr>
        <p:spPr>
          <a:xfrm>
            <a:off x="9926836" y="4394121"/>
            <a:ext cx="3059311"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איסוף מידע והפקת תובנות</a:t>
            </a:r>
            <a:endParaRPr b="0" i="0" sz="2200" u="none" cap="none" strike="noStrike"/>
          </a:p>
        </p:txBody>
      </p:sp>
      <p:sp>
        <p:nvSpPr>
          <p:cNvPr id="124" name="Google Shape;124;p17"/>
          <p:cNvSpPr/>
          <p:nvPr/>
        </p:nvSpPr>
        <p:spPr>
          <a:xfrm>
            <a:off x="7457003" y="4884539"/>
            <a:ext cx="5529143"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שאלון מותאם אישית אינטראקטיבי לאיסוף תשובות ממשתמשים ועיבוד הנתונים</a:t>
            </a:r>
            <a:endParaRPr b="0" i="0" sz="1750" u="none" cap="none" strike="noStrike"/>
          </a:p>
        </p:txBody>
      </p:sp>
      <p:pic>
        <p:nvPicPr>
          <p:cNvPr descr="preencoded.png" id="125" name="Google Shape;125;p17"/>
          <p:cNvPicPr preferRelativeResize="0"/>
          <p:nvPr/>
        </p:nvPicPr>
        <p:blipFill rotWithShape="1">
          <a:blip r:embed="rId6">
            <a:alphaModFix/>
          </a:blip>
          <a:srcRect b="0" l="0" r="0" t="0"/>
          <a:stretch/>
        </p:blipFill>
        <p:spPr>
          <a:xfrm>
            <a:off x="6606540" y="4259461"/>
            <a:ext cx="566976" cy="566976"/>
          </a:xfrm>
          <a:prstGeom prst="rect">
            <a:avLst/>
          </a:prstGeom>
          <a:noFill/>
          <a:ln>
            <a:noFill/>
          </a:ln>
        </p:spPr>
      </p:pic>
      <p:sp>
        <p:nvSpPr>
          <p:cNvPr id="126" name="Google Shape;126;p17"/>
          <p:cNvSpPr/>
          <p:nvPr/>
        </p:nvSpPr>
        <p:spPr>
          <a:xfrm>
            <a:off x="3487817" y="4394121"/>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מערכת תמיכה יומיומית</a:t>
            </a:r>
            <a:endParaRPr b="0" i="0" sz="2200" u="none" cap="none" strike="noStrike"/>
          </a:p>
        </p:txBody>
      </p:sp>
      <p:sp>
        <p:nvSpPr>
          <p:cNvPr id="127" name="Google Shape;127;p17"/>
          <p:cNvSpPr/>
          <p:nvPr/>
        </p:nvSpPr>
        <p:spPr>
          <a:xfrm>
            <a:off x="793790" y="4884539"/>
            <a:ext cx="5529263"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אפליקציה שנותנת למשתמשים תשובות מיידיות בתחום מסוים כמו "עוזר תזונתי אישי"</a:t>
            </a:r>
            <a:endParaRPr b="0" i="0" sz="1750" u="none" cap="none" strike="noStrike"/>
          </a:p>
        </p:txBody>
      </p:sp>
      <p:sp>
        <p:nvSpPr>
          <p:cNvPr id="128" name="Google Shape;128;p17"/>
          <p:cNvSpPr/>
          <p:nvPr/>
        </p:nvSpPr>
        <p:spPr>
          <a:xfrm>
            <a:off x="793790" y="5865495"/>
            <a:ext cx="130428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SzPts val="1750"/>
              <a:buFont typeface="Arial"/>
              <a:buNone/>
            </a:pPr>
            <a:r>
              <a:t/>
            </a:r>
            <a:endParaRPr b="0" i="0" sz="1750" u="none" cap="none" strike="noStrike"/>
          </a:p>
        </p:txBody>
      </p:sp>
      <p:sp>
        <p:nvSpPr>
          <p:cNvPr id="129" name="Google Shape;129;p17"/>
          <p:cNvSpPr/>
          <p:nvPr/>
        </p:nvSpPr>
        <p:spPr>
          <a:xfrm>
            <a:off x="793790" y="6483548"/>
            <a:ext cx="13042821" cy="453509"/>
          </a:xfrm>
          <a:prstGeom prst="rect">
            <a:avLst/>
          </a:prstGeom>
          <a:noFill/>
          <a:ln>
            <a:noFill/>
          </a:ln>
        </p:spPr>
        <p:txBody>
          <a:bodyPr anchorCtr="0" anchor="t" bIns="0" lIns="0" spcFirstLastPara="1" rIns="0" wrap="square" tIns="0">
            <a:noAutofit/>
          </a:bodyPr>
          <a:lstStyle/>
          <a:p>
            <a:pPr indent="0" lvl="0" marL="0" marR="0" rtl="1" algn="ctr">
              <a:lnSpc>
                <a:spcPct val="161363"/>
              </a:lnSpc>
              <a:spcBef>
                <a:spcPts val="0"/>
              </a:spcBef>
              <a:spcAft>
                <a:spcPts val="0"/>
              </a:spcAft>
              <a:buClr>
                <a:srgbClr val="D75BE2"/>
              </a:buClr>
              <a:buSzPts val="2200"/>
              <a:buFont typeface="Open Sans"/>
              <a:buNone/>
            </a:pPr>
            <a:r>
              <a:rPr b="1" i="0" lang="en-US" sz="2200" u="none" cap="none" strike="noStrike">
                <a:solidFill>
                  <a:srgbClr val="D75BE2"/>
                </a:solidFill>
                <a:latin typeface="Open Sans"/>
                <a:ea typeface="Open Sans"/>
                <a:cs typeface="Open Sans"/>
                <a:sym typeface="Open Sans"/>
              </a:rPr>
              <a:t>רעיון מנחה (במידה ואין לכם רעיון בעצמכם):</a:t>
            </a:r>
            <a:r>
              <a:rPr b="0" i="0" lang="en-US" sz="2200" u="none" cap="none" strike="noStrike">
                <a:solidFill>
                  <a:srgbClr val="272525"/>
                </a:solidFill>
                <a:latin typeface="Open Sans"/>
                <a:ea typeface="Open Sans"/>
                <a:cs typeface="Open Sans"/>
                <a:sym typeface="Open Sans"/>
              </a:rPr>
              <a:t> אפליקציית מעקב הוצאות לתא משפחתי</a:t>
            </a:r>
            <a:endParaRPr b="0" i="0" sz="22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p:nvPr/>
        </p:nvSpPr>
        <p:spPr>
          <a:xfrm>
            <a:off x="8166021" y="1143000"/>
            <a:ext cx="5670590" cy="708779"/>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מסלול 2 - ניתוח נתונים</a:t>
            </a:r>
            <a:endParaRPr b="0" i="0" sz="4450" u="none" cap="none" strike="noStrike"/>
          </a:p>
        </p:txBody>
      </p:sp>
      <p:sp>
        <p:nvSpPr>
          <p:cNvPr id="136" name="Google Shape;136;p18"/>
          <p:cNvSpPr/>
          <p:nvPr/>
        </p:nvSpPr>
        <p:spPr>
          <a:xfrm>
            <a:off x="793790" y="3921323"/>
            <a:ext cx="13042821" cy="30480"/>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8"/>
          <p:cNvSpPr/>
          <p:nvPr/>
        </p:nvSpPr>
        <p:spPr>
          <a:xfrm>
            <a:off x="11297960" y="3240881"/>
            <a:ext cx="30480" cy="680442"/>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8"/>
          <p:cNvSpPr/>
          <p:nvPr/>
        </p:nvSpPr>
        <p:spPr>
          <a:xfrm>
            <a:off x="11058049" y="3666173"/>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11143119" y="3708678"/>
            <a:ext cx="340162" cy="425291"/>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1</a:t>
            </a:r>
            <a:endParaRPr b="0" i="0" sz="2650" u="none" cap="none" strike="noStrike"/>
          </a:p>
        </p:txBody>
      </p:sp>
      <p:sp>
        <p:nvSpPr>
          <p:cNvPr id="140" name="Google Shape;140;p18"/>
          <p:cNvSpPr/>
          <p:nvPr/>
        </p:nvSpPr>
        <p:spPr>
          <a:xfrm>
            <a:off x="9016484" y="2305407"/>
            <a:ext cx="4593312" cy="70866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ניתוח קובץ CSV עם נתוני שימוש של משפחה מאפליקציית מעקב הוצאות</a:t>
            </a:r>
            <a:endParaRPr b="0" i="0" sz="2200" u="none" cap="none" strike="noStrike"/>
          </a:p>
        </p:txBody>
      </p:sp>
      <p:sp>
        <p:nvSpPr>
          <p:cNvPr id="141" name="Google Shape;141;p18"/>
          <p:cNvSpPr/>
          <p:nvPr/>
        </p:nvSpPr>
        <p:spPr>
          <a:xfrm>
            <a:off x="8632627" y="3921323"/>
            <a:ext cx="30480" cy="680442"/>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p:nvPr/>
        </p:nvSpPr>
        <p:spPr>
          <a:xfrm>
            <a:off x="8392716" y="3666173"/>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8477786" y="3708678"/>
            <a:ext cx="340162" cy="425291"/>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2</a:t>
            </a:r>
            <a:endParaRPr b="0" i="0" sz="2650" u="none" cap="none" strike="noStrike"/>
          </a:p>
        </p:txBody>
      </p:sp>
      <p:sp>
        <p:nvSpPr>
          <p:cNvPr id="144" name="Google Shape;144;p18"/>
          <p:cNvSpPr/>
          <p:nvPr/>
        </p:nvSpPr>
        <p:spPr>
          <a:xfrm>
            <a:off x="6351151" y="4828580"/>
            <a:ext cx="4593431" cy="70866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שימוש ב-Julius AI / ChatGPT לניתוח הנתונים והסקת מסקנות</a:t>
            </a:r>
            <a:endParaRPr b="0" i="0" sz="2200" u="none" cap="none" strike="noStrike"/>
          </a:p>
        </p:txBody>
      </p:sp>
      <p:sp>
        <p:nvSpPr>
          <p:cNvPr id="145" name="Google Shape;145;p18"/>
          <p:cNvSpPr/>
          <p:nvPr/>
        </p:nvSpPr>
        <p:spPr>
          <a:xfrm>
            <a:off x="5967412" y="3240881"/>
            <a:ext cx="30480" cy="680442"/>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8"/>
          <p:cNvSpPr/>
          <p:nvPr/>
        </p:nvSpPr>
        <p:spPr>
          <a:xfrm>
            <a:off x="5727502" y="3666173"/>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5812572" y="3708678"/>
            <a:ext cx="340162" cy="425291"/>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3</a:t>
            </a:r>
            <a:endParaRPr b="0" i="0" sz="2650" u="none" cap="none" strike="noStrike"/>
          </a:p>
        </p:txBody>
      </p:sp>
      <p:sp>
        <p:nvSpPr>
          <p:cNvPr id="148" name="Google Shape;148;p18"/>
          <p:cNvSpPr/>
          <p:nvPr/>
        </p:nvSpPr>
        <p:spPr>
          <a:xfrm>
            <a:off x="3685937" y="2305407"/>
            <a:ext cx="4593431" cy="70866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יצירת ויזואליזציה (גרף) להצגת ממצאי כל אנליזה</a:t>
            </a:r>
            <a:endParaRPr b="0" i="0" sz="2200" u="none" cap="none" strike="noStrike"/>
          </a:p>
        </p:txBody>
      </p:sp>
      <p:sp>
        <p:nvSpPr>
          <p:cNvPr id="149" name="Google Shape;149;p18"/>
          <p:cNvSpPr/>
          <p:nvPr/>
        </p:nvSpPr>
        <p:spPr>
          <a:xfrm>
            <a:off x="3302079" y="3921323"/>
            <a:ext cx="30480" cy="680442"/>
          </a:xfrm>
          <a:prstGeom prst="roundRect">
            <a:avLst>
              <a:gd fmla="val 312558" name="adj"/>
            </a:avLst>
          </a:prstGeom>
          <a:solidFill>
            <a:srgbClr val="DABA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3062168" y="3666173"/>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a:off x="3147239" y="3708678"/>
            <a:ext cx="340162" cy="425291"/>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650"/>
              <a:buFont typeface="Rubik"/>
              <a:buNone/>
            </a:pPr>
            <a:r>
              <a:rPr b="0" i="0" lang="en-US" sz="2650" u="none" cap="none" strike="noStrike">
                <a:solidFill>
                  <a:srgbClr val="272525"/>
                </a:solidFill>
                <a:latin typeface="Rubik"/>
                <a:ea typeface="Rubik"/>
                <a:cs typeface="Rubik"/>
                <a:sym typeface="Rubik"/>
              </a:rPr>
              <a:t>4</a:t>
            </a:r>
            <a:endParaRPr b="0" i="0" sz="2650" u="none" cap="none" strike="noStrike"/>
          </a:p>
        </p:txBody>
      </p:sp>
      <p:sp>
        <p:nvSpPr>
          <p:cNvPr id="152" name="Google Shape;152;p18"/>
          <p:cNvSpPr/>
          <p:nvPr/>
        </p:nvSpPr>
        <p:spPr>
          <a:xfrm>
            <a:off x="1020604" y="4828580"/>
            <a:ext cx="4593431" cy="70866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כתיבת המלצות לשיפור ההתנהלות הכלכלית של המשפחה ו/או האפליקציה</a:t>
            </a:r>
            <a:endParaRPr b="0" i="0" sz="2200" u="none" cap="none" strike="noStrike"/>
          </a:p>
        </p:txBody>
      </p:sp>
      <p:sp>
        <p:nvSpPr>
          <p:cNvPr id="153" name="Google Shape;153;p18"/>
          <p:cNvSpPr/>
          <p:nvPr/>
        </p:nvSpPr>
        <p:spPr>
          <a:xfrm>
            <a:off x="13326308" y="5792391"/>
            <a:ext cx="510302" cy="510302"/>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10264259" y="5870258"/>
            <a:ext cx="283523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שאלות לדוגמה לניתוח:</a:t>
            </a:r>
            <a:endParaRPr b="0" i="0" sz="2200" u="none" cap="none" strike="noStrike"/>
          </a:p>
        </p:txBody>
      </p:sp>
      <p:sp>
        <p:nvSpPr>
          <p:cNvPr id="155" name="Google Shape;155;p18"/>
          <p:cNvSpPr/>
          <p:nvPr/>
        </p:nvSpPr>
        <p:spPr>
          <a:xfrm>
            <a:off x="793790" y="6360676"/>
            <a:ext cx="12305705"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אילו קטגוריות ההוצאה הכי שכיחות? האם יש שינוי בהוצאות החודשיות בשנה האחרונה? האם יש הבדלים בכמות ההוצאות בין חברי המשפחה?</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preencoded.png" id="161" name="Google Shape;161;p19"/>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62" name="Google Shape;162;p19"/>
          <p:cNvSpPr/>
          <p:nvPr/>
        </p:nvSpPr>
        <p:spPr>
          <a:xfrm>
            <a:off x="8166021" y="1174194"/>
            <a:ext cx="5670590" cy="708779"/>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תוצר להגשה</a:t>
            </a:r>
            <a:endParaRPr b="0" i="0" sz="4450" u="none" cap="none" strike="noStrike"/>
          </a:p>
        </p:txBody>
      </p:sp>
      <p:sp>
        <p:nvSpPr>
          <p:cNvPr id="163" name="Google Shape;163;p19"/>
          <p:cNvSpPr/>
          <p:nvPr/>
        </p:nvSpPr>
        <p:spPr>
          <a:xfrm>
            <a:off x="6280190" y="2223135"/>
            <a:ext cx="7556421" cy="2615208"/>
          </a:xfrm>
          <a:prstGeom prst="roundRect">
            <a:avLst>
              <a:gd fmla="val 3643" name="adj"/>
            </a:avLst>
          </a:prstGeom>
          <a:solidFill>
            <a:srgbClr val="FFFFFF"/>
          </a:solidFill>
          <a:ln cap="flat" cmpd="sng" w="3047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p:nvPr/>
        </p:nvSpPr>
        <p:spPr>
          <a:xfrm>
            <a:off x="10346769" y="2480429"/>
            <a:ext cx="3232547"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מצגת קצרה (5 דקות הצגה)</a:t>
            </a:r>
            <a:endParaRPr b="0" i="0" sz="2200" u="none" cap="none" strike="noStrike"/>
          </a:p>
        </p:txBody>
      </p:sp>
      <p:sp>
        <p:nvSpPr>
          <p:cNvPr id="165" name="Google Shape;165;p19"/>
          <p:cNvSpPr/>
          <p:nvPr/>
        </p:nvSpPr>
        <p:spPr>
          <a:xfrm>
            <a:off x="6537484" y="2970848"/>
            <a:ext cx="7041832" cy="362903"/>
          </a:xfrm>
          <a:prstGeom prst="rect">
            <a:avLst/>
          </a:prstGeom>
          <a:noFill/>
          <a:ln>
            <a:noFill/>
          </a:ln>
        </p:spPr>
        <p:txBody>
          <a:bodyPr anchorCtr="0" anchor="t" bIns="0" lIns="0" spcFirstLastPara="1" rIns="0" wrap="square" tIns="0">
            <a:noAutofit/>
          </a:bodyPr>
          <a:lstStyle/>
          <a:p>
            <a:pPr indent="-342900" lvl="0" marL="342900" marR="0" rtl="1" algn="r">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המוטיבציה לפרויקט: איזו בעיה בחרת לפתור ולמה</a:t>
            </a:r>
            <a:endParaRPr b="0" i="0" sz="1750" u="none" cap="none" strike="noStrike"/>
          </a:p>
        </p:txBody>
      </p:sp>
      <p:sp>
        <p:nvSpPr>
          <p:cNvPr id="166" name="Google Shape;166;p19"/>
          <p:cNvSpPr/>
          <p:nvPr/>
        </p:nvSpPr>
        <p:spPr>
          <a:xfrm>
            <a:off x="6537484" y="3413046"/>
            <a:ext cx="7041832" cy="362903"/>
          </a:xfrm>
          <a:prstGeom prst="rect">
            <a:avLst/>
          </a:prstGeom>
          <a:noFill/>
          <a:ln>
            <a:noFill/>
          </a:ln>
        </p:spPr>
        <p:txBody>
          <a:bodyPr anchorCtr="0" anchor="t" bIns="0" lIns="0" spcFirstLastPara="1" rIns="0" wrap="square" tIns="0">
            <a:noAutofit/>
          </a:bodyPr>
          <a:lstStyle/>
          <a:p>
            <a:pPr indent="-342900" lvl="0" marL="342900" marR="0" rtl="1" algn="r">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הפתרון: הצגת האפליקציה או הגרפים והתובנות מהאנליזה</a:t>
            </a:r>
            <a:endParaRPr b="0" i="0" sz="1750" u="none" cap="none" strike="noStrike"/>
          </a:p>
        </p:txBody>
      </p:sp>
      <p:sp>
        <p:nvSpPr>
          <p:cNvPr id="167" name="Google Shape;167;p19"/>
          <p:cNvSpPr/>
          <p:nvPr/>
        </p:nvSpPr>
        <p:spPr>
          <a:xfrm>
            <a:off x="6537484" y="3855244"/>
            <a:ext cx="7041832" cy="725805"/>
          </a:xfrm>
          <a:prstGeom prst="rect">
            <a:avLst/>
          </a:prstGeom>
          <a:noFill/>
          <a:ln>
            <a:noFill/>
          </a:ln>
        </p:spPr>
        <p:txBody>
          <a:bodyPr anchorCtr="0" anchor="t" bIns="0" lIns="0" spcFirstLastPara="1" rIns="0" wrap="square" tIns="0">
            <a:noAutofit/>
          </a:bodyPr>
          <a:lstStyle/>
          <a:p>
            <a:pPr indent="-342900" lvl="0" marL="342900" marR="0" rtl="1" algn="r">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שימוש בכלי AI: סיכום האופן בו השתמשת בכלים, פרומפטים לדוגמה, ותובנות אישיות</a:t>
            </a:r>
            <a:endParaRPr b="0" i="0" sz="1750" u="none" cap="none" strike="noStrike"/>
          </a:p>
        </p:txBody>
      </p:sp>
      <p:sp>
        <p:nvSpPr>
          <p:cNvPr id="168" name="Google Shape;168;p19"/>
          <p:cNvSpPr/>
          <p:nvPr/>
        </p:nvSpPr>
        <p:spPr>
          <a:xfrm>
            <a:off x="6280190" y="5093494"/>
            <a:ext cx="7556421" cy="362903"/>
          </a:xfrm>
          <a:prstGeom prst="rect">
            <a:avLst/>
          </a:prstGeom>
          <a:noFill/>
          <a:ln>
            <a:noFill/>
          </a:ln>
        </p:spPr>
        <p:txBody>
          <a:bodyPr anchorCtr="0" anchor="t" bIns="0" lIns="0" spcFirstLastPara="1" rIns="0" wrap="square" tIns="0">
            <a:noAutofit/>
          </a:bodyPr>
          <a:lstStyle/>
          <a:p>
            <a:pPr indent="0" lvl="0" marL="0" marR="0" rtl="1" algn="ctr">
              <a:lnSpc>
                <a:spcPct val="162857"/>
              </a:lnSpc>
              <a:spcBef>
                <a:spcPts val="0"/>
              </a:spcBef>
              <a:spcAft>
                <a:spcPts val="0"/>
              </a:spcAft>
              <a:buClr>
                <a:srgbClr val="D75BE2"/>
              </a:buClr>
              <a:buSzPts val="1750"/>
              <a:buFont typeface="Open Sans"/>
              <a:buNone/>
            </a:pPr>
            <a:r>
              <a:rPr b="0" i="0" lang="en-US" sz="1750" u="none" cap="none" strike="noStrike">
                <a:solidFill>
                  <a:srgbClr val="D75BE2"/>
                </a:solidFill>
                <a:latin typeface="Open Sans"/>
                <a:ea typeface="Open Sans"/>
                <a:cs typeface="Open Sans"/>
                <a:sym typeface="Open Sans"/>
              </a:rPr>
              <a:t>המלצה:</a:t>
            </a:r>
            <a:r>
              <a:rPr b="0" i="0" lang="en-US" sz="1750" u="none" cap="none" strike="noStrike">
                <a:solidFill>
                  <a:srgbClr val="272525"/>
                </a:solidFill>
                <a:latin typeface="Open Sans"/>
                <a:ea typeface="Open Sans"/>
                <a:cs typeface="Open Sans"/>
                <a:sym typeface="Open Sans"/>
              </a:rPr>
              <a:t> להכין את המצגת באמצעות Gamma (לא חובה)</a:t>
            </a:r>
            <a:endParaRPr b="0" i="0" sz="1750" u="none" cap="none" strike="noStrike"/>
          </a:p>
        </p:txBody>
      </p:sp>
      <p:sp>
        <p:nvSpPr>
          <p:cNvPr id="169" name="Google Shape;169;p19"/>
          <p:cNvSpPr/>
          <p:nvPr/>
        </p:nvSpPr>
        <p:spPr>
          <a:xfrm>
            <a:off x="6280190" y="5711547"/>
            <a:ext cx="75564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SzPts val="1750"/>
              <a:buFont typeface="Arial"/>
              <a:buNone/>
            </a:pPr>
            <a:r>
              <a:t/>
            </a:r>
            <a:endParaRPr b="0" i="0" sz="1750" u="none" cap="none" strike="noStrike"/>
          </a:p>
        </p:txBody>
      </p:sp>
      <p:sp>
        <p:nvSpPr>
          <p:cNvPr id="170" name="Google Shape;170;p19"/>
          <p:cNvSpPr/>
          <p:nvPr/>
        </p:nvSpPr>
        <p:spPr>
          <a:xfrm>
            <a:off x="6280190" y="6329601"/>
            <a:ext cx="7556421" cy="725805"/>
          </a:xfrm>
          <a:prstGeom prst="rect">
            <a:avLst/>
          </a:prstGeom>
          <a:noFill/>
          <a:ln>
            <a:noFill/>
          </a:ln>
        </p:spPr>
        <p:txBody>
          <a:bodyPr anchorCtr="0" anchor="t" bIns="0" lIns="0" spcFirstLastPara="1" rIns="0" wrap="square" tIns="0">
            <a:noAutofit/>
          </a:bodyPr>
          <a:lstStyle/>
          <a:p>
            <a:pPr indent="0" lvl="0" marL="0" marR="0" rtl="1" algn="r">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משך העבודה המומלץ:</a:t>
            </a:r>
            <a:r>
              <a:rPr b="0" i="0" lang="en-US" sz="1750" u="none" cap="none" strike="noStrike">
                <a:solidFill>
                  <a:srgbClr val="272525"/>
                </a:solidFill>
                <a:latin typeface="Open Sans"/>
                <a:ea typeface="Open Sans"/>
                <a:cs typeface="Open Sans"/>
                <a:sym typeface="Open Sans"/>
              </a:rPr>
              <a:t> כ-4 שעות (כמובן שניתן להשקיע יותר, כתלות במוטיבציה ובפרויקט שנבחר)</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p:nvPr/>
        </p:nvSpPr>
        <p:spPr>
          <a:xfrm>
            <a:off x="8166021" y="1235631"/>
            <a:ext cx="5670590" cy="708779"/>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קריטריונים להערכה</a:t>
            </a:r>
            <a:endParaRPr b="0" i="0" sz="4450" u="none" cap="none" strike="noStrike"/>
          </a:p>
        </p:txBody>
      </p:sp>
      <p:sp>
        <p:nvSpPr>
          <p:cNvPr id="177" name="Google Shape;177;p20"/>
          <p:cNvSpPr/>
          <p:nvPr/>
        </p:nvSpPr>
        <p:spPr>
          <a:xfrm>
            <a:off x="9251752" y="3872389"/>
            <a:ext cx="2789873" cy="566976"/>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4450"/>
              <a:buFont typeface="Rubik"/>
              <a:buNone/>
            </a:pPr>
            <a:r>
              <a:rPr b="0" i="0" lang="en-US" sz="4450" u="none" cap="none" strike="noStrike">
                <a:solidFill>
                  <a:srgbClr val="272525"/>
                </a:solidFill>
                <a:latin typeface="Rubik"/>
                <a:ea typeface="Rubik"/>
                <a:cs typeface="Rubik"/>
                <a:sym typeface="Rubik"/>
              </a:rPr>
              <a:t>70%</a:t>
            </a:r>
            <a:endParaRPr b="0" i="0" sz="4450" u="none" cap="none" strike="noStrike"/>
          </a:p>
        </p:txBody>
      </p:sp>
      <p:pic>
        <p:nvPicPr>
          <p:cNvPr descr="preencoded.png" id="178" name="Google Shape;178;p20"/>
          <p:cNvPicPr preferRelativeResize="0"/>
          <p:nvPr/>
        </p:nvPicPr>
        <p:blipFill rotWithShape="1">
          <a:blip r:embed="rId3">
            <a:alphaModFix/>
          </a:blip>
          <a:srcRect b="0" l="0" r="0" t="0"/>
          <a:stretch/>
        </p:blipFill>
        <p:spPr>
          <a:xfrm>
            <a:off x="8945642" y="2454712"/>
            <a:ext cx="3402330" cy="3402330"/>
          </a:xfrm>
          <a:prstGeom prst="rect">
            <a:avLst/>
          </a:prstGeom>
          <a:noFill/>
          <a:ln>
            <a:noFill/>
          </a:ln>
        </p:spPr>
      </p:pic>
      <p:sp>
        <p:nvSpPr>
          <p:cNvPr id="179" name="Google Shape;179;p20"/>
          <p:cNvSpPr/>
          <p:nvPr/>
        </p:nvSpPr>
        <p:spPr>
          <a:xfrm>
            <a:off x="9229249" y="6140529"/>
            <a:ext cx="2835235" cy="35433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יישום כלי AI</a:t>
            </a:r>
            <a:endParaRPr b="0" i="0" sz="2200" u="none" cap="none" strike="noStrike"/>
          </a:p>
        </p:txBody>
      </p:sp>
      <p:sp>
        <p:nvSpPr>
          <p:cNvPr id="180" name="Google Shape;180;p20"/>
          <p:cNvSpPr/>
          <p:nvPr/>
        </p:nvSpPr>
        <p:spPr>
          <a:xfrm>
            <a:off x="7457003" y="6630948"/>
            <a:ext cx="6379607" cy="362903"/>
          </a:xfrm>
          <a:prstGeom prst="rect">
            <a:avLst/>
          </a:prstGeom>
          <a:noFill/>
          <a:ln>
            <a:noFill/>
          </a:ln>
        </p:spPr>
        <p:txBody>
          <a:bodyPr anchorCtr="0" anchor="t" bIns="0" lIns="0" spcFirstLastPara="1" rIns="0" wrap="square" tIns="0">
            <a:noAutofit/>
          </a:bodyPr>
          <a:lstStyle/>
          <a:p>
            <a:pPr indent="0" lvl="0" marL="0" marR="0" rtl="1" algn="ct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שימוש בכלים שנלמדו בקורס ויצירתיות בשילוב הכלים לפתרון הבעיה</a:t>
            </a:r>
            <a:endParaRPr b="0" i="0" sz="1750" u="none" cap="none" strike="noStrike"/>
          </a:p>
        </p:txBody>
      </p:sp>
      <p:sp>
        <p:nvSpPr>
          <p:cNvPr id="181" name="Google Shape;181;p20"/>
          <p:cNvSpPr/>
          <p:nvPr/>
        </p:nvSpPr>
        <p:spPr>
          <a:xfrm>
            <a:off x="2588657" y="3872389"/>
            <a:ext cx="2789873" cy="566976"/>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4450"/>
              <a:buFont typeface="Rubik"/>
              <a:buNone/>
            </a:pPr>
            <a:r>
              <a:rPr b="0" i="0" lang="en-US" sz="4450" u="none" cap="none" strike="noStrike">
                <a:solidFill>
                  <a:srgbClr val="272525"/>
                </a:solidFill>
                <a:latin typeface="Rubik"/>
                <a:ea typeface="Rubik"/>
                <a:cs typeface="Rubik"/>
                <a:sym typeface="Rubik"/>
              </a:rPr>
              <a:t>30%</a:t>
            </a:r>
            <a:endParaRPr b="0" i="0" sz="4450" u="none" cap="none" strike="noStrike"/>
          </a:p>
        </p:txBody>
      </p:sp>
      <p:pic>
        <p:nvPicPr>
          <p:cNvPr descr="preencoded.png" id="182" name="Google Shape;182;p20"/>
          <p:cNvPicPr preferRelativeResize="0"/>
          <p:nvPr/>
        </p:nvPicPr>
        <p:blipFill rotWithShape="1">
          <a:blip r:embed="rId4">
            <a:alphaModFix/>
          </a:blip>
          <a:srcRect b="0" l="0" r="0" t="0"/>
          <a:stretch/>
        </p:blipFill>
        <p:spPr>
          <a:xfrm>
            <a:off x="2282547" y="2454712"/>
            <a:ext cx="3402330" cy="3402330"/>
          </a:xfrm>
          <a:prstGeom prst="rect">
            <a:avLst/>
          </a:prstGeom>
          <a:noFill/>
          <a:ln>
            <a:noFill/>
          </a:ln>
        </p:spPr>
      </p:pic>
      <p:sp>
        <p:nvSpPr>
          <p:cNvPr id="183" name="Google Shape;183;p20"/>
          <p:cNvSpPr/>
          <p:nvPr/>
        </p:nvSpPr>
        <p:spPr>
          <a:xfrm>
            <a:off x="2566035" y="6140529"/>
            <a:ext cx="2835235" cy="354330"/>
          </a:xfrm>
          <a:prstGeom prst="rect">
            <a:avLst/>
          </a:prstGeom>
          <a:noFill/>
          <a:ln>
            <a:noFill/>
          </a:ln>
        </p:spPr>
        <p:txBody>
          <a:bodyPr anchorCtr="0" anchor="t" bIns="0" lIns="0" spcFirstLastPara="1" rIns="0" wrap="square" tIns="0">
            <a:noAutofit/>
          </a:bodyPr>
          <a:lstStyle/>
          <a:p>
            <a:pPr indent="0" lvl="0" marL="0" marR="0" rtl="1" algn="ct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איכות התוצר</a:t>
            </a:r>
            <a:endParaRPr b="0" i="0" sz="2200" u="none" cap="none" strike="noStrike"/>
          </a:p>
        </p:txBody>
      </p:sp>
      <p:sp>
        <p:nvSpPr>
          <p:cNvPr id="184" name="Google Shape;184;p20"/>
          <p:cNvSpPr/>
          <p:nvPr/>
        </p:nvSpPr>
        <p:spPr>
          <a:xfrm>
            <a:off x="793790" y="6630948"/>
            <a:ext cx="6379726" cy="362903"/>
          </a:xfrm>
          <a:prstGeom prst="rect">
            <a:avLst/>
          </a:prstGeom>
          <a:noFill/>
          <a:ln>
            <a:noFill/>
          </a:ln>
        </p:spPr>
        <p:txBody>
          <a:bodyPr anchorCtr="0" anchor="t" bIns="0" lIns="0" spcFirstLastPara="1" rIns="0" wrap="square" tIns="0">
            <a:noAutofit/>
          </a:bodyPr>
          <a:lstStyle/>
          <a:p>
            <a:pPr indent="0" lvl="0" marL="0" marR="0" rtl="1" algn="ctr">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מקצועיות ונראות של האפליקציה/המצגת/האנליזה</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p:nvPr/>
        </p:nvSpPr>
        <p:spPr>
          <a:xfrm>
            <a:off x="8166021" y="623768"/>
            <a:ext cx="5670590" cy="708779"/>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טיפים</a:t>
            </a:r>
            <a:endParaRPr b="0" i="0" sz="4450" u="none" cap="none" strike="noStrike"/>
          </a:p>
        </p:txBody>
      </p:sp>
      <p:sp>
        <p:nvSpPr>
          <p:cNvPr id="191" name="Google Shape;191;p21"/>
          <p:cNvSpPr/>
          <p:nvPr/>
        </p:nvSpPr>
        <p:spPr>
          <a:xfrm>
            <a:off x="793790" y="1786176"/>
            <a:ext cx="13042821" cy="823198"/>
          </a:xfrm>
          <a:prstGeom prst="roundRect">
            <a:avLst>
              <a:gd fmla="val 11573"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1"/>
          <p:cNvSpPr/>
          <p:nvPr/>
        </p:nvSpPr>
        <p:spPr>
          <a:xfrm>
            <a:off x="5567482" y="2020610"/>
            <a:ext cx="8034695"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בחרו נושא שקרוב אליכם – פרויקט אישי רלוונטי ישאיר אתכם מחוברים</a:t>
            </a:r>
            <a:endParaRPr b="0" i="0" sz="2200" u="none" cap="none" strike="noStrike"/>
          </a:p>
        </p:txBody>
      </p:sp>
      <p:sp>
        <p:nvSpPr>
          <p:cNvPr id="193" name="Google Shape;193;p21"/>
          <p:cNvSpPr/>
          <p:nvPr/>
        </p:nvSpPr>
        <p:spPr>
          <a:xfrm>
            <a:off x="793790" y="2836188"/>
            <a:ext cx="13042821" cy="823198"/>
          </a:xfrm>
          <a:prstGeom prst="roundRect">
            <a:avLst>
              <a:gd fmla="val 11573"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1"/>
          <p:cNvSpPr/>
          <p:nvPr/>
        </p:nvSpPr>
        <p:spPr>
          <a:xfrm>
            <a:off x="6958489" y="3070622"/>
            <a:ext cx="6643688"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התמקדו באיכות ולא בכמות – עדיף תוצר קטן שעובד היטב</a:t>
            </a:r>
            <a:endParaRPr b="0" i="0" sz="2200" u="none" cap="none" strike="noStrike"/>
          </a:p>
        </p:txBody>
      </p:sp>
      <p:sp>
        <p:nvSpPr>
          <p:cNvPr id="195" name="Google Shape;195;p21"/>
          <p:cNvSpPr/>
          <p:nvPr/>
        </p:nvSpPr>
        <p:spPr>
          <a:xfrm>
            <a:off x="793790" y="3886200"/>
            <a:ext cx="13042821" cy="823198"/>
          </a:xfrm>
          <a:prstGeom prst="roundRect">
            <a:avLst>
              <a:gd fmla="val 11573"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1"/>
          <p:cNvSpPr/>
          <p:nvPr/>
        </p:nvSpPr>
        <p:spPr>
          <a:xfrm>
            <a:off x="8140422" y="4120634"/>
            <a:ext cx="5461754"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השקיעו זמן בניסוח פרומפטים איכותיים ומקיפים</a:t>
            </a:r>
            <a:endParaRPr b="0" i="0" sz="2200" u="none" cap="none" strike="noStrike"/>
          </a:p>
        </p:txBody>
      </p:sp>
      <p:sp>
        <p:nvSpPr>
          <p:cNvPr id="197" name="Google Shape;197;p21"/>
          <p:cNvSpPr/>
          <p:nvPr/>
        </p:nvSpPr>
        <p:spPr>
          <a:xfrm>
            <a:off x="793790" y="4936212"/>
            <a:ext cx="13042821" cy="823198"/>
          </a:xfrm>
          <a:prstGeom prst="roundRect">
            <a:avLst>
              <a:gd fmla="val 11573"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
          <p:cNvSpPr/>
          <p:nvPr/>
        </p:nvSpPr>
        <p:spPr>
          <a:xfrm>
            <a:off x="6148626" y="5170646"/>
            <a:ext cx="7453551" cy="354330"/>
          </a:xfrm>
          <a:prstGeom prst="rect">
            <a:avLst/>
          </a:prstGeom>
          <a:noFill/>
          <a:ln>
            <a:noFill/>
          </a:ln>
        </p:spPr>
        <p:txBody>
          <a:bodyPr anchorCtr="0" anchor="t" bIns="0" lIns="0" spcFirstLastPara="1" rIns="0" wrap="square" tIns="0">
            <a:noAutofit/>
          </a:bodyPr>
          <a:lstStyle/>
          <a:p>
            <a:pPr indent="0" lvl="0" marL="0" marR="0" rtl="1" algn="r">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היעזרו ב-AI לאורך כל התהליך – מהחשיבה על הרעיון ועד לביצוע</a:t>
            </a:r>
            <a:endParaRPr b="0" i="0" sz="22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p:nvPr/>
        </p:nvSpPr>
        <p:spPr>
          <a:xfrm>
            <a:off x="3402449" y="3625691"/>
            <a:ext cx="7825502" cy="978218"/>
          </a:xfrm>
          <a:prstGeom prst="rect">
            <a:avLst/>
          </a:prstGeom>
          <a:noFill/>
          <a:ln>
            <a:noFill/>
          </a:ln>
        </p:spPr>
        <p:txBody>
          <a:bodyPr anchorCtr="0" anchor="t" bIns="0" lIns="0" spcFirstLastPara="1" rIns="0" wrap="square" tIns="0">
            <a:noAutofit/>
          </a:bodyPr>
          <a:lstStyle/>
          <a:p>
            <a:pPr indent="0" lvl="0" marL="0" marR="0" rtl="1" algn="ctr">
              <a:lnSpc>
                <a:spcPct val="125203"/>
              </a:lnSpc>
              <a:spcBef>
                <a:spcPts val="0"/>
              </a:spcBef>
              <a:spcAft>
                <a:spcPts val="0"/>
              </a:spcAft>
              <a:buClr>
                <a:srgbClr val="D75BE2"/>
              </a:buClr>
              <a:buSzPts val="6150"/>
              <a:buFont typeface="Rubik"/>
              <a:buNone/>
            </a:pPr>
            <a:r>
              <a:rPr b="0" i="0" lang="en-US" sz="6150" u="none" cap="none" strike="noStrike">
                <a:solidFill>
                  <a:srgbClr val="D75BE2"/>
                </a:solidFill>
                <a:latin typeface="Rubik"/>
                <a:ea typeface="Rubik"/>
                <a:cs typeface="Rubik"/>
                <a:sym typeface="Rubik"/>
              </a:rPr>
              <a:t>שאלות?</a:t>
            </a:r>
            <a:endParaRPr b="0" i="0" sz="61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