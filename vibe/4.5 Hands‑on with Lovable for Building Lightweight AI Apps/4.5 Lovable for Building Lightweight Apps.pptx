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Rubik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4E3A37-EC57-40BF-99E6-C43DEF61603D}">
  <a:tblStyle styleId="{8B4E3A37-EC57-40BF-99E6-C43DEF6160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ubik-regular.fntdata"/><Relationship Id="rId21" Type="http://schemas.openxmlformats.org/officeDocument/2006/relationships/slide" Target="slides/slide16.xml"/><Relationship Id="rId24" Type="http://schemas.openxmlformats.org/officeDocument/2006/relationships/font" Target="fonts/Rubik-italic.fntdata"/><Relationship Id="rId23" Type="http://schemas.openxmlformats.org/officeDocument/2006/relationships/font" Target="fonts/Rubik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Rubik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4b98bb220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44b98bb220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44b98bb220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4b98bb22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44b98bb22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44b98bb22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4b98bb220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4b98bb22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44b98bb220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4b98bb220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4b98bb220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44b98bb220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4b98bb220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44b98bb220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44b98bb220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4b98bb220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44b98bb220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4b98bb220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4b98bb220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4b98bb220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44b98bb220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ovable.dev/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ovable.dev/how-to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ovable.dev/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lovable.dev/introduction/welcome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hyperlink" Target="https://docs.lovable.dev/integrations/supabase" TargetMode="External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0"/>
            <a:ext cx="73152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/>
          <p:nvPr/>
        </p:nvSpPr>
        <p:spPr>
          <a:xfrm>
            <a:off x="793790" y="2228493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for Building Lightweight Apps</a:t>
            </a:r>
            <a:endParaRPr b="0" i="0" sz="4450" u="none" cap="none" strike="noStrike"/>
          </a:p>
        </p:txBody>
      </p:sp>
      <p:pic>
        <p:nvPicPr>
          <p:cNvPr descr="preencoded.png" id="54" name="Google Shape;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0868" y="3986213"/>
            <a:ext cx="2953464" cy="13061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5"/>
          <p:cNvSpPr/>
          <p:nvPr/>
        </p:nvSpPr>
        <p:spPr>
          <a:xfrm>
            <a:off x="793790" y="5547479"/>
            <a:ext cx="57276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Hands‑on workshop with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Lovable.dev</a:t>
            </a:r>
            <a:endParaRPr b="0" i="0" sz="2200" u="none" cap="none" strike="noStrike"/>
          </a:p>
        </p:txBody>
      </p:sp>
      <p:pic>
        <p:nvPicPr>
          <p:cNvPr id="56" name="Google Shape;5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5350" y="2453021"/>
            <a:ext cx="6534900" cy="332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Agenda</a:t>
            </a:r>
            <a:endParaRPr b="0" i="0" sz="4450" u="none" cap="none" strike="noStrike"/>
          </a:p>
        </p:txBody>
      </p:sp>
      <p:sp>
        <p:nvSpPr>
          <p:cNvPr id="63" name="Google Shape;63;p16"/>
          <p:cNvSpPr/>
          <p:nvPr/>
        </p:nvSpPr>
        <p:spPr>
          <a:xfrm>
            <a:off x="793790" y="1732836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This session will teach you how to work with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Lovable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responsibly, confidently, and creatively.</a:t>
            </a:r>
            <a:endParaRPr b="0" i="0" sz="2200" u="none" cap="none" strike="noStrike"/>
          </a:p>
        </p:txBody>
      </p:sp>
      <p:sp>
        <p:nvSpPr>
          <p:cNvPr id="64" name="Google Shape;64;p16"/>
          <p:cNvSpPr/>
          <p:nvPr/>
        </p:nvSpPr>
        <p:spPr>
          <a:xfrm>
            <a:off x="793790" y="2441496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and Company</a:t>
            </a:r>
            <a:endParaRPr b="0" i="0" sz="1750" u="none" cap="none" strike="noStrike"/>
          </a:p>
        </p:txBody>
      </p:sp>
      <p:sp>
        <p:nvSpPr>
          <p:cNvPr id="65" name="Google Shape;65;p16"/>
          <p:cNvSpPr/>
          <p:nvPr/>
        </p:nvSpPr>
        <p:spPr>
          <a:xfrm>
            <a:off x="793790" y="2974300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Core Features </a:t>
            </a:r>
            <a:endParaRPr b="0" i="0" sz="1750" u="none" cap="none" strike="noStrike"/>
          </a:p>
        </p:txBody>
      </p:sp>
      <p:sp>
        <p:nvSpPr>
          <p:cNvPr id="66" name="Google Shape;66;p16"/>
          <p:cNvSpPr/>
          <p:nvPr/>
        </p:nvSpPr>
        <p:spPr>
          <a:xfrm>
            <a:off x="793790" y="3507105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vs Competitors (i.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e. Lovable, Bolt)</a:t>
            </a:r>
            <a:endParaRPr b="0" i="0" sz="1750" u="none" cap="none" strike="noStrike"/>
          </a:p>
        </p:txBody>
      </p:sp>
      <p:sp>
        <p:nvSpPr>
          <p:cNvPr id="67" name="Google Shape;67;p16"/>
          <p:cNvSpPr/>
          <p:nvPr/>
        </p:nvSpPr>
        <p:spPr>
          <a:xfrm>
            <a:off x="793790" y="4039910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4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Pricing Overview and Usage Limitations</a:t>
            </a:r>
            <a:endParaRPr b="0" i="0" sz="1750" u="none" cap="none" strike="noStrike"/>
          </a:p>
        </p:txBody>
      </p:sp>
      <p:sp>
        <p:nvSpPr>
          <p:cNvPr id="68" name="Google Shape;68;p16"/>
          <p:cNvSpPr/>
          <p:nvPr/>
        </p:nvSpPr>
        <p:spPr>
          <a:xfrm>
            <a:off x="793790" y="4572714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5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Recommendations - For which use-cases to use 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when prefered not to</a:t>
            </a:r>
            <a:endParaRPr b="0" i="0" sz="1750" u="none" cap="none" strike="noStrike"/>
          </a:p>
        </p:txBody>
      </p:sp>
      <p:sp>
        <p:nvSpPr>
          <p:cNvPr id="69" name="Google Shape;69;p16"/>
          <p:cNvSpPr/>
          <p:nvPr/>
        </p:nvSpPr>
        <p:spPr>
          <a:xfrm>
            <a:off x="793790" y="657617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783669" y="746760"/>
            <a:ext cx="13063061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Lovable 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is an AI-powered platform </a:t>
            </a: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for developing fullstuck web applications without 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any coding experience.</a:t>
            </a:r>
            <a:endParaRPr sz="210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783669" y="7378422"/>
            <a:ext cx="13063061" cy="232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id="77" name="Google Shape;77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6737" y="1973823"/>
            <a:ext cx="11556924" cy="587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793790" y="878443"/>
            <a:ext cx="674822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Core Features of </a:t>
            </a: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</a:t>
            </a:r>
            <a:endParaRPr b="0" i="0" sz="4450" u="none" cap="none" strike="noStrike"/>
          </a:p>
        </p:txBody>
      </p:sp>
      <p:pic>
        <p:nvPicPr>
          <p:cNvPr descr="preencoded.png" id="84" name="Google Shape;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793790" y="2891314"/>
            <a:ext cx="32273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Natural Language Input</a:t>
            </a:r>
            <a:endParaRPr b="0" i="0" sz="2200" u="none" cap="none" strike="noStrike"/>
          </a:p>
        </p:txBody>
      </p:sp>
      <p:sp>
        <p:nvSpPr>
          <p:cNvPr id="86" name="Google Shape;86;p18"/>
          <p:cNvSpPr/>
          <p:nvPr/>
        </p:nvSpPr>
        <p:spPr>
          <a:xfrm>
            <a:off x="793790" y="3381732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Describe your app idea conversationally, just as you would explain it to a colleague.</a:t>
            </a:r>
            <a:endParaRPr b="0" i="0" sz="1750" u="none" cap="none" strike="noStrike"/>
          </a:p>
        </p:txBody>
      </p:sp>
      <p:sp>
        <p:nvSpPr>
          <p:cNvPr id="87" name="Google Shape;87;p18"/>
          <p:cNvSpPr/>
          <p:nvPr/>
        </p:nvSpPr>
        <p:spPr>
          <a:xfrm>
            <a:off x="793790" y="6365915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88" name="Google Shape;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5235893" y="2891314"/>
            <a:ext cx="29923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Full-Stack Generation</a:t>
            </a:r>
            <a:endParaRPr b="0" i="0" sz="2200" u="none" cap="none" strike="noStrike"/>
          </a:p>
        </p:txBody>
      </p:sp>
      <p:sp>
        <p:nvSpPr>
          <p:cNvPr id="90" name="Google Shape;90;p18"/>
          <p:cNvSpPr/>
          <p:nvPr/>
        </p:nvSpPr>
        <p:spPr>
          <a:xfrm>
            <a:off x="5235900" y="3381722"/>
            <a:ext cx="41586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Automatically creates UI components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and workflows without requiring you to write a single line of code.</a:t>
            </a:r>
            <a:endParaRPr b="0" i="0" sz="1750" u="none" cap="none" strike="noStrike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Provides relatively easy-to-use guides for 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 implementations (i.e. database connection, authentication, payment, etc.) </a:t>
            </a:r>
            <a:endParaRPr sz="17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5235893" y="6988254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92" name="Google Shape;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82795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9982795" y="289131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Instant Deployment</a:t>
            </a:r>
            <a:endParaRPr b="0" i="0" sz="2200" u="none" cap="none" strike="noStrike"/>
          </a:p>
        </p:txBody>
      </p:sp>
      <p:sp>
        <p:nvSpPr>
          <p:cNvPr id="94" name="Google Shape;94;p18"/>
          <p:cNvSpPr/>
          <p:nvPr/>
        </p:nvSpPr>
        <p:spPr>
          <a:xfrm>
            <a:off x="9982795" y="3381732"/>
            <a:ext cx="4158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Apps are hosted and deployed immediately</a:t>
            </a:r>
            <a:endParaRPr b="0" i="0" sz="1750" u="none" cap="none" strike="noStrike"/>
          </a:p>
        </p:txBody>
      </p:sp>
      <p:sp>
        <p:nvSpPr>
          <p:cNvPr id="95" name="Google Shape;95;p18"/>
          <p:cNvSpPr/>
          <p:nvPr/>
        </p:nvSpPr>
        <p:spPr>
          <a:xfrm>
            <a:off x="9677995" y="6045160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793806" y="878450"/>
            <a:ext cx="10539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Much Bigger Company then Base 44</a:t>
            </a:r>
            <a:endParaRPr b="0" i="0" sz="4450" u="none" cap="none" strike="noStrike"/>
          </a:p>
        </p:txBody>
      </p:sp>
      <p:sp>
        <p:nvSpPr>
          <p:cNvPr id="102" name="Google Shape;102;p19"/>
          <p:cNvSpPr/>
          <p:nvPr/>
        </p:nvSpPr>
        <p:spPr>
          <a:xfrm>
            <a:off x="793830" y="2891325"/>
            <a:ext cx="12813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lang="en-US" sz="35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Have lots of guides, community examples, etc.</a:t>
            </a:r>
            <a:endParaRPr b="0" i="0" sz="3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305284" y="427525"/>
            <a:ext cx="12813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What can you develop with it? Explore their detailed ‘How-To’ Guides</a:t>
            </a:r>
            <a:endParaRPr b="0" i="0" sz="4450" u="none" cap="none" strike="noStrike"/>
          </a:p>
        </p:txBody>
      </p:sp>
      <p:sp>
        <p:nvSpPr>
          <p:cNvPr id="109" name="Google Shape;109;p20"/>
          <p:cNvSpPr/>
          <p:nvPr/>
        </p:nvSpPr>
        <p:spPr>
          <a:xfrm>
            <a:off x="793790" y="6365915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10" name="Google Shape;110;p20"/>
          <p:cNvSpPr/>
          <p:nvPr/>
        </p:nvSpPr>
        <p:spPr>
          <a:xfrm>
            <a:off x="5235893" y="6988254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111" name="Google Shape;111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325" y="2286350"/>
            <a:ext cx="9888326" cy="56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375175" y="295975"/>
            <a:ext cx="14171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What can you develop with it? Explore community ideas..!</a:t>
            </a:r>
            <a:endParaRPr sz="4450">
              <a:solidFill>
                <a:srgbClr val="D75BE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793790" y="6365915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19" name="Google Shape;119;p21"/>
          <p:cNvSpPr/>
          <p:nvPr/>
        </p:nvSpPr>
        <p:spPr>
          <a:xfrm>
            <a:off x="5235893" y="6988254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120" name="Google Shape;120;p2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8627" y="1514275"/>
            <a:ext cx="10531427" cy="61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375175" y="295975"/>
            <a:ext cx="14171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Academy</a:t>
            </a:r>
            <a:endParaRPr sz="4450">
              <a:solidFill>
                <a:srgbClr val="D75BE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793790" y="6365915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28" name="Google Shape;128;p22"/>
          <p:cNvSpPr/>
          <p:nvPr/>
        </p:nvSpPr>
        <p:spPr>
          <a:xfrm>
            <a:off x="5235893" y="6988254"/>
            <a:ext cx="4158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129" name="Google Shape;129;p2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6127" y="1119700"/>
            <a:ext cx="10738151" cy="67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793798" y="721650"/>
            <a:ext cx="135837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Backend </a:t>
            </a: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setup</a:t>
            </a: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and management</a:t>
            </a:r>
            <a:endParaRPr b="0" i="0" sz="4450" u="none" cap="none" strike="noStrike"/>
          </a:p>
        </p:txBody>
      </p:sp>
      <p:sp>
        <p:nvSpPr>
          <p:cNvPr id="136" name="Google Shape;136;p23"/>
          <p:cNvSpPr/>
          <p:nvPr/>
        </p:nvSpPr>
        <p:spPr>
          <a:xfrm>
            <a:off x="607951" y="2095475"/>
            <a:ext cx="13414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Works with </a:t>
            </a:r>
            <a:r>
              <a:rPr b="1"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Supabase - 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 open-source backend platform that provides: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PostgreSQL database</a:t>
            </a:r>
            <a:b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Authentication &amp; user management</a:t>
            </a:r>
            <a:b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APIs for reading/writing data</a:t>
            </a:r>
            <a:b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Real-time updates &amp; storage features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** press on the </a:t>
            </a: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picture</a:t>
            </a: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to learn more about </a:t>
            </a:r>
            <a:endParaRPr sz="20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integration!</a:t>
            </a:r>
            <a:endParaRPr sz="20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4400" y="3034725"/>
            <a:ext cx="5088051" cy="12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2227" y="4452975"/>
            <a:ext cx="7174201" cy="35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793790" y="721638"/>
            <a:ext cx="6362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vs Competitors</a:t>
            </a:r>
            <a:endParaRPr b="0" i="0" sz="4450" u="none" cap="none" strike="noStrike"/>
          </a:p>
        </p:txBody>
      </p:sp>
      <p:sp>
        <p:nvSpPr>
          <p:cNvPr id="145" name="Google Shape;145;p24"/>
          <p:cNvSpPr/>
          <p:nvPr/>
        </p:nvSpPr>
        <p:spPr>
          <a:xfrm>
            <a:off x="607950" y="2095475"/>
            <a:ext cx="13414500" cy="56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When you build an app in Lovable, you often need: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database to store data (users, products, content)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login/signup system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 logic (e.g., fetch user-specific data)</a:t>
            </a:r>
            <a:b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Instead of building this from scratch,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Lovable connects your app to Supabase behind the scene.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need to create an </a:t>
            </a:r>
            <a:r>
              <a:rPr b="1"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account and open a project in Supabase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and then you go back to Lovable and connects it to your app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/>
        </p:nvSpPr>
        <p:spPr>
          <a:xfrm>
            <a:off x="362626" y="1812600"/>
            <a:ext cx="13414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Supabase 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is a powerful backend management, BUT not fully integrated into Lovable’s visual interface. This is </a:t>
            </a:r>
            <a:r>
              <a:rPr lang="en-US" sz="2350" u="sng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contrast to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Base44, which creates for you all of the backend logic inside the platform.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Lovable you must manage data structure, permissions, and auth separately via the Supabase 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dashboard, </a:t>
            </a:r>
            <a:r>
              <a:rPr lang="en-US" sz="23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which can create confusion for non-technical user.</a:t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793790" y="721638"/>
            <a:ext cx="6362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vs Competitors</a:t>
            </a:r>
            <a:endParaRPr b="0" i="0" sz="4450" u="none" cap="none" strike="noStrike"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075" y="5109800"/>
            <a:ext cx="10222899" cy="2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6"/>
          <p:cNvGraphicFramePr/>
          <p:nvPr/>
        </p:nvGraphicFramePr>
        <p:xfrm>
          <a:off x="324700" y="12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{8B4E3A37-EC57-40BF-99E6-C43DEF61603D}</a:tableStyleId>
              </a:tblPr>
              <a:tblGrid>
                <a:gridCol w="2065000"/>
                <a:gridCol w="5924150"/>
                <a:gridCol w="5991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latin typeface="Rubik"/>
                          <a:ea typeface="Rubik"/>
                          <a:cs typeface="Rubik"/>
                          <a:sym typeface="Rubik"/>
                        </a:rPr>
                        <a:t>Lovable</a:t>
                      </a:r>
                      <a:endParaRPr b="1" sz="27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latin typeface="Rubik"/>
                          <a:ea typeface="Rubik"/>
                          <a:cs typeface="Rubik"/>
                          <a:sym typeface="Rubik"/>
                        </a:rPr>
                        <a:t>Base44</a:t>
                      </a:r>
                      <a:endParaRPr b="1" sz="27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Ease of Use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⭐⭐ – Simple visually, but setup (e.g., Supabase) can feel clunky/confusing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⭐⭐⭐⭐ – Intuitive, streamlined flow with built-in DB, auth, and payments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Free plan credits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5 credits per day, 30 per month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 credits per day, 25 per month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AI </a:t>
                      </a: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integration</a:t>
                      </a: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 (inside the app you build)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Manually connect API (i.e. OpenAI API for ChatGPT services inside your app)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Have limited integration credits an only when exceeded needs to 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connect API</a:t>
                      </a:r>
                      <a:endParaRPr sz="1500">
                        <a:solidFill>
                          <a:schemeClr val="dk1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Learning Curve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🎢 Low at first, but quickly becomes confusing with external tools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📈 Smooth – Minimal backend setup, great for practical builders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Backend Management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❌ Relies on Supabase (external, technical)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✅ Fully integrated – DB, auth, payments, roles, all in one dashboard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Auth &amp; User Management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❌ Not built-in – Needs third-party workarounds (i.e. via Supabase connection to Google authentication)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✅ Built-in – Automatic user system, login/signup ready out of the box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Database Handling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❌ Not built-in – Needs third-party workarounds (i.e. via Supabase)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✅ Seamless – Auto-setup DB with easy data modeling and live editing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Payments Integration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❌ Not built-in – Needs third-party workarounds (i.e. via Supabase connection to Stripe)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💳 Native – Stripe and payments setup included and pre-wired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Rubik"/>
                          <a:ea typeface="Rubik"/>
                          <a:cs typeface="Rubik"/>
                          <a:sym typeface="Rubik"/>
                        </a:rPr>
                        <a:t>Code control</a:t>
                      </a:r>
                      <a:endParaRPr b="1" sz="16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No control from Lovable in the free plan, only Export to Git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Rubik"/>
                          <a:ea typeface="Rubik"/>
                          <a:cs typeface="Rubik"/>
                          <a:sym typeface="Rubik"/>
                        </a:rPr>
                        <a:t>No control in the free plan (can view), no Export to Git</a:t>
                      </a:r>
                      <a:endParaRPr sz="1500"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26"/>
          <p:cNvSpPr/>
          <p:nvPr/>
        </p:nvSpPr>
        <p:spPr>
          <a:xfrm>
            <a:off x="324690" y="308288"/>
            <a:ext cx="6362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vs Competitors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760690" y="598527"/>
            <a:ext cx="6998970" cy="60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800"/>
              <a:buFont typeface="Rubik"/>
              <a:buNone/>
            </a:pPr>
            <a:r>
              <a:rPr b="0" i="0" lang="en-US" sz="38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Pricing</a:t>
            </a:r>
            <a:endParaRPr b="0" i="0" sz="3800" u="none" cap="none" strike="noStrike"/>
          </a:p>
        </p:txBody>
      </p:sp>
      <p:sp>
        <p:nvSpPr>
          <p:cNvPr id="167" name="Google Shape;167;p27"/>
          <p:cNvSpPr/>
          <p:nvPr/>
        </p:nvSpPr>
        <p:spPr>
          <a:xfrm>
            <a:off x="760690" y="7404973"/>
            <a:ext cx="13109019" cy="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3">
            <a:alphaModFix/>
          </a:blip>
          <a:srcRect b="0" l="0" r="0" t="4589"/>
          <a:stretch/>
        </p:blipFill>
        <p:spPr>
          <a:xfrm>
            <a:off x="760700" y="1207763"/>
            <a:ext cx="9452551" cy="6223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/>
        </p:nvSpPr>
        <p:spPr>
          <a:xfrm>
            <a:off x="112750" y="7631075"/>
            <a:ext cx="13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Don’t have built-in AI credits - must integrate API for use generative AI within your developed app</a:t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34751" y="2219200"/>
            <a:ext cx="35242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10534750" y="5228175"/>
            <a:ext cx="389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 the free plan you get 5 daily credits, up to 30 per month. </a:t>
            </a:r>
            <a:endParaRPr sz="1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Each message costs 1 credit</a:t>
            </a:r>
            <a:endParaRPr sz="2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When Not to Use...</a:t>
            </a:r>
            <a:endParaRPr b="0" i="0" sz="4450" u="none" cap="none" strike="noStrike"/>
          </a:p>
        </p:txBody>
      </p:sp>
      <p:sp>
        <p:nvSpPr>
          <p:cNvPr id="178" name="Google Shape;178;p28"/>
          <p:cNvSpPr/>
          <p:nvPr/>
        </p:nvSpPr>
        <p:spPr>
          <a:xfrm>
            <a:off x="793790" y="1686938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Despite its benefits, consider alternatives in these scenarios:</a:t>
            </a:r>
            <a:endParaRPr b="0" i="0" sz="2150" u="none" cap="none" strike="noStrike"/>
          </a:p>
        </p:txBody>
      </p:sp>
      <p:sp>
        <p:nvSpPr>
          <p:cNvPr id="179" name="Google Shape;179;p28"/>
          <p:cNvSpPr/>
          <p:nvPr/>
        </p:nvSpPr>
        <p:spPr>
          <a:xfrm>
            <a:off x="793800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1028224" y="2638663"/>
            <a:ext cx="372749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Projects Requiring Full Control</a:t>
            </a:r>
            <a:endParaRPr b="0" i="0" sz="2200" u="none" cap="none" strike="noStrike"/>
          </a:p>
        </p:txBody>
      </p:sp>
      <p:sp>
        <p:nvSpPr>
          <p:cNvPr id="181" name="Google Shape;181;p28"/>
          <p:cNvSpPr/>
          <p:nvPr/>
        </p:nvSpPr>
        <p:spPr>
          <a:xfrm>
            <a:off x="1028224" y="3483412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Experienced developers needing complete code control prefer tools like Cursor.Applications requiring advanced performance optimizations need custom development.</a:t>
            </a:r>
            <a:endParaRPr b="0" i="0" sz="1750" u="none" cap="none" strike="noStrike"/>
          </a:p>
        </p:txBody>
      </p:sp>
      <p:sp>
        <p:nvSpPr>
          <p:cNvPr id="182" name="Google Shape;182;p28"/>
          <p:cNvSpPr/>
          <p:nvPr/>
        </p:nvSpPr>
        <p:spPr>
          <a:xfrm>
            <a:off x="5216950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5451400" y="2638675"/>
            <a:ext cx="39237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Massive Enterprise Applications</a:t>
            </a:r>
            <a:endParaRPr b="0" i="0" sz="2200" u="none" cap="none" strike="noStrike"/>
          </a:p>
        </p:txBody>
      </p:sp>
      <p:sp>
        <p:nvSpPr>
          <p:cNvPr id="184" name="Google Shape;184;p28"/>
          <p:cNvSpPr/>
          <p:nvPr/>
        </p:nvSpPr>
        <p:spPr>
          <a:xfrm>
            <a:off x="5451396" y="3483412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Systems with thousands of users and strict security requirements need enterprise solutions.Complex integrations with legacy systems may prove challenging.</a:t>
            </a:r>
            <a:endParaRPr b="0" i="0" sz="1750" u="none" cap="none" strike="noStrike"/>
          </a:p>
        </p:txBody>
      </p:sp>
      <p:sp>
        <p:nvSpPr>
          <p:cNvPr id="185" name="Google Shape;185;p28"/>
          <p:cNvSpPr/>
          <p:nvPr/>
        </p:nvSpPr>
        <p:spPr>
          <a:xfrm>
            <a:off x="9640125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9874576" y="2638675"/>
            <a:ext cx="39621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Limited Long-Term Budgets</a:t>
            </a:r>
            <a:endParaRPr b="0" i="0" sz="2200" u="none" cap="none" strike="noStrike"/>
          </a:p>
        </p:txBody>
      </p:sp>
      <p:sp>
        <p:nvSpPr>
          <p:cNvPr id="187" name="Google Shape;187;p28"/>
          <p:cNvSpPr/>
          <p:nvPr/>
        </p:nvSpPr>
        <p:spPr>
          <a:xfrm>
            <a:off x="9874568" y="3483412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Organizations avoiding recurring payments should seek one-time solutions.Notification features may incur unexpected costs.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Today</a:t>
            </a:r>
            <a:endParaRPr b="0" i="0" sz="4450" u="none" cap="none" strike="noStrike"/>
          </a:p>
        </p:txBody>
      </p:sp>
      <p:sp>
        <p:nvSpPr>
          <p:cNvPr id="194" name="Google Shape;194;p29"/>
          <p:cNvSpPr/>
          <p:nvPr/>
        </p:nvSpPr>
        <p:spPr>
          <a:xfrm>
            <a:off x="793790" y="1949401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Tour of the </a:t>
            </a: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Lovable </a:t>
            </a: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interface.</a:t>
            </a:r>
            <a:endParaRPr b="0" i="0" sz="2050" u="none" cap="none" strike="noStrike"/>
          </a:p>
        </p:txBody>
      </p:sp>
      <p:sp>
        <p:nvSpPr>
          <p:cNvPr id="195" name="Google Shape;195;p29"/>
          <p:cNvSpPr/>
          <p:nvPr/>
        </p:nvSpPr>
        <p:spPr>
          <a:xfrm>
            <a:off x="793790" y="2482205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to build a working app with user input, saved data, and dynamic screens.</a:t>
            </a:r>
            <a:endParaRPr b="0" i="0" sz="2050" u="none" cap="none" strike="noStrike"/>
          </a:p>
        </p:txBody>
      </p:sp>
      <p:sp>
        <p:nvSpPr>
          <p:cNvPr id="196" name="Google Shape;196;p29"/>
          <p:cNvSpPr/>
          <p:nvPr/>
        </p:nvSpPr>
        <p:spPr>
          <a:xfrm>
            <a:off x="793790" y="3015010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to use flows (logic engine), the database, and API integrations.</a:t>
            </a:r>
            <a:endParaRPr b="0" i="0" sz="2050" u="none" cap="none" strike="noStrike"/>
          </a:p>
        </p:txBody>
      </p:sp>
      <p:sp>
        <p:nvSpPr>
          <p:cNvPr id="197" name="Google Shape;197;p29"/>
          <p:cNvSpPr/>
          <p:nvPr/>
        </p:nvSpPr>
        <p:spPr>
          <a:xfrm>
            <a:off x="793790" y="3547815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Build a full app step-by-step together with your instructor.</a:t>
            </a:r>
            <a:endParaRPr b="0" i="0" sz="20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4157067" y="2388751"/>
            <a:ext cx="6316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Lovable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Demonstration</a:t>
            </a:r>
            <a:endParaRPr b="0" i="0" sz="4450" u="none" cap="none" strike="noStrike"/>
          </a:p>
        </p:txBody>
      </p:sp>
      <p:sp>
        <p:nvSpPr>
          <p:cNvPr id="204" name="Google Shape;204;p30"/>
          <p:cNvSpPr/>
          <p:nvPr/>
        </p:nvSpPr>
        <p:spPr>
          <a:xfrm>
            <a:off x="534100" y="4123260"/>
            <a:ext cx="130428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45720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2650"/>
              <a:buAutoNum type="arabicPeriod"/>
            </a:pPr>
            <a:r>
              <a:rPr lang="en-US" sz="2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"FormFlow" app – Build-Your-Own Form and Analyze Submissions</a:t>
            </a:r>
            <a:endParaRPr sz="26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