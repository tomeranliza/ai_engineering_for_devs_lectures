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8229600" cx="14630400"/>
  <p:notesSz cx="8229600" cy="14630400"/>
  <p:embeddedFontLst>
    <p:embeddedFont>
      <p:font typeface="Rubik"/>
      <p:regular r:id="rId19"/>
      <p:bold r:id="rId20"/>
      <p:italic r:id="rId21"/>
      <p:boldItalic r:id="rId22"/>
    </p:embeddedFont>
    <p:embeddedFont>
      <p:font typeface="Open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ubik-bold.fntdata"/><Relationship Id="rId22" Type="http://schemas.openxmlformats.org/officeDocument/2006/relationships/font" Target="fonts/Rubik-boldItalic.fntdata"/><Relationship Id="rId21" Type="http://schemas.openxmlformats.org/officeDocument/2006/relationships/font" Target="fonts/Rubik-italic.fntdata"/><Relationship Id="rId24" Type="http://schemas.openxmlformats.org/officeDocument/2006/relationships/font" Target="fonts/OpenSans-bold.fntdata"/><Relationship Id="rId23" Type="http://schemas.openxmlformats.org/officeDocument/2006/relationships/font" Target="fonts/OpenSa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OpenSans-boldItalic.fntdata"/><Relationship Id="rId25" Type="http://schemas.openxmlformats.org/officeDocument/2006/relationships/font" Target="fonts/OpenSans-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Rubik-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3" name="Shape 13"/>
        <p:cNvGrpSpPr/>
        <p:nvPr/>
      </p:nvGrpSpPr>
      <p:grpSpPr>
        <a:xfrm>
          <a:off x="0" y="0"/>
          <a:ext cx="0" cy="0"/>
          <a:chOff x="0" y="0"/>
          <a:chExt cx="0" cy="0"/>
        </a:xfrm>
      </p:grpSpPr>
      <p:sp>
        <p:nvSpPr>
          <p:cNvPr id="14" name="Google Shape;14;p3"/>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6" name="Shape 16"/>
        <p:cNvGrpSpPr/>
        <p:nvPr/>
      </p:nvGrpSpPr>
      <p:grpSpPr>
        <a:xfrm>
          <a:off x="0" y="0"/>
          <a:ext cx="0" cy="0"/>
          <a:chOff x="0" y="0"/>
          <a:chExt cx="0" cy="0"/>
        </a:xfrm>
      </p:grpSpPr>
      <p:sp>
        <p:nvSpPr>
          <p:cNvPr id="17" name="Google Shape;17;p4"/>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9" name="Shape 19"/>
        <p:cNvGrpSpPr/>
        <p:nvPr/>
      </p:nvGrpSpPr>
      <p:grpSpPr>
        <a:xfrm>
          <a:off x="0" y="0"/>
          <a:ext cx="0" cy="0"/>
          <a:chOff x="0" y="0"/>
          <a:chExt cx="0" cy="0"/>
        </a:xfrm>
      </p:grpSpPr>
      <p:sp>
        <p:nvSpPr>
          <p:cNvPr id="20" name="Google Shape;20;p5"/>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2" name="Shape 22"/>
        <p:cNvGrpSpPr/>
        <p:nvPr/>
      </p:nvGrpSpPr>
      <p:grpSpPr>
        <a:xfrm>
          <a:off x="0" y="0"/>
          <a:ext cx="0" cy="0"/>
          <a:chOff x="0" y="0"/>
          <a:chExt cx="0" cy="0"/>
        </a:xfrm>
      </p:grpSpPr>
      <p:sp>
        <p:nvSpPr>
          <p:cNvPr id="23" name="Google Shape;23;p6"/>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5" name="Shape 25"/>
        <p:cNvGrpSpPr/>
        <p:nvPr/>
      </p:nvGrpSpPr>
      <p:grpSpPr>
        <a:xfrm>
          <a:off x="0" y="0"/>
          <a:ext cx="0" cy="0"/>
          <a:chOff x="0" y="0"/>
          <a:chExt cx="0" cy="0"/>
        </a:xfrm>
      </p:grpSpPr>
      <p:sp>
        <p:nvSpPr>
          <p:cNvPr id="26" name="Google Shape;26;p7"/>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28" name="Shape 28"/>
        <p:cNvGrpSpPr/>
        <p:nvPr/>
      </p:nvGrpSpPr>
      <p:grpSpPr>
        <a:xfrm>
          <a:off x="0" y="0"/>
          <a:ext cx="0" cy="0"/>
          <a:chOff x="0" y="0"/>
          <a:chExt cx="0" cy="0"/>
        </a:xfrm>
      </p:grpSpPr>
      <p:sp>
        <p:nvSpPr>
          <p:cNvPr id="29" name="Google Shape;29;p8"/>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1" name="Shape 31"/>
        <p:cNvGrpSpPr/>
        <p:nvPr/>
      </p:nvGrpSpPr>
      <p:grpSpPr>
        <a:xfrm>
          <a:off x="0" y="0"/>
          <a:ext cx="0" cy="0"/>
          <a:chOff x="0" y="0"/>
          <a:chExt cx="0" cy="0"/>
        </a:xfrm>
      </p:grpSpPr>
      <p:sp>
        <p:nvSpPr>
          <p:cNvPr id="32" name="Google Shape;32;p9"/>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4" name="Shape 34"/>
        <p:cNvGrpSpPr/>
        <p:nvPr/>
      </p:nvGrpSpPr>
      <p:grpSpPr>
        <a:xfrm>
          <a:off x="0" y="0"/>
          <a:ext cx="0" cy="0"/>
          <a:chOff x="0" y="0"/>
          <a:chExt cx="0" cy="0"/>
        </a:xfrm>
      </p:grpSpPr>
      <p:sp>
        <p:nvSpPr>
          <p:cNvPr id="35" name="Google Shape;35;p10"/>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37" name="Shape 37"/>
        <p:cNvGrpSpPr/>
        <p:nvPr/>
      </p:nvGrpSpPr>
      <p:grpSpPr>
        <a:xfrm>
          <a:off x="0" y="0"/>
          <a:ext cx="0" cy="0"/>
          <a:chOff x="0" y="0"/>
          <a:chExt cx="0" cy="0"/>
        </a:xfrm>
      </p:grpSpPr>
      <p:sp>
        <p:nvSpPr>
          <p:cNvPr id="38" name="Google Shape;38;p11"/>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40" name="Shape 40"/>
        <p:cNvGrpSpPr/>
        <p:nvPr/>
      </p:nvGrpSpPr>
      <p:grpSpPr>
        <a:xfrm>
          <a:off x="0" y="0"/>
          <a:ext cx="0" cy="0"/>
          <a:chOff x="0" y="0"/>
          <a:chExt cx="0" cy="0"/>
        </a:xfrm>
      </p:grpSpPr>
      <p:sp>
        <p:nvSpPr>
          <p:cNvPr id="41" name="Google Shape;41;p12"/>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43" name="Shape 43"/>
        <p:cNvGrpSpPr/>
        <p:nvPr/>
      </p:nvGrpSpPr>
      <p:grpSpPr>
        <a:xfrm>
          <a:off x="0" y="0"/>
          <a:ext cx="0" cy="0"/>
          <a:chOff x="0" y="0"/>
          <a:chExt cx="0" cy="0"/>
        </a:xfrm>
      </p:grpSpPr>
      <p:sp>
        <p:nvSpPr>
          <p:cNvPr id="44" name="Google Shape;44;p13"/>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bg>
      <p:bgPr>
        <a:solidFill>
          <a:srgbClr val="000000"/>
        </a:solidFill>
      </p:bgPr>
    </p:bg>
    <p:spTree>
      <p:nvGrpSpPr>
        <p:cNvPr id="46" name="Shape 46"/>
        <p:cNvGrpSpPr/>
        <p:nvPr/>
      </p:nvGrpSpPr>
      <p:grpSpPr>
        <a:xfrm>
          <a:off x="0" y="0"/>
          <a:ext cx="0" cy="0"/>
          <a:chOff x="0" y="0"/>
          <a:chExt cx="0" cy="0"/>
        </a:xfrm>
      </p:grpSpPr>
      <p:sp>
        <p:nvSpPr>
          <p:cNvPr id="47" name="Google Shape;47;p14"/>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bg>
      <p:bgPr>
        <a:solidFill>
          <a:srgbClr val="000000"/>
        </a:solidFill>
      </p:bgPr>
    </p:bg>
    <p:spTree>
      <p:nvGrpSpPr>
        <p:cNvPr id="49" name="Shape 49"/>
        <p:cNvGrpSpPr/>
        <p:nvPr/>
      </p:nvGrpSpPr>
      <p:grpSpPr>
        <a:xfrm>
          <a:off x="0" y="0"/>
          <a:ext cx="0" cy="0"/>
          <a:chOff x="0" y="0"/>
          <a:chExt cx="0" cy="0"/>
        </a:xfrm>
      </p:grpSpPr>
      <p:sp>
        <p:nvSpPr>
          <p:cNvPr id="50" name="Google Shape;50;p15"/>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2"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hyperlink" Target="https://www.linkedin.com/posts/avi-lewis_%D7%94%D7%A7%D7%95%D7%93-%D7%96%D7%A8%D7%9D-%D7%94%D7%95%D7%95%D7%99%D7%91-%D7%94%D7%99%D7%94-%D7%98%D7%95%D7%91-%D7%90%D7%A4%D7%9C%D7%99%D7%A7%D7%A6%D7%99%D7%AA-%D7%94-vibe-activity-7327971045699637248-UGaU?utm_source=share&amp;utm_medium=member_desktop&amp;rcm=ACoAADyzbykBN6Purx-kRkjB7aY56nBHG0-PHk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9.png"/><Relationship Id="rId7"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pic>
        <p:nvPicPr>
          <p:cNvPr descr="preencoded.png" id="58" name="Google Shape;58;p17"/>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59" name="Google Shape;59;p17"/>
          <p:cNvSpPr/>
          <p:nvPr/>
        </p:nvSpPr>
        <p:spPr>
          <a:xfrm>
            <a:off x="6634758" y="1513642"/>
            <a:ext cx="6847284" cy="855821"/>
          </a:xfrm>
          <a:prstGeom prst="rect">
            <a:avLst/>
          </a:prstGeom>
          <a:noFill/>
          <a:ln>
            <a:noFill/>
          </a:ln>
        </p:spPr>
        <p:txBody>
          <a:bodyPr anchorCtr="0" anchor="t" bIns="0" lIns="0" spcFirstLastPara="1" rIns="0" wrap="square" tIns="0">
            <a:noAutofit/>
          </a:bodyPr>
          <a:lstStyle/>
          <a:p>
            <a:pPr indent="0" lvl="0" marL="0" marR="0" rtl="0" algn="ctr">
              <a:lnSpc>
                <a:spcPct val="125233"/>
              </a:lnSpc>
              <a:spcBef>
                <a:spcPts val="0"/>
              </a:spcBef>
              <a:spcAft>
                <a:spcPts val="0"/>
              </a:spcAft>
              <a:buClr>
                <a:srgbClr val="D75BE2"/>
              </a:buClr>
              <a:buSzPts val="5350"/>
              <a:buFont typeface="Rubik"/>
              <a:buNone/>
            </a:pPr>
            <a:r>
              <a:rPr b="0" i="0" lang="en-US" sz="5350" u="none" cap="none" strike="noStrike">
                <a:solidFill>
                  <a:srgbClr val="D75BE2"/>
                </a:solidFill>
                <a:latin typeface="Rubik"/>
                <a:ea typeface="Rubik"/>
                <a:cs typeface="Rubik"/>
                <a:sym typeface="Rubik"/>
              </a:rPr>
              <a:t>Beyond the Vibe</a:t>
            </a:r>
            <a:endParaRPr b="0" i="0" sz="5350" u="none" cap="none" strike="noStrike"/>
          </a:p>
        </p:txBody>
      </p:sp>
      <p:sp>
        <p:nvSpPr>
          <p:cNvPr id="60" name="Google Shape;60;p17"/>
          <p:cNvSpPr/>
          <p:nvPr/>
        </p:nvSpPr>
        <p:spPr>
          <a:xfrm>
            <a:off x="6280190" y="2667119"/>
            <a:ext cx="7556421" cy="1240155"/>
          </a:xfrm>
          <a:prstGeom prst="rect">
            <a:avLst/>
          </a:prstGeom>
          <a:noFill/>
          <a:ln>
            <a:noFill/>
          </a:ln>
        </p:spPr>
        <p:txBody>
          <a:bodyPr anchorCtr="0" anchor="t" bIns="0" lIns="0" spcFirstLastPara="1" rIns="0" wrap="square" tIns="0">
            <a:noAutofit/>
          </a:bodyPr>
          <a:lstStyle/>
          <a:p>
            <a:pPr indent="0" lvl="0" marL="0" marR="0" rtl="0" algn="ctr">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Responsible Development with Vibe Coding Tools</a:t>
            </a:r>
            <a:endParaRPr b="0" i="0" sz="3900" u="none" cap="none" strike="noStrike"/>
          </a:p>
        </p:txBody>
      </p:sp>
      <p:pic>
        <p:nvPicPr>
          <p:cNvPr descr="preencoded.png" id="61" name="Google Shape;61;p17"/>
          <p:cNvPicPr preferRelativeResize="0"/>
          <p:nvPr/>
        </p:nvPicPr>
        <p:blipFill rotWithShape="1">
          <a:blip r:embed="rId4">
            <a:alphaModFix/>
          </a:blip>
          <a:srcRect b="0" l="0" r="0" t="0"/>
          <a:stretch/>
        </p:blipFill>
        <p:spPr>
          <a:xfrm>
            <a:off x="8543568" y="4204930"/>
            <a:ext cx="3029664" cy="1335167"/>
          </a:xfrm>
          <a:prstGeom prst="rect">
            <a:avLst/>
          </a:prstGeom>
          <a:noFill/>
          <a:ln>
            <a:noFill/>
          </a:ln>
        </p:spPr>
      </p:pic>
      <p:sp>
        <p:nvSpPr>
          <p:cNvPr id="62" name="Google Shape;62;p17"/>
          <p:cNvSpPr/>
          <p:nvPr/>
        </p:nvSpPr>
        <p:spPr>
          <a:xfrm>
            <a:off x="6280190" y="5763339"/>
            <a:ext cx="7556421" cy="952619"/>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The importance of identifying technical blind spots, avoiding critical mistakes, understanding platform limitations, and knowing when to involve a developer in your vibe-coding journey.</a:t>
            </a:r>
            <a:endParaRPr b="0" i="0" sz="155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8"/>
          <p:cNvSpPr/>
          <p:nvPr/>
        </p:nvSpPr>
        <p:spPr>
          <a:xfrm>
            <a:off x="793790" y="545783"/>
            <a:ext cx="4961811"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Agenda</a:t>
            </a:r>
            <a:endParaRPr b="0" i="0" sz="3900" u="none" cap="none" strike="noStrike"/>
          </a:p>
        </p:txBody>
      </p:sp>
      <p:sp>
        <p:nvSpPr>
          <p:cNvPr id="69" name="Google Shape;69;p18"/>
          <p:cNvSpPr/>
          <p:nvPr/>
        </p:nvSpPr>
        <p:spPr>
          <a:xfrm>
            <a:off x="793800" y="1562702"/>
            <a:ext cx="13042800" cy="551400"/>
          </a:xfrm>
          <a:prstGeom prst="rect">
            <a:avLst/>
          </a:prstGeom>
          <a:noFill/>
          <a:ln>
            <a:noFill/>
          </a:ln>
        </p:spPr>
        <p:txBody>
          <a:bodyPr anchorCtr="0" anchor="t" bIns="0" lIns="0" spcFirstLastPara="1" rIns="0" wrap="square" tIns="0">
            <a:noAutofit/>
          </a:bodyPr>
          <a:lstStyle/>
          <a:p>
            <a:pPr indent="-368300" lvl="0" marL="342900" marR="0" rtl="0" algn="l">
              <a:lnSpc>
                <a:spcPct val="161290"/>
              </a:lnSpc>
              <a:spcBef>
                <a:spcPts val="0"/>
              </a:spcBef>
              <a:spcAft>
                <a:spcPts val="0"/>
              </a:spcAft>
              <a:buClr>
                <a:srgbClr val="272525"/>
              </a:buClr>
              <a:buSzPts val="1950"/>
              <a:buFont typeface="Calibri"/>
              <a:buAutoNum type="arabicPeriod"/>
            </a:pPr>
            <a:r>
              <a:rPr b="0" i="0" lang="en-US" sz="1950" u="none" cap="none" strike="noStrike">
                <a:solidFill>
                  <a:srgbClr val="272525"/>
                </a:solidFill>
                <a:latin typeface="Open Sans"/>
                <a:ea typeface="Open Sans"/>
                <a:cs typeface="Open Sans"/>
                <a:sym typeface="Open Sans"/>
              </a:rPr>
              <a:t>Why "It Works" Isn't Good Enough</a:t>
            </a:r>
            <a:endParaRPr b="0" i="0" sz="1950" u="none" cap="none" strike="noStrike"/>
          </a:p>
        </p:txBody>
      </p:sp>
      <p:sp>
        <p:nvSpPr>
          <p:cNvPr id="70" name="Google Shape;70;p18"/>
          <p:cNvSpPr/>
          <p:nvPr/>
        </p:nvSpPr>
        <p:spPr>
          <a:xfrm>
            <a:off x="793800" y="2210552"/>
            <a:ext cx="13042800" cy="551400"/>
          </a:xfrm>
          <a:prstGeom prst="rect">
            <a:avLst/>
          </a:prstGeom>
          <a:noFill/>
          <a:ln>
            <a:noFill/>
          </a:ln>
        </p:spPr>
        <p:txBody>
          <a:bodyPr anchorCtr="0" anchor="t" bIns="0" lIns="0" spcFirstLastPara="1" rIns="0" wrap="square" tIns="0">
            <a:noAutofit/>
          </a:bodyPr>
          <a:lstStyle/>
          <a:p>
            <a:pPr indent="-368300" lvl="0" marL="342900" marR="0" rtl="0" algn="l">
              <a:lnSpc>
                <a:spcPct val="161290"/>
              </a:lnSpc>
              <a:spcBef>
                <a:spcPts val="0"/>
              </a:spcBef>
              <a:spcAft>
                <a:spcPts val="0"/>
              </a:spcAft>
              <a:buClr>
                <a:srgbClr val="272525"/>
              </a:buClr>
              <a:buSzPts val="1950"/>
              <a:buFont typeface="Calibri"/>
              <a:buAutoNum type="arabicPeriod" startAt="2"/>
            </a:pPr>
            <a:r>
              <a:rPr b="0" i="0" lang="en-US" sz="1950" u="none" cap="none" strike="noStrike">
                <a:solidFill>
                  <a:srgbClr val="272525"/>
                </a:solidFill>
                <a:latin typeface="Open Sans"/>
                <a:ea typeface="Open Sans"/>
                <a:cs typeface="Open Sans"/>
                <a:sym typeface="Open Sans"/>
              </a:rPr>
              <a:t>Real-World Bug Stories</a:t>
            </a:r>
            <a:endParaRPr b="0" i="0" sz="1950" u="none" cap="none" strike="noStrike"/>
          </a:p>
        </p:txBody>
      </p:sp>
      <p:sp>
        <p:nvSpPr>
          <p:cNvPr id="71" name="Google Shape;71;p18"/>
          <p:cNvSpPr/>
          <p:nvPr/>
        </p:nvSpPr>
        <p:spPr>
          <a:xfrm>
            <a:off x="793800" y="2858403"/>
            <a:ext cx="13042800" cy="551400"/>
          </a:xfrm>
          <a:prstGeom prst="rect">
            <a:avLst/>
          </a:prstGeom>
          <a:noFill/>
          <a:ln>
            <a:noFill/>
          </a:ln>
        </p:spPr>
        <p:txBody>
          <a:bodyPr anchorCtr="0" anchor="t" bIns="0" lIns="0" spcFirstLastPara="1" rIns="0" wrap="square" tIns="0">
            <a:noAutofit/>
          </a:bodyPr>
          <a:lstStyle/>
          <a:p>
            <a:pPr indent="-368300" lvl="0" marL="342900" marR="0" rtl="0" algn="l">
              <a:lnSpc>
                <a:spcPct val="161290"/>
              </a:lnSpc>
              <a:spcBef>
                <a:spcPts val="0"/>
              </a:spcBef>
              <a:spcAft>
                <a:spcPts val="0"/>
              </a:spcAft>
              <a:buClr>
                <a:srgbClr val="272525"/>
              </a:buClr>
              <a:buSzPts val="1950"/>
              <a:buFont typeface="Calibri"/>
              <a:buAutoNum type="arabicPeriod" startAt="3"/>
            </a:pPr>
            <a:r>
              <a:rPr b="0" i="0" lang="en-US" sz="1950" u="none" cap="none" strike="noStrike">
                <a:solidFill>
                  <a:srgbClr val="272525"/>
                </a:solidFill>
                <a:latin typeface="Open Sans"/>
                <a:ea typeface="Open Sans"/>
                <a:cs typeface="Open Sans"/>
                <a:sym typeface="Open Sans"/>
              </a:rPr>
              <a:t>Danger Zone: Exposed APIs, Payments &amp; Data Storage, User Experience Failures</a:t>
            </a:r>
            <a:endParaRPr b="0" i="0" sz="1950" u="none" cap="none" strike="noStrike"/>
          </a:p>
        </p:txBody>
      </p:sp>
      <p:sp>
        <p:nvSpPr>
          <p:cNvPr id="72" name="Google Shape;72;p18"/>
          <p:cNvSpPr/>
          <p:nvPr/>
        </p:nvSpPr>
        <p:spPr>
          <a:xfrm>
            <a:off x="793800" y="3506253"/>
            <a:ext cx="13042800" cy="551400"/>
          </a:xfrm>
          <a:prstGeom prst="rect">
            <a:avLst/>
          </a:prstGeom>
          <a:noFill/>
          <a:ln>
            <a:noFill/>
          </a:ln>
        </p:spPr>
        <p:txBody>
          <a:bodyPr anchorCtr="0" anchor="t" bIns="0" lIns="0" spcFirstLastPara="1" rIns="0" wrap="square" tIns="0">
            <a:noAutofit/>
          </a:bodyPr>
          <a:lstStyle/>
          <a:p>
            <a:pPr indent="-368300" lvl="0" marL="342900" marR="0" rtl="0" algn="l">
              <a:lnSpc>
                <a:spcPct val="161290"/>
              </a:lnSpc>
              <a:spcBef>
                <a:spcPts val="0"/>
              </a:spcBef>
              <a:spcAft>
                <a:spcPts val="0"/>
              </a:spcAft>
              <a:buClr>
                <a:srgbClr val="272525"/>
              </a:buClr>
              <a:buSzPts val="1950"/>
              <a:buFont typeface="Calibri"/>
              <a:buAutoNum type="arabicPeriod" startAt="4"/>
            </a:pPr>
            <a:r>
              <a:rPr b="0" i="0" lang="en-US" sz="1950" u="none" cap="none" strike="noStrike">
                <a:solidFill>
                  <a:srgbClr val="272525"/>
                </a:solidFill>
                <a:latin typeface="Open Sans"/>
                <a:ea typeface="Open Sans"/>
                <a:cs typeface="Open Sans"/>
                <a:sym typeface="Open Sans"/>
              </a:rPr>
              <a:t>Signs You're in Over Your Head</a:t>
            </a:r>
            <a:endParaRPr b="0" i="0" sz="1950" u="none" cap="none" strike="noStrike"/>
          </a:p>
        </p:txBody>
      </p:sp>
      <p:sp>
        <p:nvSpPr>
          <p:cNvPr id="73" name="Google Shape;73;p18"/>
          <p:cNvSpPr/>
          <p:nvPr/>
        </p:nvSpPr>
        <p:spPr>
          <a:xfrm>
            <a:off x="793800" y="4154103"/>
            <a:ext cx="13042800" cy="551400"/>
          </a:xfrm>
          <a:prstGeom prst="rect">
            <a:avLst/>
          </a:prstGeom>
          <a:noFill/>
          <a:ln>
            <a:noFill/>
          </a:ln>
        </p:spPr>
        <p:txBody>
          <a:bodyPr anchorCtr="0" anchor="t" bIns="0" lIns="0" spcFirstLastPara="1" rIns="0" wrap="square" tIns="0">
            <a:noAutofit/>
          </a:bodyPr>
          <a:lstStyle/>
          <a:p>
            <a:pPr indent="-368300" lvl="0" marL="342900" marR="0" rtl="0" algn="l">
              <a:lnSpc>
                <a:spcPct val="161290"/>
              </a:lnSpc>
              <a:spcBef>
                <a:spcPts val="0"/>
              </a:spcBef>
              <a:spcAft>
                <a:spcPts val="0"/>
              </a:spcAft>
              <a:buClr>
                <a:srgbClr val="272525"/>
              </a:buClr>
              <a:buSzPts val="1950"/>
              <a:buFont typeface="Calibri"/>
              <a:buAutoNum type="arabicPeriod" startAt="5"/>
            </a:pPr>
            <a:r>
              <a:rPr b="0" i="0" lang="en-US" sz="1950" u="none" cap="none" strike="noStrike">
                <a:solidFill>
                  <a:srgbClr val="272525"/>
                </a:solidFill>
                <a:latin typeface="Open Sans"/>
                <a:ea typeface="Open Sans"/>
                <a:cs typeface="Open Sans"/>
                <a:sym typeface="Open Sans"/>
              </a:rPr>
              <a:t>Do's &amp; Don'ts for Responsible Vibe Coders</a:t>
            </a:r>
            <a:endParaRPr b="0" i="0" sz="1950" u="none" cap="none" strike="noStrike"/>
          </a:p>
        </p:txBody>
      </p:sp>
      <p:sp>
        <p:nvSpPr>
          <p:cNvPr id="74" name="Google Shape;74;p18"/>
          <p:cNvSpPr/>
          <p:nvPr/>
        </p:nvSpPr>
        <p:spPr>
          <a:xfrm>
            <a:off x="793800" y="4801952"/>
            <a:ext cx="13042800" cy="551400"/>
          </a:xfrm>
          <a:prstGeom prst="rect">
            <a:avLst/>
          </a:prstGeom>
          <a:noFill/>
          <a:ln>
            <a:noFill/>
          </a:ln>
        </p:spPr>
        <p:txBody>
          <a:bodyPr anchorCtr="0" anchor="t" bIns="0" lIns="0" spcFirstLastPara="1" rIns="0" wrap="square" tIns="0">
            <a:noAutofit/>
          </a:bodyPr>
          <a:lstStyle/>
          <a:p>
            <a:pPr indent="-368300" lvl="0" marL="342900" marR="0" rtl="0" algn="l">
              <a:lnSpc>
                <a:spcPct val="161290"/>
              </a:lnSpc>
              <a:spcBef>
                <a:spcPts val="0"/>
              </a:spcBef>
              <a:spcAft>
                <a:spcPts val="0"/>
              </a:spcAft>
              <a:buClr>
                <a:srgbClr val="272525"/>
              </a:buClr>
              <a:buSzPts val="1950"/>
              <a:buFont typeface="Calibri"/>
              <a:buAutoNum type="arabicPeriod" startAt="6"/>
            </a:pPr>
            <a:r>
              <a:rPr b="0" i="0" lang="en-US" sz="1950" u="none" cap="none" strike="noStrike">
                <a:solidFill>
                  <a:srgbClr val="272525"/>
                </a:solidFill>
                <a:latin typeface="Open Sans"/>
                <a:ea typeface="Open Sans"/>
                <a:cs typeface="Open Sans"/>
                <a:sym typeface="Open Sans"/>
              </a:rPr>
              <a:t>When to Call a Developer</a:t>
            </a:r>
            <a:endParaRPr b="0" i="0" sz="1950" u="none" cap="none" strike="noStrike"/>
          </a:p>
        </p:txBody>
      </p:sp>
      <p:sp>
        <p:nvSpPr>
          <p:cNvPr id="75" name="Google Shape;75;p18"/>
          <p:cNvSpPr/>
          <p:nvPr/>
        </p:nvSpPr>
        <p:spPr>
          <a:xfrm>
            <a:off x="793800" y="5449802"/>
            <a:ext cx="13042800" cy="551400"/>
          </a:xfrm>
          <a:prstGeom prst="rect">
            <a:avLst/>
          </a:prstGeom>
          <a:noFill/>
          <a:ln>
            <a:noFill/>
          </a:ln>
        </p:spPr>
        <p:txBody>
          <a:bodyPr anchorCtr="0" anchor="t" bIns="0" lIns="0" spcFirstLastPara="1" rIns="0" wrap="square" tIns="0">
            <a:noAutofit/>
          </a:bodyPr>
          <a:lstStyle/>
          <a:p>
            <a:pPr indent="-368300" lvl="0" marL="342900" marR="0" rtl="0" algn="l">
              <a:lnSpc>
                <a:spcPct val="161290"/>
              </a:lnSpc>
              <a:spcBef>
                <a:spcPts val="0"/>
              </a:spcBef>
              <a:spcAft>
                <a:spcPts val="0"/>
              </a:spcAft>
              <a:buClr>
                <a:srgbClr val="272525"/>
              </a:buClr>
              <a:buSzPts val="1950"/>
              <a:buFont typeface="Calibri"/>
              <a:buAutoNum type="arabicPeriod" startAt="7"/>
            </a:pPr>
            <a:r>
              <a:rPr b="0" i="0" lang="en-US" sz="1950" u="none" cap="none" strike="noStrike">
                <a:solidFill>
                  <a:srgbClr val="272525"/>
                </a:solidFill>
                <a:latin typeface="Open Sans"/>
                <a:ea typeface="Open Sans"/>
                <a:cs typeface="Open Sans"/>
                <a:sym typeface="Open Sans"/>
              </a:rPr>
              <a:t>The 5-Point Responsible Builder Checklist</a:t>
            </a:r>
            <a:endParaRPr b="0" i="0" sz="19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9"/>
          <p:cNvSpPr/>
          <p:nvPr/>
        </p:nvSpPr>
        <p:spPr>
          <a:xfrm>
            <a:off x="793790" y="545783"/>
            <a:ext cx="7842409"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Why "It Works" Isn't Good Enough</a:t>
            </a:r>
            <a:endParaRPr b="0" i="0" sz="3900" u="none" cap="none" strike="noStrike"/>
          </a:p>
        </p:txBody>
      </p:sp>
      <p:sp>
        <p:nvSpPr>
          <p:cNvPr id="82" name="Google Shape;82;p19"/>
          <p:cNvSpPr/>
          <p:nvPr/>
        </p:nvSpPr>
        <p:spPr>
          <a:xfrm>
            <a:off x="793790" y="1463516"/>
            <a:ext cx="13042821" cy="793909"/>
          </a:xfrm>
          <a:prstGeom prst="rect">
            <a:avLst/>
          </a:prstGeom>
          <a:noFill/>
          <a:ln>
            <a:noFill/>
          </a:ln>
        </p:spPr>
        <p:txBody>
          <a:bodyPr anchorCtr="0" anchor="t" bIns="0" lIns="0" spcFirstLastPara="1" rIns="0" wrap="square" tIns="0">
            <a:noAutofit/>
          </a:bodyPr>
          <a:lstStyle/>
          <a:p>
            <a:pPr indent="0" lvl="0" marL="0" marR="0" rtl="0" algn="l">
              <a:lnSpc>
                <a:spcPct val="158974"/>
              </a:lnSpc>
              <a:spcBef>
                <a:spcPts val="0"/>
              </a:spcBef>
              <a:spcAft>
                <a:spcPts val="0"/>
              </a:spcAft>
              <a:buClr>
                <a:srgbClr val="272525"/>
              </a:buClr>
              <a:buSzPts val="1950"/>
              <a:buFont typeface="Open Sans"/>
              <a:buNone/>
            </a:pPr>
            <a:r>
              <a:rPr b="0" i="0" lang="en-US" sz="1950" u="none" cap="none" strike="noStrike">
                <a:solidFill>
                  <a:srgbClr val="272525"/>
                </a:solidFill>
                <a:latin typeface="Open Sans"/>
                <a:ea typeface="Open Sans"/>
                <a:cs typeface="Open Sans"/>
                <a:sym typeface="Open Sans"/>
              </a:rPr>
              <a:t>Many vibe-built apps look functional on the surface, but under the hood they can be broken, insecure, or incomplete in ways that aren't immediately obvious.</a:t>
            </a:r>
            <a:endParaRPr b="0" i="0" sz="1950" u="none" cap="none" strike="noStrike"/>
          </a:p>
        </p:txBody>
      </p:sp>
      <p:sp>
        <p:nvSpPr>
          <p:cNvPr id="83" name="Google Shape;83;p19"/>
          <p:cNvSpPr/>
          <p:nvPr/>
        </p:nvSpPr>
        <p:spPr>
          <a:xfrm>
            <a:off x="793790" y="2480667"/>
            <a:ext cx="13042821" cy="396954"/>
          </a:xfrm>
          <a:prstGeom prst="rect">
            <a:avLst/>
          </a:prstGeom>
          <a:noFill/>
          <a:ln>
            <a:noFill/>
          </a:ln>
        </p:spPr>
        <p:txBody>
          <a:bodyPr anchorCtr="0" anchor="t" bIns="0" lIns="0" spcFirstLastPara="1" rIns="0" wrap="square" tIns="0">
            <a:noAutofit/>
          </a:bodyPr>
          <a:lstStyle/>
          <a:p>
            <a:pPr indent="0" lvl="0" marL="0" marR="0" rtl="0" algn="l">
              <a:lnSpc>
                <a:spcPct val="158974"/>
              </a:lnSpc>
              <a:spcBef>
                <a:spcPts val="0"/>
              </a:spcBef>
              <a:spcAft>
                <a:spcPts val="0"/>
              </a:spcAft>
              <a:buSzPts val="1950"/>
              <a:buFont typeface="Arial"/>
              <a:buNone/>
            </a:pPr>
            <a:r>
              <a:t/>
            </a:r>
            <a:endParaRPr b="0" i="0" sz="1950" u="none" cap="none" strike="noStrike"/>
          </a:p>
        </p:txBody>
      </p:sp>
      <p:sp>
        <p:nvSpPr>
          <p:cNvPr id="84" name="Google Shape;84;p19"/>
          <p:cNvSpPr/>
          <p:nvPr/>
        </p:nvSpPr>
        <p:spPr>
          <a:xfrm>
            <a:off x="793790" y="3100864"/>
            <a:ext cx="4215289" cy="2141815"/>
          </a:xfrm>
          <a:prstGeom prst="roundRect">
            <a:avLst>
              <a:gd fmla="val 5123" name="adj"/>
            </a:avLst>
          </a:prstGeom>
          <a:noFill/>
          <a:ln cap="flat" cmpd="sng" w="22850">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9"/>
          <p:cNvSpPr/>
          <p:nvPr/>
        </p:nvSpPr>
        <p:spPr>
          <a:xfrm>
            <a:off x="770930" y="3100864"/>
            <a:ext cx="91440" cy="2141815"/>
          </a:xfrm>
          <a:prstGeom prst="roundRect">
            <a:avLst>
              <a:gd fmla="val 91163"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9"/>
          <p:cNvSpPr/>
          <p:nvPr/>
        </p:nvSpPr>
        <p:spPr>
          <a:xfrm>
            <a:off x="1083588" y="3322082"/>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The Data Illusion</a:t>
            </a:r>
            <a:endParaRPr b="0" i="0" sz="1950" u="none" cap="none" strike="noStrike"/>
          </a:p>
        </p:txBody>
      </p:sp>
      <p:sp>
        <p:nvSpPr>
          <p:cNvPr id="87" name="Google Shape;87;p19"/>
          <p:cNvSpPr/>
          <p:nvPr/>
        </p:nvSpPr>
        <p:spPr>
          <a:xfrm>
            <a:off x="1083588" y="3751302"/>
            <a:ext cx="3704273"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"My app saves data... or does it?" Many apps appear to function correctly but fail to actually store information.</a:t>
            </a:r>
            <a:endParaRPr b="0" i="0" sz="1550" u="none" cap="none" strike="noStrike"/>
          </a:p>
        </p:txBody>
      </p:sp>
      <p:sp>
        <p:nvSpPr>
          <p:cNvPr id="88" name="Google Shape;88;p19"/>
          <p:cNvSpPr/>
          <p:nvPr/>
        </p:nvSpPr>
        <p:spPr>
          <a:xfrm>
            <a:off x="5207437" y="3100864"/>
            <a:ext cx="4215408" cy="2141815"/>
          </a:xfrm>
          <a:prstGeom prst="roundRect">
            <a:avLst>
              <a:gd fmla="val 5123" name="adj"/>
            </a:avLst>
          </a:prstGeom>
          <a:noFill/>
          <a:ln cap="flat" cmpd="sng" w="22850">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9"/>
          <p:cNvSpPr/>
          <p:nvPr/>
        </p:nvSpPr>
        <p:spPr>
          <a:xfrm>
            <a:off x="5184577" y="3100864"/>
            <a:ext cx="91440" cy="2141815"/>
          </a:xfrm>
          <a:prstGeom prst="roundRect">
            <a:avLst>
              <a:gd fmla="val 91163"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9"/>
          <p:cNvSpPr/>
          <p:nvPr/>
        </p:nvSpPr>
        <p:spPr>
          <a:xfrm>
            <a:off x="5497235" y="3322082"/>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Payment Phantoms</a:t>
            </a:r>
            <a:endParaRPr b="0" i="0" sz="1950" u="none" cap="none" strike="noStrike"/>
          </a:p>
        </p:txBody>
      </p:sp>
      <p:sp>
        <p:nvSpPr>
          <p:cNvPr id="91" name="Google Shape;91;p19"/>
          <p:cNvSpPr/>
          <p:nvPr/>
        </p:nvSpPr>
        <p:spPr>
          <a:xfrm>
            <a:off x="5497235" y="3751302"/>
            <a:ext cx="3704392" cy="12701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"The payment went through… but the money never arrived." Payment confirmations without actual transactions.</a:t>
            </a:r>
            <a:endParaRPr b="0" i="0" sz="1550" u="none" cap="none" strike="noStrike"/>
          </a:p>
        </p:txBody>
      </p:sp>
      <p:sp>
        <p:nvSpPr>
          <p:cNvPr id="92" name="Google Shape;92;p19"/>
          <p:cNvSpPr/>
          <p:nvPr/>
        </p:nvSpPr>
        <p:spPr>
          <a:xfrm>
            <a:off x="9621203" y="3100864"/>
            <a:ext cx="4215289" cy="2141815"/>
          </a:xfrm>
          <a:prstGeom prst="roundRect">
            <a:avLst>
              <a:gd fmla="val 5123" name="adj"/>
            </a:avLst>
          </a:prstGeom>
          <a:noFill/>
          <a:ln cap="flat" cmpd="sng" w="22850">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9"/>
          <p:cNvSpPr/>
          <p:nvPr/>
        </p:nvSpPr>
        <p:spPr>
          <a:xfrm>
            <a:off x="9598343" y="3100864"/>
            <a:ext cx="91440" cy="2141815"/>
          </a:xfrm>
          <a:prstGeom prst="roundRect">
            <a:avLst>
              <a:gd fmla="val 91163"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9"/>
          <p:cNvSpPr/>
          <p:nvPr/>
        </p:nvSpPr>
        <p:spPr>
          <a:xfrm>
            <a:off x="9911001" y="3322082"/>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Silent Failures</a:t>
            </a:r>
            <a:endParaRPr b="0" i="0" sz="1950" u="none" cap="none" strike="noStrike"/>
          </a:p>
        </p:txBody>
      </p:sp>
      <p:sp>
        <p:nvSpPr>
          <p:cNvPr id="95" name="Google Shape;95;p19"/>
          <p:cNvSpPr/>
          <p:nvPr/>
        </p:nvSpPr>
        <p:spPr>
          <a:xfrm>
            <a:off x="9911001" y="3751302"/>
            <a:ext cx="3704273"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Apps that use mock data, broken logic, or display fake success messages while failing behind the scenes.</a:t>
            </a:r>
            <a:endParaRPr b="0" i="0" sz="1550" u="none" cap="none" strike="noStrike"/>
          </a:p>
        </p:txBody>
      </p:sp>
      <p:sp>
        <p:nvSpPr>
          <p:cNvPr id="96" name="Google Shape;96;p19"/>
          <p:cNvSpPr/>
          <p:nvPr/>
        </p:nvSpPr>
        <p:spPr>
          <a:xfrm>
            <a:off x="793790" y="5465921"/>
            <a:ext cx="13042821"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SzPts val="1550"/>
              <a:buFont typeface="Arial"/>
              <a:buNone/>
            </a:pPr>
            <a:r>
              <a:t/>
            </a:r>
            <a:endParaRPr b="0" i="0" sz="1550" u="none" cap="none" strike="noStrike"/>
          </a:p>
        </p:txBody>
      </p:sp>
      <p:sp>
        <p:nvSpPr>
          <p:cNvPr id="97" name="Google Shape;97;p19"/>
          <p:cNvSpPr/>
          <p:nvPr/>
        </p:nvSpPr>
        <p:spPr>
          <a:xfrm>
            <a:off x="4208502" y="6081117"/>
            <a:ext cx="6213277" cy="496133"/>
          </a:xfrm>
          <a:prstGeom prst="rect">
            <a:avLst/>
          </a:prstGeom>
          <a:noFill/>
          <a:ln>
            <a:noFill/>
          </a:ln>
        </p:spPr>
        <p:txBody>
          <a:bodyPr anchorCtr="0" anchor="t" bIns="0" lIns="0" spcFirstLastPara="1" rIns="0" wrap="square" tIns="0">
            <a:noAutofit/>
          </a:bodyPr>
          <a:lstStyle/>
          <a:p>
            <a:pPr indent="0" lvl="0" marL="0" marR="0" rtl="0" algn="ctr">
              <a:lnSpc>
                <a:spcPct val="125806"/>
              </a:lnSpc>
              <a:spcBef>
                <a:spcPts val="0"/>
              </a:spcBef>
              <a:spcAft>
                <a:spcPts val="0"/>
              </a:spcAft>
              <a:buClr>
                <a:srgbClr val="272525"/>
              </a:buClr>
              <a:buSzPts val="3100"/>
              <a:buFont typeface="Rubik"/>
              <a:buNone/>
            </a:pPr>
            <a:r>
              <a:rPr b="0" i="0" lang="en-US" sz="3100" u="none" cap="none" strike="noStrike">
                <a:solidFill>
                  <a:srgbClr val="272525"/>
                </a:solidFill>
                <a:latin typeface="Rubik"/>
                <a:ea typeface="Rubik"/>
                <a:cs typeface="Rubik"/>
                <a:sym typeface="Rubik"/>
              </a:rPr>
              <a:t>Good Preview ≠ Good Production</a:t>
            </a:r>
            <a:endParaRPr b="0" i="0" sz="310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p:nvPr/>
        </p:nvSpPr>
        <p:spPr>
          <a:xfrm>
            <a:off x="793790" y="1323856"/>
            <a:ext cx="5487829"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Real-World Bug Stories</a:t>
            </a:r>
            <a:endParaRPr b="0" i="0" sz="3900" u="none" cap="none" strike="noStrike"/>
          </a:p>
        </p:txBody>
      </p:sp>
      <p:sp>
        <p:nvSpPr>
          <p:cNvPr id="104" name="Google Shape;104;p20"/>
          <p:cNvSpPr/>
          <p:nvPr/>
        </p:nvSpPr>
        <p:spPr>
          <a:xfrm>
            <a:off x="793790" y="4313039"/>
            <a:ext cx="3842028" cy="620316"/>
          </a:xfrm>
          <a:prstGeom prst="rect">
            <a:avLst/>
          </a:prstGeom>
          <a:noFill/>
          <a:ln>
            <a:noFill/>
          </a:ln>
        </p:spPr>
        <p:txBody>
          <a:bodyPr anchorCtr="0" anchor="t" bIns="0" lIns="0" spcFirstLastPara="1" rIns="0" wrap="square" tIns="0">
            <a:noAutofit/>
          </a:bodyPr>
          <a:lstStyle/>
          <a:p>
            <a:pPr indent="0" lvl="0" marL="0" marR="0" rtl="0" algn="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"Stripe showed payment success. No funds."</a:t>
            </a:r>
            <a:endParaRPr b="0" i="0" sz="1950" u="none" cap="none" strike="noStrike"/>
          </a:p>
        </p:txBody>
      </p:sp>
      <p:pic>
        <p:nvPicPr>
          <p:cNvPr descr="preencoded.png" id="105" name="Google Shape;105;p20"/>
          <p:cNvPicPr preferRelativeResize="0"/>
          <p:nvPr/>
        </p:nvPicPr>
        <p:blipFill rotWithShape="1">
          <a:blip r:embed="rId3">
            <a:alphaModFix/>
          </a:blip>
          <a:srcRect b="0" l="0" r="0" t="0"/>
          <a:stretch/>
        </p:blipFill>
        <p:spPr>
          <a:xfrm>
            <a:off x="5032653" y="2340769"/>
            <a:ext cx="4564975" cy="4564975"/>
          </a:xfrm>
          <a:prstGeom prst="rect">
            <a:avLst/>
          </a:prstGeom>
          <a:noFill/>
          <a:ln>
            <a:noFill/>
          </a:ln>
        </p:spPr>
      </p:pic>
      <p:sp>
        <p:nvSpPr>
          <p:cNvPr id="106" name="Google Shape;106;p20"/>
          <p:cNvSpPr/>
          <p:nvPr/>
        </p:nvSpPr>
        <p:spPr>
          <a:xfrm>
            <a:off x="5999976" y="4448711"/>
            <a:ext cx="279083" cy="348853"/>
          </a:xfrm>
          <a:prstGeom prst="rect">
            <a:avLst/>
          </a:prstGeom>
          <a:noFill/>
          <a:ln>
            <a:noFill/>
          </a:ln>
        </p:spPr>
        <p:txBody>
          <a:bodyPr anchorCtr="0" anchor="t" bIns="0" lIns="0" spcFirstLastPara="1" rIns="0" wrap="square" tIns="0">
            <a:noAutofit/>
          </a:bodyPr>
          <a:lstStyle/>
          <a:p>
            <a:pPr indent="0" lvl="0" marL="0" marR="0" rtl="0" algn="l">
              <a:lnSpc>
                <a:spcPct val="162790"/>
              </a:lnSpc>
              <a:spcBef>
                <a:spcPts val="0"/>
              </a:spcBef>
              <a:spcAft>
                <a:spcPts val="0"/>
              </a:spcAft>
              <a:buClr>
                <a:srgbClr val="272525"/>
              </a:buClr>
              <a:buSzPts val="2150"/>
              <a:buFont typeface="Rubik"/>
              <a:buNone/>
            </a:pPr>
            <a:r>
              <a:rPr b="0" i="0" lang="en-US" sz="2150" u="none" cap="none" strike="noStrike">
                <a:solidFill>
                  <a:srgbClr val="272525"/>
                </a:solidFill>
                <a:latin typeface="Rubik"/>
                <a:ea typeface="Rubik"/>
                <a:cs typeface="Rubik"/>
                <a:sym typeface="Rubik"/>
              </a:rPr>
              <a:t>1</a:t>
            </a:r>
            <a:endParaRPr b="0" i="0" sz="2150" u="none" cap="none" strike="noStrike"/>
          </a:p>
        </p:txBody>
      </p:sp>
      <p:sp>
        <p:nvSpPr>
          <p:cNvPr id="107" name="Google Shape;107;p20"/>
          <p:cNvSpPr/>
          <p:nvPr/>
        </p:nvSpPr>
        <p:spPr>
          <a:xfrm>
            <a:off x="9597628" y="3097411"/>
            <a:ext cx="4238982" cy="620316"/>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"My app collected answers. None saved."</a:t>
            </a:r>
            <a:endParaRPr b="0" i="0" sz="1950" u="none" cap="none" strike="noStrike"/>
          </a:p>
        </p:txBody>
      </p:sp>
      <p:pic>
        <p:nvPicPr>
          <p:cNvPr descr="preencoded.png" id="108" name="Google Shape;108;p20"/>
          <p:cNvPicPr preferRelativeResize="0"/>
          <p:nvPr/>
        </p:nvPicPr>
        <p:blipFill rotWithShape="1">
          <a:blip r:embed="rId4">
            <a:alphaModFix/>
          </a:blip>
          <a:srcRect b="0" l="0" r="0" t="0"/>
          <a:stretch/>
        </p:blipFill>
        <p:spPr>
          <a:xfrm>
            <a:off x="5032653" y="2340769"/>
            <a:ext cx="4564975" cy="4564975"/>
          </a:xfrm>
          <a:prstGeom prst="rect">
            <a:avLst/>
          </a:prstGeom>
          <a:noFill/>
          <a:ln>
            <a:noFill/>
          </a:ln>
        </p:spPr>
      </p:pic>
      <p:sp>
        <p:nvSpPr>
          <p:cNvPr id="109" name="Google Shape;109;p20"/>
          <p:cNvSpPr/>
          <p:nvPr/>
        </p:nvSpPr>
        <p:spPr>
          <a:xfrm>
            <a:off x="7763173" y="3430726"/>
            <a:ext cx="279083" cy="348853"/>
          </a:xfrm>
          <a:prstGeom prst="rect">
            <a:avLst/>
          </a:prstGeom>
          <a:noFill/>
          <a:ln>
            <a:noFill/>
          </a:ln>
        </p:spPr>
        <p:txBody>
          <a:bodyPr anchorCtr="0" anchor="t" bIns="0" lIns="0" spcFirstLastPara="1" rIns="0" wrap="square" tIns="0">
            <a:noAutofit/>
          </a:bodyPr>
          <a:lstStyle/>
          <a:p>
            <a:pPr indent="0" lvl="0" marL="0" marR="0" rtl="0" algn="l">
              <a:lnSpc>
                <a:spcPct val="162790"/>
              </a:lnSpc>
              <a:spcBef>
                <a:spcPts val="0"/>
              </a:spcBef>
              <a:spcAft>
                <a:spcPts val="0"/>
              </a:spcAft>
              <a:buClr>
                <a:srgbClr val="272525"/>
              </a:buClr>
              <a:buSzPts val="2150"/>
              <a:buFont typeface="Rubik"/>
              <a:buNone/>
            </a:pPr>
            <a:r>
              <a:rPr b="0" i="0" lang="en-US" sz="2150" u="none" cap="none" strike="noStrike">
                <a:solidFill>
                  <a:srgbClr val="272525"/>
                </a:solidFill>
                <a:latin typeface="Rubik"/>
                <a:ea typeface="Rubik"/>
                <a:cs typeface="Rubik"/>
                <a:sym typeface="Rubik"/>
              </a:rPr>
              <a:t>2</a:t>
            </a:r>
            <a:endParaRPr b="0" i="0" sz="2150" u="none" cap="none" strike="noStrike"/>
          </a:p>
        </p:txBody>
      </p:sp>
      <p:sp>
        <p:nvSpPr>
          <p:cNvPr id="110" name="Google Shape;110;p20"/>
          <p:cNvSpPr/>
          <p:nvPr/>
        </p:nvSpPr>
        <p:spPr>
          <a:xfrm>
            <a:off x="9597628" y="5528667"/>
            <a:ext cx="4238982" cy="620316"/>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"App worked for me, but not on my friend’s phone."</a:t>
            </a:r>
            <a:endParaRPr b="0" i="0" sz="1950" u="none" cap="none" strike="noStrike"/>
          </a:p>
        </p:txBody>
      </p:sp>
      <p:pic>
        <p:nvPicPr>
          <p:cNvPr descr="preencoded.png" id="111" name="Google Shape;111;p20"/>
          <p:cNvPicPr preferRelativeResize="0"/>
          <p:nvPr/>
        </p:nvPicPr>
        <p:blipFill rotWithShape="1">
          <a:blip r:embed="rId5">
            <a:alphaModFix/>
          </a:blip>
          <a:srcRect b="0" l="0" r="0" t="0"/>
          <a:stretch/>
        </p:blipFill>
        <p:spPr>
          <a:xfrm>
            <a:off x="5032653" y="2340769"/>
            <a:ext cx="4564975" cy="4564975"/>
          </a:xfrm>
          <a:prstGeom prst="rect">
            <a:avLst/>
          </a:prstGeom>
          <a:noFill/>
          <a:ln>
            <a:noFill/>
          </a:ln>
        </p:spPr>
      </p:pic>
      <p:sp>
        <p:nvSpPr>
          <p:cNvPr id="112" name="Google Shape;112;p20"/>
          <p:cNvSpPr/>
          <p:nvPr/>
        </p:nvSpPr>
        <p:spPr>
          <a:xfrm>
            <a:off x="7763173" y="5466695"/>
            <a:ext cx="279083" cy="348853"/>
          </a:xfrm>
          <a:prstGeom prst="rect">
            <a:avLst/>
          </a:prstGeom>
          <a:noFill/>
          <a:ln>
            <a:noFill/>
          </a:ln>
        </p:spPr>
        <p:txBody>
          <a:bodyPr anchorCtr="0" anchor="t" bIns="0" lIns="0" spcFirstLastPara="1" rIns="0" wrap="square" tIns="0">
            <a:noAutofit/>
          </a:bodyPr>
          <a:lstStyle/>
          <a:p>
            <a:pPr indent="0" lvl="0" marL="0" marR="0" rtl="0" algn="l">
              <a:lnSpc>
                <a:spcPct val="162790"/>
              </a:lnSpc>
              <a:spcBef>
                <a:spcPts val="0"/>
              </a:spcBef>
              <a:spcAft>
                <a:spcPts val="0"/>
              </a:spcAft>
              <a:buClr>
                <a:srgbClr val="272525"/>
              </a:buClr>
              <a:buSzPts val="2150"/>
              <a:buFont typeface="Rubik"/>
              <a:buNone/>
            </a:pPr>
            <a:r>
              <a:rPr b="0" i="0" lang="en-US" sz="2150" u="none" cap="none" strike="noStrike">
                <a:solidFill>
                  <a:srgbClr val="272525"/>
                </a:solidFill>
                <a:latin typeface="Rubik"/>
                <a:ea typeface="Rubik"/>
                <a:cs typeface="Rubik"/>
                <a:sym typeface="Rubik"/>
              </a:rPr>
              <a:t>3</a:t>
            </a:r>
            <a:endParaRPr b="0" i="0" sz="21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p:nvPr/>
        </p:nvSpPr>
        <p:spPr>
          <a:xfrm>
            <a:off x="793790" y="545783"/>
            <a:ext cx="4115514" cy="465177"/>
          </a:xfrm>
          <a:prstGeom prst="rect">
            <a:avLst/>
          </a:prstGeom>
          <a:noFill/>
          <a:ln>
            <a:noFill/>
          </a:ln>
        </p:spPr>
        <p:txBody>
          <a:bodyPr anchorCtr="0" anchor="t" bIns="0" lIns="0" spcFirstLastPara="1" rIns="0" wrap="square" tIns="0">
            <a:noAutofit/>
          </a:bodyPr>
          <a:lstStyle/>
          <a:p>
            <a:pPr indent="0" lvl="0" marL="0" marR="0" rtl="0" algn="l">
              <a:lnSpc>
                <a:spcPct val="125862"/>
              </a:lnSpc>
              <a:spcBef>
                <a:spcPts val="0"/>
              </a:spcBef>
              <a:spcAft>
                <a:spcPts val="0"/>
              </a:spcAft>
              <a:buClr>
                <a:srgbClr val="D75BE2"/>
              </a:buClr>
              <a:buSzPts val="2900"/>
              <a:buFont typeface="Rubik"/>
              <a:buNone/>
            </a:pPr>
            <a:r>
              <a:rPr b="0" i="0" lang="en-US" sz="2900" u="none" cap="none" strike="noStrike">
                <a:solidFill>
                  <a:srgbClr val="D75BE2"/>
                </a:solidFill>
                <a:latin typeface="Rubik"/>
                <a:ea typeface="Rubik"/>
                <a:cs typeface="Rubik"/>
                <a:sym typeface="Rubik"/>
              </a:rPr>
              <a:t>Real-World Bug Stories</a:t>
            </a:r>
            <a:endParaRPr b="0" i="0" sz="2900" u="none" cap="none" strike="noStrike"/>
          </a:p>
        </p:txBody>
      </p:sp>
      <p:sp>
        <p:nvSpPr>
          <p:cNvPr id="119" name="Google Shape;119;p21"/>
          <p:cNvSpPr/>
          <p:nvPr/>
        </p:nvSpPr>
        <p:spPr>
          <a:xfrm>
            <a:off x="793790" y="1234202"/>
            <a:ext cx="13042821" cy="238125"/>
          </a:xfrm>
          <a:prstGeom prst="rect">
            <a:avLst/>
          </a:prstGeom>
          <a:noFill/>
          <a:ln>
            <a:noFill/>
          </a:ln>
        </p:spPr>
        <p:txBody>
          <a:bodyPr anchorCtr="0" anchor="t" bIns="0" lIns="0" spcFirstLastPara="1" rIns="0" wrap="square" tIns="0">
            <a:noAutofit/>
          </a:bodyPr>
          <a:lstStyle/>
          <a:p>
            <a:pPr indent="0" lvl="0" marL="0" marR="0" rtl="1" algn="r">
              <a:lnSpc>
                <a:spcPct val="160869"/>
              </a:lnSpc>
              <a:spcBef>
                <a:spcPts val="0"/>
              </a:spcBef>
              <a:spcAft>
                <a:spcPts val="0"/>
              </a:spcAft>
              <a:buClr>
                <a:srgbClr val="D75BE2"/>
              </a:buClr>
              <a:buSzPts val="1150"/>
              <a:buFont typeface="Open Sans"/>
              <a:buNone/>
            </a:pPr>
            <a:r>
              <a:rPr b="0" i="0" lang="en-US" sz="1150" u="sng" cap="none" strike="noStrike">
                <a:solidFill>
                  <a:schemeClr val="hlink"/>
                </a:solidFill>
                <a:latin typeface="Open Sans"/>
                <a:ea typeface="Open Sans"/>
                <a:cs typeface="Open Sans"/>
                <a:sym typeface="Open Sans"/>
                <a:hlinkClick r:id="rId3"/>
              </a:rPr>
              <a:t>פוסט </a:t>
            </a:r>
            <a:r>
              <a:rPr b="0" i="0" lang="en-US" sz="1150" u="none" cap="none" strike="noStrike">
                <a:solidFill>
                  <a:srgbClr val="272525"/>
                </a:solidFill>
                <a:latin typeface="Open Sans"/>
                <a:ea typeface="Open Sans"/>
                <a:cs typeface="Open Sans"/>
                <a:sym typeface="Open Sans"/>
              </a:rPr>
              <a:t>של מפתח בלינקדין כשהוא התנסה בפלטפורמת vibe coding </a:t>
            </a:r>
            <a:endParaRPr b="0" i="0" sz="1150" u="none" cap="none" strike="noStrike"/>
          </a:p>
        </p:txBody>
      </p:sp>
      <p:sp>
        <p:nvSpPr>
          <p:cNvPr id="120" name="Google Shape;120;p21"/>
          <p:cNvSpPr/>
          <p:nvPr/>
        </p:nvSpPr>
        <p:spPr>
          <a:xfrm>
            <a:off x="793790" y="1639729"/>
            <a:ext cx="13042821" cy="5478304"/>
          </a:xfrm>
          <a:prstGeom prst="roundRect">
            <a:avLst>
              <a:gd fmla="val 1141" name="adj"/>
            </a:avLst>
          </a:prstGeom>
          <a:noFill/>
          <a:ln cap="flat" cmpd="sng" w="9525">
            <a:solidFill>
              <a:srgbClr val="00000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1"/>
          <p:cNvSpPr/>
          <p:nvPr/>
        </p:nvSpPr>
        <p:spPr>
          <a:xfrm>
            <a:off x="801410" y="1647349"/>
            <a:ext cx="13027581" cy="5463064"/>
          </a:xfrm>
          <a:prstGeom prst="rect">
            <a:avLst/>
          </a:prstGeom>
          <a:solidFill>
            <a:srgbClr val="FFFFFF">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1"/>
          <p:cNvSpPr/>
          <p:nvPr/>
        </p:nvSpPr>
        <p:spPr>
          <a:xfrm>
            <a:off x="950238" y="1744266"/>
            <a:ext cx="6212324" cy="1905000"/>
          </a:xfrm>
          <a:prstGeom prst="rect">
            <a:avLst/>
          </a:prstGeom>
          <a:noFill/>
          <a:ln>
            <a:noFill/>
          </a:ln>
        </p:spPr>
        <p:txBody>
          <a:bodyPr anchorCtr="0" anchor="t" bIns="0" lIns="0" spcFirstLastPara="1" rIns="0" wrap="square" tIns="0">
            <a:noAutofit/>
          </a:bodyPr>
          <a:lstStyle/>
          <a:p>
            <a:pPr indent="0" lvl="0" marL="0" marR="0" rtl="1" algn="r">
              <a:lnSpc>
                <a:spcPct val="160869"/>
              </a:lnSpc>
              <a:spcBef>
                <a:spcPts val="0"/>
              </a:spcBef>
              <a:spcAft>
                <a:spcPts val="0"/>
              </a:spcAft>
              <a:buClr>
                <a:srgbClr val="272525"/>
              </a:buClr>
              <a:buSzPts val="1150"/>
              <a:buFont typeface="Open Sans"/>
              <a:buNone/>
            </a:pPr>
            <a:r>
              <a:rPr b="0" i="0" lang="en-US" sz="1150" u="none" cap="none" strike="noStrike">
                <a:solidFill>
                  <a:srgbClr val="272525"/>
                </a:solidFill>
                <a:latin typeface="Open Sans"/>
                <a:ea typeface="Open Sans"/>
                <a:cs typeface="Open Sans"/>
                <a:sym typeface="Open Sans"/>
              </a:rPr>
              <a:t>הפתרון? להעתיק את כל הלוגיקה לבקאנדאבל פה קבור הכלב – הפלטפורמה שבניתי בה את האתר בכלל לא תומכת בזהוהאפליקציה? בשלב זה אחרי הרבה פידבקים מיוזרים כבר לא "One Pager"יש בה כמה זרימות, לוגיקה מוצרית מתוחכמת, וכמות הטוקנים שהייתי צריך עבור כל שינוי קטן התחילה לחנוק את הכלכנראה שמנוע ה-LLM שם פשוט לא הצליח לעכל את כל Context Window של עשרות קבצים שונים – וכל Prompt לשינוי ועדכון המוצר עלה הון תועפותאז נכון, האפליקציה "עבדה" – אבל מבחינת סקיוריטי? זה היה דמו עם חור שחור באמצע</a:t>
            </a:r>
            <a:endParaRPr b="0" i="0" sz="1150" u="none" cap="none" strike="noStrike"/>
          </a:p>
        </p:txBody>
      </p:sp>
      <p:sp>
        <p:nvSpPr>
          <p:cNvPr id="123" name="Google Shape;123;p21"/>
          <p:cNvSpPr/>
          <p:nvPr/>
        </p:nvSpPr>
        <p:spPr>
          <a:xfrm>
            <a:off x="950238" y="3738563"/>
            <a:ext cx="6212324" cy="1190625"/>
          </a:xfrm>
          <a:prstGeom prst="rect">
            <a:avLst/>
          </a:prstGeom>
          <a:noFill/>
          <a:ln>
            <a:noFill/>
          </a:ln>
        </p:spPr>
        <p:txBody>
          <a:bodyPr anchorCtr="0" anchor="t" bIns="0" lIns="0" spcFirstLastPara="1" rIns="0" wrap="square" tIns="0">
            <a:noAutofit/>
          </a:bodyPr>
          <a:lstStyle/>
          <a:p>
            <a:pPr indent="0" lvl="0" marL="0" marR="0" rtl="1" algn="r">
              <a:lnSpc>
                <a:spcPct val="160869"/>
              </a:lnSpc>
              <a:spcBef>
                <a:spcPts val="0"/>
              </a:spcBef>
              <a:spcAft>
                <a:spcPts val="0"/>
              </a:spcAft>
              <a:buClr>
                <a:srgbClr val="272525"/>
              </a:buClr>
              <a:buSzPts val="1150"/>
              <a:buFont typeface="Open Sans"/>
              <a:buNone/>
            </a:pPr>
            <a:r>
              <a:rPr b="0" i="0" lang="en-US" sz="1150" u="none" cap="none" strike="noStrike">
                <a:solidFill>
                  <a:srgbClr val="272525"/>
                </a:solidFill>
                <a:latin typeface="Open Sans"/>
                <a:ea typeface="Open Sans"/>
                <a:cs typeface="Open Sans"/>
                <a:sym typeface="Open Sans"/>
              </a:rPr>
              <a:t>וכאן, אם לא הייתי מפתח בעצמי, כנראה שהייתי נתקעועומד למעשה בפני שלוש אופציות:- לשכור מפתח- להסיר את האפליקציה- להשאיר אותה באוויר ולהמתין להתקפה</a:t>
            </a:r>
            <a:endParaRPr b="0" i="0" sz="1150" u="none" cap="none" strike="noStrike"/>
          </a:p>
        </p:txBody>
      </p:sp>
      <p:sp>
        <p:nvSpPr>
          <p:cNvPr id="124" name="Google Shape;124;p21"/>
          <p:cNvSpPr/>
          <p:nvPr/>
        </p:nvSpPr>
        <p:spPr>
          <a:xfrm>
            <a:off x="7467838" y="1744266"/>
            <a:ext cx="6212324" cy="5269230"/>
          </a:xfrm>
          <a:prstGeom prst="rect">
            <a:avLst/>
          </a:prstGeom>
          <a:noFill/>
          <a:ln>
            <a:noFill/>
          </a:ln>
        </p:spPr>
        <p:txBody>
          <a:bodyPr anchorCtr="0" anchor="t" bIns="0" lIns="0" spcFirstLastPara="1" rIns="0" wrap="square" tIns="0">
            <a:noAutofit/>
          </a:bodyPr>
          <a:lstStyle/>
          <a:p>
            <a:pPr indent="0" lvl="0" marL="0" marR="0" rtl="1" algn="r">
              <a:lnSpc>
                <a:spcPct val="160869"/>
              </a:lnSpc>
              <a:spcBef>
                <a:spcPts val="0"/>
              </a:spcBef>
              <a:spcAft>
                <a:spcPts val="0"/>
              </a:spcAft>
              <a:buClr>
                <a:srgbClr val="272525"/>
              </a:buClr>
              <a:buSzPts val="1150"/>
              <a:buFont typeface="Open Sans"/>
              <a:buNone/>
            </a:pPr>
            <a:r>
              <a:rPr b="0" i="0" lang="en-US" sz="1150" u="none" cap="none" strike="noStrike">
                <a:solidFill>
                  <a:srgbClr val="272525"/>
                </a:solidFill>
                <a:latin typeface="Open Sans"/>
                <a:ea typeface="Open Sans"/>
                <a:cs typeface="Open Sans"/>
                <a:sym typeface="Open Sans"/>
              </a:rPr>
              <a:t>הקוד זרם, הוויב היה טוב, אפליקצית ה Vibe Coding עלתה לאויר — ואז התחילו ההפתעות והבעיות </a:t>
            </a:r>
            <a:r>
              <a:rPr b="0" i="0" lang="en-US" sz="1150" u="none" cap="none" strike="noStrike">
                <a:solidFill>
                  <a:srgbClr val="000000"/>
                </a:solidFill>
                <a:latin typeface="Open Sans"/>
                <a:ea typeface="Open Sans"/>
                <a:cs typeface="Open Sans"/>
                <a:sym typeface="Open Sans"/>
              </a:rPr>
              <a:t>😮</a:t>
            </a:r>
            <a:r>
              <a:rPr b="0" i="0" lang="en-US" sz="1150" u="none" cap="none" strike="noStrike">
                <a:solidFill>
                  <a:srgbClr val="272525"/>
                </a:solidFill>
                <a:latin typeface="Open Sans"/>
                <a:ea typeface="Open Sans"/>
                <a:cs typeface="Open Sans"/>
                <a:sym typeface="Open Sans"/>
              </a:rPr>
              <a:t>מדובר באפליקציה שהיא למעשה עטיפת UI מעל LLM לניתוח קו״ח של היי טקבניתי אותה בכמה שעות עבודה של פרומפטים כפרוייקט תחביב, היה כיף, לחצתי פליי, עשיתי דיפלויי, השקה, היוזרים היו מבסוטים ואז..בום</a:t>
            </a:r>
            <a:r>
              <a:rPr b="0" i="0" lang="en-US" sz="1150" u="none" cap="none" strike="noStrike">
                <a:solidFill>
                  <a:srgbClr val="000000"/>
                </a:solidFill>
                <a:latin typeface="Open Sans"/>
                <a:ea typeface="Open Sans"/>
                <a:cs typeface="Open Sans"/>
                <a:sym typeface="Open Sans"/>
              </a:rPr>
              <a:t>📍</a:t>
            </a:r>
            <a:r>
              <a:rPr b="0" i="0" lang="en-US" sz="1150" u="none" cap="none" strike="noStrike">
                <a:solidFill>
                  <a:srgbClr val="272525"/>
                </a:solidFill>
                <a:latin typeface="Open Sans"/>
                <a:ea typeface="Open Sans"/>
                <a:cs typeface="Open Sans"/>
                <a:sym typeface="Open Sans"/>
              </a:rPr>
              <a:t>דבר ראשון? גיליתי שכל פנייה מאפליקציה ל LLM חושפת את ה-System Prompt של ה-AI, שזה למעשה כל הערך המוסף האמיתי של האתרכל אחד היה יכול פשוט לפתוח את לשונית ה Network, להעתיק את ה-Prompt ולהריץ את זה בעצמו ב GPTאבל זה לא נעצר שם…</a:t>
            </a:r>
            <a:r>
              <a:rPr b="0" i="0" lang="en-US" sz="1150" u="none" cap="none" strike="noStrike">
                <a:solidFill>
                  <a:srgbClr val="000000"/>
                </a:solidFill>
                <a:latin typeface="Open Sans"/>
                <a:ea typeface="Open Sans"/>
                <a:cs typeface="Open Sans"/>
                <a:sym typeface="Open Sans"/>
              </a:rPr>
              <a:t>📍</a:t>
            </a:r>
            <a:r>
              <a:rPr b="0" i="0" lang="en-US" sz="1150" u="none" cap="none" strike="noStrike">
                <a:solidFill>
                  <a:srgbClr val="272525"/>
                </a:solidFill>
                <a:latin typeface="Open Sans"/>
                <a:ea typeface="Open Sans"/>
                <a:cs typeface="Open Sans"/>
                <a:sym typeface="Open Sans"/>
              </a:rPr>
              <a:t>הבא בתור: API Keys גם נחשפים בטאב של ה-Networkמי ששם לב - היה יכל לקחת לי את הגישה ל-OpenAI, הדאטהבייס, המיילים – הכלוהכי כואב, לרוקן לי את כל הקרדטים. כאילו שבניתי כספת יפיפיה ומעוצבת היטב – ונתתי לכולם את המפתח אליהתחשבו רגע: האקר משועמם, חצי שעה של עבודה – ואני בלי קרדיטים ל-AI, בלי דאטה, ובלי אווירלמה זה קורה?כי ברוב פלטפורמות ה Vibe Coding כל הלוגיקה יושבת בפרונטכולל סודות כמו Secret Keys, API Keys, סיסמאות, System Prompts מיילים ועוד </a:t>
            </a:r>
            <a:r>
              <a:rPr b="0" i="0" lang="en-US" sz="1150" u="none" cap="none" strike="noStrike">
                <a:solidFill>
                  <a:srgbClr val="000000"/>
                </a:solidFill>
                <a:latin typeface="Open Sans"/>
                <a:ea typeface="Open Sans"/>
                <a:cs typeface="Open Sans"/>
                <a:sym typeface="Open Sans"/>
              </a:rPr>
              <a:t>🫣</a:t>
            </a:r>
            <a:r>
              <a:rPr b="0" i="0" lang="en-US" sz="1150" u="none" cap="none" strike="noStrike">
                <a:solidFill>
                  <a:srgbClr val="272525"/>
                </a:solidFill>
                <a:latin typeface="Open Sans"/>
                <a:ea typeface="Open Sans"/>
                <a:cs typeface="Open Sans"/>
                <a:sym typeface="Open Sans"/>
              </a:rPr>
              <a:t>וזה, בגדול – מתכון לצרות שאם CISO היה שומע עליו הוא היה מנתק את התקע ומהשקע מבעוד מועד</a:t>
            </a:r>
            <a:endParaRPr b="0" i="0" sz="11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p:nvPr/>
        </p:nvSpPr>
        <p:spPr>
          <a:xfrm>
            <a:off x="793790" y="545783"/>
            <a:ext cx="4938593" cy="558165"/>
          </a:xfrm>
          <a:prstGeom prst="rect">
            <a:avLst/>
          </a:prstGeom>
          <a:noFill/>
          <a:ln>
            <a:noFill/>
          </a:ln>
        </p:spPr>
        <p:txBody>
          <a:bodyPr anchorCtr="0" anchor="t" bIns="0" lIns="0" spcFirstLastPara="1" rIns="0" wrap="square" tIns="0">
            <a:noAutofit/>
          </a:bodyPr>
          <a:lstStyle/>
          <a:p>
            <a:pPr indent="0" lvl="0" marL="0" marR="0" rtl="0" algn="l">
              <a:lnSpc>
                <a:spcPct val="124285"/>
              </a:lnSpc>
              <a:spcBef>
                <a:spcPts val="0"/>
              </a:spcBef>
              <a:spcAft>
                <a:spcPts val="0"/>
              </a:spcAft>
              <a:buClr>
                <a:srgbClr val="D75BE2"/>
              </a:buClr>
              <a:buSzPts val="3500"/>
              <a:buFont typeface="Rubik"/>
              <a:buNone/>
            </a:pPr>
            <a:r>
              <a:rPr b="0" i="0" lang="en-US" sz="3500" u="none" cap="none" strike="noStrike">
                <a:solidFill>
                  <a:srgbClr val="D75BE2"/>
                </a:solidFill>
                <a:latin typeface="Rubik"/>
                <a:ea typeface="Rubik"/>
                <a:cs typeface="Rubik"/>
                <a:sym typeface="Rubik"/>
              </a:rPr>
              <a:t>Real-World Bug Stories</a:t>
            </a:r>
            <a:endParaRPr b="0" i="0" sz="3500" u="none" cap="none" strike="noStrike"/>
          </a:p>
        </p:txBody>
      </p:sp>
      <p:sp>
        <p:nvSpPr>
          <p:cNvPr id="131" name="Google Shape;131;p22"/>
          <p:cNvSpPr/>
          <p:nvPr/>
        </p:nvSpPr>
        <p:spPr>
          <a:xfrm>
            <a:off x="793790" y="1371838"/>
            <a:ext cx="13042821" cy="5982652"/>
          </a:xfrm>
          <a:prstGeom prst="roundRect">
            <a:avLst>
              <a:gd fmla="val 1254" name="adj"/>
            </a:avLst>
          </a:prstGeom>
          <a:noFill/>
          <a:ln cap="flat" cmpd="sng" w="9525">
            <a:solidFill>
              <a:srgbClr val="00000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2"/>
          <p:cNvSpPr/>
          <p:nvPr/>
        </p:nvSpPr>
        <p:spPr>
          <a:xfrm>
            <a:off x="801410" y="1379458"/>
            <a:ext cx="13027581" cy="5967413"/>
          </a:xfrm>
          <a:prstGeom prst="rect">
            <a:avLst/>
          </a:prstGeom>
          <a:solidFill>
            <a:srgbClr val="FFFFFF">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2"/>
          <p:cNvSpPr/>
          <p:nvPr/>
        </p:nvSpPr>
        <p:spPr>
          <a:xfrm>
            <a:off x="980003" y="1494234"/>
            <a:ext cx="6152793" cy="3729990"/>
          </a:xfrm>
          <a:prstGeom prst="rect">
            <a:avLst/>
          </a:prstGeom>
          <a:noFill/>
          <a:ln>
            <a:noFill/>
          </a:ln>
        </p:spPr>
        <p:txBody>
          <a:bodyPr anchorCtr="0" anchor="t" bIns="0" lIns="0" spcFirstLastPara="1" rIns="0" wrap="square" tIns="0">
            <a:noAutofit/>
          </a:bodyPr>
          <a:lstStyle/>
          <a:p>
            <a:pPr indent="0" lvl="0" marL="0" marR="0" rtl="1" algn="r">
              <a:lnSpc>
                <a:spcPct val="160714"/>
              </a:lnSpc>
              <a:spcBef>
                <a:spcPts val="0"/>
              </a:spcBef>
              <a:spcAft>
                <a:spcPts val="0"/>
              </a:spcAft>
              <a:buClr>
                <a:srgbClr val="272525"/>
              </a:buClr>
              <a:buSzPts val="1400"/>
              <a:buFont typeface="Open Sans"/>
              <a:buNone/>
            </a:pPr>
            <a:r>
              <a:rPr b="0" i="0" lang="en-US" sz="1400" u="none" cap="none" strike="noStrike">
                <a:solidFill>
                  <a:srgbClr val="272525"/>
                </a:solidFill>
                <a:latin typeface="Open Sans"/>
                <a:ea typeface="Open Sans"/>
                <a:cs typeface="Open Sans"/>
                <a:sym typeface="Open Sans"/>
              </a:rPr>
              <a:t>המסקנות שלי?</a:t>
            </a:r>
            <a:r>
              <a:rPr b="0" i="0" lang="en-US" sz="1400" u="none" cap="none" strike="noStrike">
                <a:solidFill>
                  <a:srgbClr val="000000"/>
                </a:solidFill>
                <a:latin typeface="Open Sans"/>
                <a:ea typeface="Open Sans"/>
                <a:cs typeface="Open Sans"/>
                <a:sym typeface="Open Sans"/>
              </a:rPr>
              <a:t>🎯</a:t>
            </a:r>
            <a:r>
              <a:rPr b="0" i="0" lang="en-US" sz="1400" u="none" cap="none" strike="noStrike">
                <a:solidFill>
                  <a:srgbClr val="272525"/>
                </a:solidFill>
                <a:latin typeface="Open Sans"/>
                <a:ea typeface="Open Sans"/>
                <a:cs typeface="Open Sans"/>
                <a:sym typeface="Open Sans"/>
              </a:rPr>
              <a:t> ש Vibe Coding מעולה להרים רעיון, לבנות דמו או להדליק את הניצוץ</a:t>
            </a:r>
            <a:r>
              <a:rPr b="0" i="0" lang="en-US" sz="1400" u="none" cap="none" strike="noStrike">
                <a:solidFill>
                  <a:srgbClr val="000000"/>
                </a:solidFill>
                <a:latin typeface="Open Sans"/>
                <a:ea typeface="Open Sans"/>
                <a:cs typeface="Open Sans"/>
                <a:sym typeface="Open Sans"/>
              </a:rPr>
              <a:t>👎</a:t>
            </a:r>
            <a:r>
              <a:rPr b="0" i="0" lang="en-US" sz="1400" u="none" cap="none" strike="noStrike">
                <a:solidFill>
                  <a:srgbClr val="272525"/>
                </a:solidFill>
                <a:latin typeface="Open Sans"/>
                <a:ea typeface="Open Sans"/>
                <a:cs typeface="Open Sans"/>
                <a:sym typeface="Open Sans"/>
              </a:rPr>
              <a:t> אבל אם אתם בונים מוצר אמיתי – זה לא מספיקלהבשיל אפליקציה מסובכת לכדי Production שתומך בסקייל ואבטחת מידע צריך תשתיות אמיתיות וארכיטקטורה תומכתהיה לי אחלה וייב לעשות Vibe Coding אבל אל תטעו:כשמגיעים למאני טיים ורוצים לבנות אפליקציה שהיא Production Grade רוב הפלטפורמות עדיין לא תומכות בזה</a:t>
            </a:r>
            <a:endParaRPr b="0" i="0" sz="1400" u="none" cap="none" strike="noStrike"/>
          </a:p>
        </p:txBody>
      </p:sp>
      <p:sp>
        <p:nvSpPr>
          <p:cNvPr id="134" name="Google Shape;134;p22"/>
          <p:cNvSpPr/>
          <p:nvPr/>
        </p:nvSpPr>
        <p:spPr>
          <a:xfrm>
            <a:off x="7497604" y="1494234"/>
            <a:ext cx="6152793" cy="5737860"/>
          </a:xfrm>
          <a:prstGeom prst="rect">
            <a:avLst/>
          </a:prstGeom>
          <a:noFill/>
          <a:ln>
            <a:noFill/>
          </a:ln>
        </p:spPr>
        <p:txBody>
          <a:bodyPr anchorCtr="0" anchor="t" bIns="0" lIns="0" spcFirstLastPara="1" rIns="0" wrap="square" tIns="0">
            <a:noAutofit/>
          </a:bodyPr>
          <a:lstStyle/>
          <a:p>
            <a:pPr indent="0" lvl="0" marL="0" marR="0" rtl="1" algn="r">
              <a:lnSpc>
                <a:spcPct val="160714"/>
              </a:lnSpc>
              <a:spcBef>
                <a:spcPts val="0"/>
              </a:spcBef>
              <a:spcAft>
                <a:spcPts val="0"/>
              </a:spcAft>
              <a:buClr>
                <a:srgbClr val="272525"/>
              </a:buClr>
              <a:buSzPts val="1400"/>
              <a:buFont typeface="Open Sans"/>
              <a:buNone/>
            </a:pPr>
            <a:r>
              <a:rPr b="0" i="0" lang="en-US" sz="1400" u="none" cap="none" strike="noStrike">
                <a:solidFill>
                  <a:srgbClr val="272525"/>
                </a:solidFill>
                <a:latin typeface="Open Sans"/>
                <a:ea typeface="Open Sans"/>
                <a:cs typeface="Open Sans"/>
                <a:sym typeface="Open Sans"/>
              </a:rPr>
              <a:t>בחרתי באופציה הראשונה: לשכור מפתח (את עצמי)</a:t>
            </a:r>
            <a:r>
              <a:rPr b="0" i="0" lang="en-US" sz="1400" u="none" cap="none" strike="noStrike">
                <a:solidFill>
                  <a:srgbClr val="000000"/>
                </a:solidFill>
                <a:latin typeface="Open Sans"/>
                <a:ea typeface="Open Sans"/>
                <a:cs typeface="Open Sans"/>
                <a:sym typeface="Open Sans"/>
              </a:rPr>
              <a:t>⬅️</a:t>
            </a:r>
            <a:r>
              <a:rPr b="0" i="0" lang="en-US" sz="1400" u="none" cap="none" strike="noStrike">
                <a:solidFill>
                  <a:srgbClr val="272525"/>
                </a:solidFill>
                <a:latin typeface="Open Sans"/>
                <a:ea typeface="Open Sans"/>
                <a:cs typeface="Open Sans"/>
                <a:sym typeface="Open Sans"/>
              </a:rPr>
              <a:t> התחלתי להעתיק את כל הלוגיקה ל-Serverless Functions. לא נתמך – אבל חיוני</a:t>
            </a:r>
            <a:r>
              <a:rPr b="0" i="0" lang="en-US" sz="1400" u="none" cap="none" strike="noStrike">
                <a:solidFill>
                  <a:srgbClr val="000000"/>
                </a:solidFill>
                <a:latin typeface="Open Sans"/>
                <a:ea typeface="Open Sans"/>
                <a:cs typeface="Open Sans"/>
                <a:sym typeface="Open Sans"/>
              </a:rPr>
              <a:t>⬅️</a:t>
            </a:r>
            <a:r>
              <a:rPr b="0" i="0" lang="en-US" sz="1400" u="none" cap="none" strike="noStrike">
                <a:solidFill>
                  <a:srgbClr val="272525"/>
                </a:solidFill>
                <a:latin typeface="Open Sans"/>
                <a:ea typeface="Open Sans"/>
                <a:cs typeface="Open Sans"/>
                <a:sym typeface="Open Sans"/>
              </a:rPr>
              <a:t> עדיין השתמשתי ב-LLMs פה ושם - המלצות לקטעי קוד, טיפים וכו’ - אבל בסוף? זה היה עלייהמשכתי ואז - בעיה חדשה:</a:t>
            </a:r>
            <a:r>
              <a:rPr b="0" i="0" lang="en-US" sz="1400" u="none" cap="none" strike="noStrike">
                <a:solidFill>
                  <a:srgbClr val="000000"/>
                </a:solidFill>
                <a:latin typeface="Open Sans"/>
                <a:ea typeface="Open Sans"/>
                <a:cs typeface="Open Sans"/>
                <a:sym typeface="Open Sans"/>
              </a:rPr>
              <a:t>📍</a:t>
            </a:r>
            <a:r>
              <a:rPr b="0" i="0" lang="en-US" sz="1400" u="none" cap="none" strike="noStrike">
                <a:solidFill>
                  <a:srgbClr val="272525"/>
                </a:solidFill>
                <a:latin typeface="Open Sans"/>
                <a:ea typeface="Open Sans"/>
                <a:cs typeface="Open Sans"/>
                <a:sym typeface="Open Sans"/>
              </a:rPr>
              <a:t> הפלטפורמה ששימשה אותי לדיפלוי הגבילה כל פונקצית בקאנד ל-30 שניותאבל בקשות ל-ChatGPT לפעמים לוקחות יותר זמן. התוצאה? זרימה שבורה, חוויית משתמש גרועההפתרון? לעבור לפלטפורמת ענן חדשה שתומכת בזמן ריצה ארוך יותרהדבר הזה אילץ אותי להתחיל לעבוד לוקאלית, לשלב Git, לעקוב בעצמי אחרי פונקציות שרצות בשרת באמצעות Logging ו Monitoringבקיצור, זה כבר לא היה בוויב טוב - זה היה פשוט דבלופמנט על מלא</a:t>
            </a:r>
            <a:endParaRPr b="0" i="0" sz="140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p:nvPr/>
        </p:nvSpPr>
        <p:spPr>
          <a:xfrm>
            <a:off x="793790" y="545783"/>
            <a:ext cx="12882682"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Danger Zone: Exposed APIs, Payments &amp; Data Storage</a:t>
            </a:r>
            <a:endParaRPr b="0" i="0" sz="3900" u="none" cap="none" strike="noStrike"/>
          </a:p>
        </p:txBody>
      </p:sp>
      <p:sp>
        <p:nvSpPr>
          <p:cNvPr id="141" name="Google Shape;141;p23"/>
          <p:cNvSpPr/>
          <p:nvPr/>
        </p:nvSpPr>
        <p:spPr>
          <a:xfrm>
            <a:off x="793790" y="1463516"/>
            <a:ext cx="446484" cy="446484"/>
          </a:xfrm>
          <a:prstGeom prst="roundRect">
            <a:avLst>
              <a:gd fmla="val 1867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2" name="Google Shape;142;p23"/>
          <p:cNvPicPr preferRelativeResize="0"/>
          <p:nvPr/>
        </p:nvPicPr>
        <p:blipFill rotWithShape="1">
          <a:blip r:embed="rId3">
            <a:alphaModFix/>
          </a:blip>
          <a:srcRect b="0" l="0" r="0" t="0"/>
          <a:stretch/>
        </p:blipFill>
        <p:spPr>
          <a:xfrm>
            <a:off x="868204" y="1500723"/>
            <a:ext cx="297656" cy="372070"/>
          </a:xfrm>
          <a:prstGeom prst="rect">
            <a:avLst/>
          </a:prstGeom>
          <a:noFill/>
          <a:ln>
            <a:noFill/>
          </a:ln>
        </p:spPr>
      </p:pic>
      <p:sp>
        <p:nvSpPr>
          <p:cNvPr id="143" name="Google Shape;143;p23"/>
          <p:cNvSpPr/>
          <p:nvPr/>
        </p:nvSpPr>
        <p:spPr>
          <a:xfrm>
            <a:off x="1438632" y="1531739"/>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Payment Illusions</a:t>
            </a:r>
            <a:endParaRPr b="0" i="0" sz="1950" u="none" cap="none" strike="noStrike"/>
          </a:p>
        </p:txBody>
      </p:sp>
      <p:sp>
        <p:nvSpPr>
          <p:cNvPr id="144" name="Google Shape;144;p23"/>
          <p:cNvSpPr/>
          <p:nvPr/>
        </p:nvSpPr>
        <p:spPr>
          <a:xfrm>
            <a:off x="1438632" y="1960959"/>
            <a:ext cx="5752505"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The illusion of working Stripe integration when backend processes are missing</a:t>
            </a:r>
            <a:endParaRPr b="0" i="0" sz="1550" u="none" cap="none" strike="noStrike"/>
          </a:p>
        </p:txBody>
      </p:sp>
      <p:sp>
        <p:nvSpPr>
          <p:cNvPr id="145" name="Google Shape;145;p23"/>
          <p:cNvSpPr/>
          <p:nvPr/>
        </p:nvSpPr>
        <p:spPr>
          <a:xfrm>
            <a:off x="1438632" y="2715101"/>
            <a:ext cx="5752505"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Test mode vs. live mode confusion</a:t>
            </a:r>
            <a:endParaRPr b="0" i="0" sz="1550" u="none" cap="none" strike="noStrike"/>
          </a:p>
        </p:txBody>
      </p:sp>
      <p:sp>
        <p:nvSpPr>
          <p:cNvPr id="146" name="Google Shape;146;p23"/>
          <p:cNvSpPr/>
          <p:nvPr/>
        </p:nvSpPr>
        <p:spPr>
          <a:xfrm>
            <a:off x="1438632" y="3102054"/>
            <a:ext cx="5752505"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Missing webhook configurations</a:t>
            </a:r>
            <a:endParaRPr b="0" i="0" sz="1550" u="none" cap="none" strike="noStrike"/>
          </a:p>
        </p:txBody>
      </p:sp>
      <p:sp>
        <p:nvSpPr>
          <p:cNvPr id="147" name="Google Shape;147;p23"/>
          <p:cNvSpPr/>
          <p:nvPr/>
        </p:nvSpPr>
        <p:spPr>
          <a:xfrm>
            <a:off x="1438632" y="3489008"/>
            <a:ext cx="5752505"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Incomplete payment flows</a:t>
            </a:r>
            <a:endParaRPr b="0" i="0" sz="1550" u="none" cap="none" strike="noStrike"/>
          </a:p>
        </p:txBody>
      </p:sp>
      <p:sp>
        <p:nvSpPr>
          <p:cNvPr id="148" name="Google Shape;148;p23"/>
          <p:cNvSpPr/>
          <p:nvPr/>
        </p:nvSpPr>
        <p:spPr>
          <a:xfrm>
            <a:off x="7439144" y="1463516"/>
            <a:ext cx="446484" cy="446484"/>
          </a:xfrm>
          <a:prstGeom prst="roundRect">
            <a:avLst>
              <a:gd fmla="val 1867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9" name="Google Shape;149;p23"/>
          <p:cNvPicPr preferRelativeResize="0"/>
          <p:nvPr/>
        </p:nvPicPr>
        <p:blipFill rotWithShape="1">
          <a:blip r:embed="rId4">
            <a:alphaModFix/>
          </a:blip>
          <a:srcRect b="0" l="0" r="0" t="0"/>
          <a:stretch/>
        </p:blipFill>
        <p:spPr>
          <a:xfrm>
            <a:off x="7513558" y="1500723"/>
            <a:ext cx="297656" cy="372070"/>
          </a:xfrm>
          <a:prstGeom prst="rect">
            <a:avLst/>
          </a:prstGeom>
          <a:noFill/>
          <a:ln>
            <a:noFill/>
          </a:ln>
        </p:spPr>
      </p:pic>
      <p:sp>
        <p:nvSpPr>
          <p:cNvPr id="150" name="Google Shape;150;p23"/>
          <p:cNvSpPr/>
          <p:nvPr/>
        </p:nvSpPr>
        <p:spPr>
          <a:xfrm>
            <a:off x="8083987" y="1531739"/>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Vanishing Data</a:t>
            </a:r>
            <a:endParaRPr b="0" i="0" sz="1950" u="none" cap="none" strike="noStrike"/>
          </a:p>
        </p:txBody>
      </p:sp>
      <p:sp>
        <p:nvSpPr>
          <p:cNvPr id="151" name="Google Shape;151;p23"/>
          <p:cNvSpPr/>
          <p:nvPr/>
        </p:nvSpPr>
        <p:spPr>
          <a:xfrm>
            <a:off x="8083987" y="1960959"/>
            <a:ext cx="5752624"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Forms that "submit" but save nothing to your database</a:t>
            </a:r>
            <a:endParaRPr b="0" i="0" sz="1550" u="none" cap="none" strike="noStrike"/>
          </a:p>
        </p:txBody>
      </p:sp>
      <p:sp>
        <p:nvSpPr>
          <p:cNvPr id="152" name="Google Shape;152;p23"/>
          <p:cNvSpPr/>
          <p:nvPr/>
        </p:nvSpPr>
        <p:spPr>
          <a:xfrm>
            <a:off x="8083987" y="2397562"/>
            <a:ext cx="5752624"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Missing Supabase table connections</a:t>
            </a:r>
            <a:endParaRPr b="0" i="0" sz="1550" u="none" cap="none" strike="noStrike"/>
          </a:p>
        </p:txBody>
      </p:sp>
      <p:sp>
        <p:nvSpPr>
          <p:cNvPr id="153" name="Google Shape;153;p23"/>
          <p:cNvSpPr/>
          <p:nvPr/>
        </p:nvSpPr>
        <p:spPr>
          <a:xfrm>
            <a:off x="8083987" y="2784515"/>
            <a:ext cx="5752624"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Incorrect data types or constraints</a:t>
            </a:r>
            <a:endParaRPr b="0" i="0" sz="1550" u="none" cap="none" strike="noStrike"/>
          </a:p>
        </p:txBody>
      </p:sp>
      <p:sp>
        <p:nvSpPr>
          <p:cNvPr id="154" name="Google Shape;154;p23"/>
          <p:cNvSpPr/>
          <p:nvPr/>
        </p:nvSpPr>
        <p:spPr>
          <a:xfrm>
            <a:off x="8083987" y="3171468"/>
            <a:ext cx="5752624"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No error handling for failed submissions</a:t>
            </a:r>
            <a:endParaRPr b="0" i="0" sz="1550" u="none" cap="none" strike="noStrike"/>
          </a:p>
        </p:txBody>
      </p:sp>
      <p:sp>
        <p:nvSpPr>
          <p:cNvPr id="155" name="Google Shape;155;p23"/>
          <p:cNvSpPr/>
          <p:nvPr/>
        </p:nvSpPr>
        <p:spPr>
          <a:xfrm>
            <a:off x="793790" y="4203383"/>
            <a:ext cx="446484" cy="446484"/>
          </a:xfrm>
          <a:prstGeom prst="roundRect">
            <a:avLst>
              <a:gd fmla="val 1867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6" name="Google Shape;156;p23"/>
          <p:cNvPicPr preferRelativeResize="0"/>
          <p:nvPr/>
        </p:nvPicPr>
        <p:blipFill rotWithShape="1">
          <a:blip r:embed="rId5">
            <a:alphaModFix/>
          </a:blip>
          <a:srcRect b="0" l="0" r="0" t="0"/>
          <a:stretch/>
        </p:blipFill>
        <p:spPr>
          <a:xfrm>
            <a:off x="868204" y="4240590"/>
            <a:ext cx="297656" cy="372070"/>
          </a:xfrm>
          <a:prstGeom prst="rect">
            <a:avLst/>
          </a:prstGeom>
          <a:noFill/>
          <a:ln>
            <a:noFill/>
          </a:ln>
        </p:spPr>
      </p:pic>
      <p:sp>
        <p:nvSpPr>
          <p:cNvPr id="157" name="Google Shape;157;p23"/>
          <p:cNvSpPr/>
          <p:nvPr/>
        </p:nvSpPr>
        <p:spPr>
          <a:xfrm>
            <a:off x="1438632" y="4271605"/>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Authentication Gaps</a:t>
            </a:r>
            <a:endParaRPr b="0" i="0" sz="1950" u="none" cap="none" strike="noStrike"/>
          </a:p>
        </p:txBody>
      </p:sp>
      <p:sp>
        <p:nvSpPr>
          <p:cNvPr id="158" name="Google Shape;158;p23"/>
          <p:cNvSpPr/>
          <p:nvPr/>
        </p:nvSpPr>
        <p:spPr>
          <a:xfrm>
            <a:off x="1438632" y="4700826"/>
            <a:ext cx="5752505"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Security issues that leave your app vulnerable</a:t>
            </a:r>
            <a:endParaRPr b="0" i="0" sz="1550" u="none" cap="none" strike="noStrike"/>
          </a:p>
        </p:txBody>
      </p:sp>
      <p:sp>
        <p:nvSpPr>
          <p:cNvPr id="159" name="Google Shape;159;p23"/>
          <p:cNvSpPr/>
          <p:nvPr/>
        </p:nvSpPr>
        <p:spPr>
          <a:xfrm>
            <a:off x="1438632" y="5137428"/>
            <a:ext cx="5752505"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Misconfigured Google Auth</a:t>
            </a:r>
            <a:endParaRPr b="0" i="0" sz="1550" u="none" cap="none" strike="noStrike"/>
          </a:p>
        </p:txBody>
      </p:sp>
      <p:sp>
        <p:nvSpPr>
          <p:cNvPr id="160" name="Google Shape;160;p23"/>
          <p:cNvSpPr/>
          <p:nvPr/>
        </p:nvSpPr>
        <p:spPr>
          <a:xfrm>
            <a:off x="1438632" y="5524381"/>
            <a:ext cx="5752505"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Incorrect Supabase roles and permissions</a:t>
            </a:r>
            <a:endParaRPr b="0" i="0" sz="1550" u="none" cap="none" strike="noStrike"/>
          </a:p>
        </p:txBody>
      </p:sp>
      <p:sp>
        <p:nvSpPr>
          <p:cNvPr id="161" name="Google Shape;161;p23"/>
          <p:cNvSpPr/>
          <p:nvPr/>
        </p:nvSpPr>
        <p:spPr>
          <a:xfrm>
            <a:off x="1438632" y="5911334"/>
            <a:ext cx="5752505"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Public access to private data</a:t>
            </a:r>
            <a:endParaRPr b="0" i="0" sz="1550" u="none" cap="none" strike="noStrike"/>
          </a:p>
        </p:txBody>
      </p:sp>
      <p:sp>
        <p:nvSpPr>
          <p:cNvPr id="162" name="Google Shape;162;p23"/>
          <p:cNvSpPr/>
          <p:nvPr/>
        </p:nvSpPr>
        <p:spPr>
          <a:xfrm>
            <a:off x="7439144" y="4203383"/>
            <a:ext cx="446484" cy="446484"/>
          </a:xfrm>
          <a:prstGeom prst="roundRect">
            <a:avLst>
              <a:gd fmla="val 1867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3" name="Google Shape;163;p23"/>
          <p:cNvPicPr preferRelativeResize="0"/>
          <p:nvPr/>
        </p:nvPicPr>
        <p:blipFill rotWithShape="1">
          <a:blip r:embed="rId6">
            <a:alphaModFix/>
          </a:blip>
          <a:srcRect b="0" l="0" r="0" t="0"/>
          <a:stretch/>
        </p:blipFill>
        <p:spPr>
          <a:xfrm>
            <a:off x="7513558" y="4240590"/>
            <a:ext cx="297656" cy="372070"/>
          </a:xfrm>
          <a:prstGeom prst="rect">
            <a:avLst/>
          </a:prstGeom>
          <a:noFill/>
          <a:ln>
            <a:noFill/>
          </a:ln>
        </p:spPr>
      </p:pic>
      <p:sp>
        <p:nvSpPr>
          <p:cNvPr id="164" name="Google Shape;164;p23"/>
          <p:cNvSpPr/>
          <p:nvPr/>
        </p:nvSpPr>
        <p:spPr>
          <a:xfrm>
            <a:off x="8083987" y="4271605"/>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 API Key Exposure</a:t>
            </a:r>
            <a:endParaRPr b="0" i="0" sz="1950" u="none" cap="none" strike="noStrike"/>
          </a:p>
        </p:txBody>
      </p:sp>
      <p:sp>
        <p:nvSpPr>
          <p:cNvPr id="165" name="Google Shape;165;p23"/>
          <p:cNvSpPr/>
          <p:nvPr/>
        </p:nvSpPr>
        <p:spPr>
          <a:xfrm>
            <a:off x="8083987" y="4700826"/>
            <a:ext cx="5752624"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API keys = passwords to your services (OpenAI, Stripe, etc.)</a:t>
            </a:r>
            <a:endParaRPr b="0" i="0" sz="1550" u="none" cap="none" strike="noStrike"/>
          </a:p>
        </p:txBody>
      </p:sp>
      <p:sp>
        <p:nvSpPr>
          <p:cNvPr id="166" name="Google Shape;166;p23"/>
          <p:cNvSpPr/>
          <p:nvPr/>
        </p:nvSpPr>
        <p:spPr>
          <a:xfrm>
            <a:off x="8083987" y="5137428"/>
            <a:ext cx="5752624"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Never place them in frontend logic</a:t>
            </a:r>
            <a:endParaRPr b="0" i="0" sz="1550" u="none" cap="none" strike="noStrike"/>
          </a:p>
        </p:txBody>
      </p:sp>
      <p:sp>
        <p:nvSpPr>
          <p:cNvPr id="167" name="Google Shape;167;p23"/>
          <p:cNvSpPr/>
          <p:nvPr/>
        </p:nvSpPr>
        <p:spPr>
          <a:xfrm>
            <a:off x="8083987" y="5524381"/>
            <a:ext cx="5752624"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Use environment variables or secure Supabase storage</a:t>
            </a:r>
            <a:endParaRPr b="0" i="0" sz="15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descr="preencoded.png" id="173" name="Google Shape;173;p24"/>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174" name="Google Shape;174;p24"/>
          <p:cNvSpPr/>
          <p:nvPr/>
        </p:nvSpPr>
        <p:spPr>
          <a:xfrm>
            <a:off x="793790" y="545783"/>
            <a:ext cx="7556421" cy="1240155"/>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Danger Zone: User Experience Failures</a:t>
            </a:r>
            <a:endParaRPr b="0" i="0" sz="3900" u="none" cap="none" strike="noStrike"/>
          </a:p>
        </p:txBody>
      </p:sp>
      <p:sp>
        <p:nvSpPr>
          <p:cNvPr id="175" name="Google Shape;175;p24"/>
          <p:cNvSpPr/>
          <p:nvPr/>
        </p:nvSpPr>
        <p:spPr>
          <a:xfrm>
            <a:off x="793790" y="2281952"/>
            <a:ext cx="3156942"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75BE2"/>
              </a:buClr>
              <a:buSzPts val="1950"/>
              <a:buFont typeface="Rubik"/>
              <a:buNone/>
            </a:pPr>
            <a:r>
              <a:rPr b="0" i="0" lang="en-US" sz="1950" u="none" cap="none" strike="noStrike">
                <a:solidFill>
                  <a:srgbClr val="D75BE2"/>
                </a:solidFill>
                <a:latin typeface="Rubik"/>
                <a:ea typeface="Rubik"/>
                <a:cs typeface="Rubik"/>
                <a:sym typeface="Rubik"/>
              </a:rPr>
              <a:t>The "Works For Me" Fallacy</a:t>
            </a:r>
            <a:endParaRPr b="0" i="0" sz="1950" u="none" cap="none" strike="noStrike"/>
          </a:p>
        </p:txBody>
      </p:sp>
      <p:sp>
        <p:nvSpPr>
          <p:cNvPr id="176" name="Google Shape;176;p24"/>
          <p:cNvSpPr/>
          <p:nvPr/>
        </p:nvSpPr>
        <p:spPr>
          <a:xfrm>
            <a:off x="793790" y="2790468"/>
            <a:ext cx="3536156"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Just because an app works on your device doesn't mean it works for everyone. Common issues include:</a:t>
            </a:r>
            <a:endParaRPr b="0" i="0" sz="1550" u="none" cap="none" strike="noStrike"/>
          </a:p>
        </p:txBody>
      </p:sp>
      <p:sp>
        <p:nvSpPr>
          <p:cNvPr id="177" name="Google Shape;177;p24"/>
          <p:cNvSpPr/>
          <p:nvPr/>
        </p:nvSpPr>
        <p:spPr>
          <a:xfrm>
            <a:off x="793790" y="3921681"/>
            <a:ext cx="3536156" cy="635079"/>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Device compatibility problems across different screen sizes</a:t>
            </a:r>
            <a:endParaRPr b="0" i="0" sz="1550" u="none" cap="none" strike="noStrike"/>
          </a:p>
        </p:txBody>
      </p:sp>
      <p:sp>
        <p:nvSpPr>
          <p:cNvPr id="178" name="Google Shape;178;p24"/>
          <p:cNvSpPr/>
          <p:nvPr/>
        </p:nvSpPr>
        <p:spPr>
          <a:xfrm>
            <a:off x="793790" y="4626173"/>
            <a:ext cx="3536156" cy="635079"/>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Browser-specific bugs and rendering issues</a:t>
            </a:r>
            <a:endParaRPr b="0" i="0" sz="1550" u="none" cap="none" strike="noStrike"/>
          </a:p>
        </p:txBody>
      </p:sp>
      <p:sp>
        <p:nvSpPr>
          <p:cNvPr id="179" name="Google Shape;179;p24"/>
          <p:cNvSpPr/>
          <p:nvPr/>
        </p:nvSpPr>
        <p:spPr>
          <a:xfrm>
            <a:off x="793790" y="5330666"/>
            <a:ext cx="3536156" cy="635079"/>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Performance problems on older devices</a:t>
            </a:r>
            <a:endParaRPr b="0" i="0" sz="1550" u="none" cap="none" strike="noStrike"/>
          </a:p>
        </p:txBody>
      </p:sp>
      <p:sp>
        <p:nvSpPr>
          <p:cNvPr id="180" name="Google Shape;180;p24"/>
          <p:cNvSpPr/>
          <p:nvPr/>
        </p:nvSpPr>
        <p:spPr>
          <a:xfrm>
            <a:off x="4821674" y="2281952"/>
            <a:ext cx="2920841"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75BE2"/>
              </a:buClr>
              <a:buSzPts val="1950"/>
              <a:buFont typeface="Rubik"/>
              <a:buNone/>
            </a:pPr>
            <a:r>
              <a:rPr b="0" i="0" lang="en-US" sz="1950" u="none" cap="none" strike="noStrike">
                <a:solidFill>
                  <a:srgbClr val="D75BE2"/>
                </a:solidFill>
                <a:latin typeface="Rubik"/>
                <a:ea typeface="Rubik"/>
                <a:cs typeface="Rubik"/>
                <a:sym typeface="Rubik"/>
              </a:rPr>
              <a:t>Dead End User Journeys</a:t>
            </a:r>
            <a:endParaRPr b="0" i="0" sz="1950" u="none" cap="none" strike="noStrike"/>
          </a:p>
        </p:txBody>
      </p:sp>
      <p:sp>
        <p:nvSpPr>
          <p:cNvPr id="181" name="Google Shape;181;p24"/>
          <p:cNvSpPr/>
          <p:nvPr/>
        </p:nvSpPr>
        <p:spPr>
          <a:xfrm>
            <a:off x="4821674" y="2790468"/>
            <a:ext cx="3536156"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Without proper error handling, users get stuck with no way forward:</a:t>
            </a:r>
            <a:endParaRPr b="0" i="0" sz="1550" u="none" cap="none" strike="noStrike"/>
          </a:p>
        </p:txBody>
      </p:sp>
      <p:sp>
        <p:nvSpPr>
          <p:cNvPr id="182" name="Google Shape;182;p24"/>
          <p:cNvSpPr/>
          <p:nvPr/>
        </p:nvSpPr>
        <p:spPr>
          <a:xfrm>
            <a:off x="4821674" y="3604141"/>
            <a:ext cx="353615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No feedback when actions fail</a:t>
            </a:r>
            <a:endParaRPr b="0" i="0" sz="1550" u="none" cap="none" strike="noStrike"/>
          </a:p>
        </p:txBody>
      </p:sp>
      <p:sp>
        <p:nvSpPr>
          <p:cNvPr id="183" name="Google Shape;183;p24"/>
          <p:cNvSpPr/>
          <p:nvPr/>
        </p:nvSpPr>
        <p:spPr>
          <a:xfrm>
            <a:off x="4821674" y="3991094"/>
            <a:ext cx="3536156" cy="635079"/>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Confusing or missing error messages</a:t>
            </a:r>
            <a:endParaRPr b="0" i="0" sz="1550" u="none" cap="none" strike="noStrike"/>
          </a:p>
        </p:txBody>
      </p:sp>
      <p:sp>
        <p:nvSpPr>
          <p:cNvPr id="184" name="Google Shape;184;p24"/>
          <p:cNvSpPr/>
          <p:nvPr/>
        </p:nvSpPr>
        <p:spPr>
          <a:xfrm>
            <a:off x="4821674" y="4695587"/>
            <a:ext cx="353615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Broken navigation paths</a:t>
            </a:r>
            <a:endParaRPr b="0" i="0" sz="1550" u="none" cap="none" strike="noStrike"/>
          </a:p>
        </p:txBody>
      </p:sp>
      <p:sp>
        <p:nvSpPr>
          <p:cNvPr id="185" name="Google Shape;185;p24"/>
          <p:cNvSpPr/>
          <p:nvPr/>
        </p:nvSpPr>
        <p:spPr>
          <a:xfrm>
            <a:off x="4821674" y="5082540"/>
            <a:ext cx="353615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Forms that reset without warning</a:t>
            </a:r>
            <a:endParaRPr b="0" i="0" sz="155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5"/>
          <p:cNvSpPr/>
          <p:nvPr/>
        </p:nvSpPr>
        <p:spPr>
          <a:xfrm>
            <a:off x="782955" y="539591"/>
            <a:ext cx="7120533" cy="611624"/>
          </a:xfrm>
          <a:prstGeom prst="rect">
            <a:avLst/>
          </a:prstGeom>
          <a:noFill/>
          <a:ln>
            <a:noFill/>
          </a:ln>
        </p:spPr>
        <p:txBody>
          <a:bodyPr anchorCtr="0" anchor="t" bIns="0" lIns="0" spcFirstLastPara="1" rIns="0" wrap="square" tIns="0">
            <a:noAutofit/>
          </a:bodyPr>
          <a:lstStyle/>
          <a:p>
            <a:pPr indent="0" lvl="0" marL="0" marR="0" rtl="0" algn="l">
              <a:lnSpc>
                <a:spcPct val="124675"/>
              </a:lnSpc>
              <a:spcBef>
                <a:spcPts val="0"/>
              </a:spcBef>
              <a:spcAft>
                <a:spcPts val="0"/>
              </a:spcAft>
              <a:buClr>
                <a:srgbClr val="D75BE2"/>
              </a:buClr>
              <a:buSzPts val="3850"/>
              <a:buFont typeface="Rubik"/>
              <a:buNone/>
            </a:pPr>
            <a:r>
              <a:rPr b="0" i="0" lang="en-US" sz="3850" u="none" cap="none" strike="noStrike">
                <a:solidFill>
                  <a:srgbClr val="D75BE2"/>
                </a:solidFill>
                <a:latin typeface="Rubik"/>
                <a:ea typeface="Rubik"/>
                <a:cs typeface="Rubik"/>
                <a:sym typeface="Rubik"/>
              </a:rPr>
              <a:t>Signs You're in Over Your Head</a:t>
            </a:r>
            <a:endParaRPr b="0" i="0" sz="3850" u="none" cap="none" strike="noStrike"/>
          </a:p>
        </p:txBody>
      </p:sp>
      <p:sp>
        <p:nvSpPr>
          <p:cNvPr id="192" name="Google Shape;192;p25"/>
          <p:cNvSpPr/>
          <p:nvPr/>
        </p:nvSpPr>
        <p:spPr>
          <a:xfrm>
            <a:off x="782955" y="1542693"/>
            <a:ext cx="13064490" cy="391478"/>
          </a:xfrm>
          <a:prstGeom prst="rect">
            <a:avLst/>
          </a:prstGeom>
          <a:noFill/>
          <a:ln>
            <a:noFill/>
          </a:ln>
        </p:spPr>
        <p:txBody>
          <a:bodyPr anchorCtr="0" anchor="t" bIns="0" lIns="0" spcFirstLastPara="1" rIns="0" wrap="square" tIns="0">
            <a:noAutofit/>
          </a:bodyPr>
          <a:lstStyle/>
          <a:p>
            <a:pPr indent="0" lvl="0" marL="0" marR="0" rtl="0" algn="l">
              <a:lnSpc>
                <a:spcPct val="160526"/>
              </a:lnSpc>
              <a:spcBef>
                <a:spcPts val="0"/>
              </a:spcBef>
              <a:spcAft>
                <a:spcPts val="0"/>
              </a:spcAft>
              <a:buClr>
                <a:srgbClr val="272525"/>
              </a:buClr>
              <a:buSzPts val="1900"/>
              <a:buFont typeface="Open Sans"/>
              <a:buNone/>
            </a:pPr>
            <a:r>
              <a:rPr b="0" i="0" lang="en-US" sz="1900" u="none" cap="none" strike="noStrike">
                <a:solidFill>
                  <a:srgbClr val="272525"/>
                </a:solidFill>
                <a:latin typeface="Open Sans"/>
                <a:ea typeface="Open Sans"/>
                <a:cs typeface="Open Sans"/>
                <a:sym typeface="Open Sans"/>
              </a:rPr>
              <a:t>Payments, sensitive data, or security? → Get help | Scaling, error logs, or custom integrations? → Get help</a:t>
            </a:r>
            <a:endParaRPr b="0" i="0" sz="1900" u="none" cap="none" strike="noStrike"/>
          </a:p>
        </p:txBody>
      </p:sp>
      <p:sp>
        <p:nvSpPr>
          <p:cNvPr id="193" name="Google Shape;193;p25"/>
          <p:cNvSpPr/>
          <p:nvPr/>
        </p:nvSpPr>
        <p:spPr>
          <a:xfrm>
            <a:off x="782955" y="2154317"/>
            <a:ext cx="13064490" cy="391478"/>
          </a:xfrm>
          <a:prstGeom prst="rect">
            <a:avLst/>
          </a:prstGeom>
          <a:noFill/>
          <a:ln>
            <a:noFill/>
          </a:ln>
        </p:spPr>
        <p:txBody>
          <a:bodyPr anchorCtr="0" anchor="t" bIns="0" lIns="0" spcFirstLastPara="1" rIns="0" wrap="square" tIns="0">
            <a:noAutofit/>
          </a:bodyPr>
          <a:lstStyle/>
          <a:p>
            <a:pPr indent="0" lvl="0" marL="0" marR="0" rtl="0" algn="l">
              <a:lnSpc>
                <a:spcPct val="160526"/>
              </a:lnSpc>
              <a:spcBef>
                <a:spcPts val="0"/>
              </a:spcBef>
              <a:spcAft>
                <a:spcPts val="0"/>
              </a:spcAft>
              <a:buClr>
                <a:srgbClr val="272525"/>
              </a:buClr>
              <a:buSzPts val="1900"/>
              <a:buFont typeface="Open Sans"/>
              <a:buNone/>
            </a:pPr>
            <a:r>
              <a:rPr b="0" i="0" lang="en-US" sz="1900" u="none" cap="none" strike="noStrike">
                <a:solidFill>
                  <a:srgbClr val="272525"/>
                </a:solidFill>
                <a:latin typeface="Open Sans"/>
                <a:ea typeface="Open Sans"/>
                <a:cs typeface="Open Sans"/>
                <a:sym typeface="Open Sans"/>
              </a:rPr>
              <a:t>Don’t risk your users’ trust or your idea’s credibility..!</a:t>
            </a:r>
            <a:endParaRPr b="0" i="0" sz="1900" u="none" cap="none" strike="noStrike"/>
          </a:p>
        </p:txBody>
      </p:sp>
      <p:sp>
        <p:nvSpPr>
          <p:cNvPr id="194" name="Google Shape;194;p25"/>
          <p:cNvSpPr/>
          <p:nvPr/>
        </p:nvSpPr>
        <p:spPr>
          <a:xfrm>
            <a:off x="782955" y="3036689"/>
            <a:ext cx="4224338" cy="91440"/>
          </a:xfrm>
          <a:prstGeom prst="roundRect">
            <a:avLst>
              <a:gd fmla="val 89914"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5"/>
          <p:cNvSpPr/>
          <p:nvPr/>
        </p:nvSpPr>
        <p:spPr>
          <a:xfrm>
            <a:off x="2601516" y="2765941"/>
            <a:ext cx="587216" cy="587216"/>
          </a:xfrm>
          <a:prstGeom prst="roundRect">
            <a:avLst>
              <a:gd fmla="val 155718"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5"/>
          <p:cNvSpPr/>
          <p:nvPr/>
        </p:nvSpPr>
        <p:spPr>
          <a:xfrm>
            <a:off x="2777728" y="2912745"/>
            <a:ext cx="234791" cy="293608"/>
          </a:xfrm>
          <a:prstGeom prst="rect">
            <a:avLst/>
          </a:prstGeom>
          <a:noFill/>
          <a:ln>
            <a:noFill/>
          </a:ln>
        </p:spPr>
        <p:txBody>
          <a:bodyPr anchorCtr="0" anchor="t" bIns="0" lIns="0" spcFirstLastPara="1" rIns="0" wrap="square" tIns="0">
            <a:noAutofit/>
          </a:bodyPr>
          <a:lstStyle/>
          <a:p>
            <a:pPr indent="0" lvl="0" marL="0" marR="0" rtl="0" algn="l">
              <a:lnSpc>
                <a:spcPct val="163888"/>
              </a:lnSpc>
              <a:spcBef>
                <a:spcPts val="0"/>
              </a:spcBef>
              <a:spcAft>
                <a:spcPts val="0"/>
              </a:spcAft>
              <a:buClr>
                <a:srgbClr val="000000"/>
              </a:buClr>
              <a:buSzPts val="1800"/>
              <a:buFont typeface="Rubik"/>
              <a:buNone/>
            </a:pPr>
            <a:r>
              <a:rPr b="0" i="0" lang="en-US" sz="1800" u="none" cap="none" strike="noStrike">
                <a:solidFill>
                  <a:srgbClr val="000000"/>
                </a:solidFill>
                <a:latin typeface="Rubik"/>
                <a:ea typeface="Rubik"/>
                <a:cs typeface="Rubik"/>
                <a:sym typeface="Rubik"/>
              </a:rPr>
              <a:t>1</a:t>
            </a:r>
            <a:endParaRPr b="0" i="0" sz="1800" u="none" cap="none" strike="noStrike"/>
          </a:p>
        </p:txBody>
      </p:sp>
      <p:sp>
        <p:nvSpPr>
          <p:cNvPr id="197" name="Google Shape;197;p25"/>
          <p:cNvSpPr/>
          <p:nvPr/>
        </p:nvSpPr>
        <p:spPr>
          <a:xfrm>
            <a:off x="1001554" y="3548896"/>
            <a:ext cx="3065026" cy="305753"/>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272525"/>
              </a:buClr>
              <a:buSzPts val="1900"/>
              <a:buFont typeface="Rubik"/>
              <a:buNone/>
            </a:pPr>
            <a:r>
              <a:rPr b="0" i="0" lang="en-US" sz="1900" u="none" cap="none" strike="noStrike">
                <a:solidFill>
                  <a:srgbClr val="272525"/>
                </a:solidFill>
                <a:latin typeface="Rubik"/>
                <a:ea typeface="Rubik"/>
                <a:cs typeface="Rubik"/>
                <a:sym typeface="Rubik"/>
              </a:rPr>
              <a:t>Multiple External Services</a:t>
            </a:r>
            <a:endParaRPr b="0" i="0" sz="1900" u="none" cap="none" strike="noStrike"/>
          </a:p>
        </p:txBody>
      </p:sp>
      <p:sp>
        <p:nvSpPr>
          <p:cNvPr id="198" name="Google Shape;198;p25"/>
          <p:cNvSpPr/>
          <p:nvPr/>
        </p:nvSpPr>
        <p:spPr>
          <a:xfrm>
            <a:off x="1001554" y="3972044"/>
            <a:ext cx="3787140" cy="1252538"/>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72525"/>
              </a:buClr>
              <a:buSzPts val="1500"/>
              <a:buFont typeface="Open Sans"/>
              <a:buNone/>
            </a:pPr>
            <a:r>
              <a:rPr b="0" i="0" lang="en-US" sz="1500" u="none" cap="none" strike="noStrike">
                <a:solidFill>
                  <a:srgbClr val="272525"/>
                </a:solidFill>
                <a:latin typeface="Open Sans"/>
                <a:ea typeface="Open Sans"/>
                <a:cs typeface="Open Sans"/>
                <a:sym typeface="Open Sans"/>
              </a:rPr>
              <a:t>You're connecting several third-party APIs or services together, creating complex dependencies and potential points of failure.</a:t>
            </a:r>
            <a:endParaRPr b="0" i="0" sz="1500" u="none" cap="none" strike="noStrike"/>
          </a:p>
        </p:txBody>
      </p:sp>
      <p:sp>
        <p:nvSpPr>
          <p:cNvPr id="199" name="Google Shape;199;p25"/>
          <p:cNvSpPr/>
          <p:nvPr/>
        </p:nvSpPr>
        <p:spPr>
          <a:xfrm>
            <a:off x="5203031" y="3036689"/>
            <a:ext cx="4224338" cy="91440"/>
          </a:xfrm>
          <a:prstGeom prst="roundRect">
            <a:avLst>
              <a:gd fmla="val 89914"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5"/>
          <p:cNvSpPr/>
          <p:nvPr/>
        </p:nvSpPr>
        <p:spPr>
          <a:xfrm>
            <a:off x="7021592" y="2765941"/>
            <a:ext cx="587216" cy="587216"/>
          </a:xfrm>
          <a:prstGeom prst="roundRect">
            <a:avLst>
              <a:gd fmla="val 155718"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5"/>
          <p:cNvSpPr/>
          <p:nvPr/>
        </p:nvSpPr>
        <p:spPr>
          <a:xfrm>
            <a:off x="7197804" y="2912745"/>
            <a:ext cx="234791" cy="293608"/>
          </a:xfrm>
          <a:prstGeom prst="rect">
            <a:avLst/>
          </a:prstGeom>
          <a:noFill/>
          <a:ln>
            <a:noFill/>
          </a:ln>
        </p:spPr>
        <p:txBody>
          <a:bodyPr anchorCtr="0" anchor="t" bIns="0" lIns="0" spcFirstLastPara="1" rIns="0" wrap="square" tIns="0">
            <a:noAutofit/>
          </a:bodyPr>
          <a:lstStyle/>
          <a:p>
            <a:pPr indent="0" lvl="0" marL="0" marR="0" rtl="0" algn="l">
              <a:lnSpc>
                <a:spcPct val="163888"/>
              </a:lnSpc>
              <a:spcBef>
                <a:spcPts val="0"/>
              </a:spcBef>
              <a:spcAft>
                <a:spcPts val="0"/>
              </a:spcAft>
              <a:buClr>
                <a:srgbClr val="000000"/>
              </a:buClr>
              <a:buSzPts val="1800"/>
              <a:buFont typeface="Rubik"/>
              <a:buNone/>
            </a:pPr>
            <a:r>
              <a:rPr b="0" i="0" lang="en-US" sz="1800" u="none" cap="none" strike="noStrike">
                <a:solidFill>
                  <a:srgbClr val="000000"/>
                </a:solidFill>
                <a:latin typeface="Rubik"/>
                <a:ea typeface="Rubik"/>
                <a:cs typeface="Rubik"/>
                <a:sym typeface="Rubik"/>
              </a:rPr>
              <a:t>2</a:t>
            </a:r>
            <a:endParaRPr b="0" i="0" sz="1800" u="none" cap="none" strike="noStrike"/>
          </a:p>
        </p:txBody>
      </p:sp>
      <p:sp>
        <p:nvSpPr>
          <p:cNvPr id="202" name="Google Shape;202;p25"/>
          <p:cNvSpPr/>
          <p:nvPr/>
        </p:nvSpPr>
        <p:spPr>
          <a:xfrm>
            <a:off x="5421630" y="3548896"/>
            <a:ext cx="3654504" cy="305753"/>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272525"/>
              </a:buClr>
              <a:buSzPts val="1900"/>
              <a:buFont typeface="Rubik"/>
              <a:buNone/>
            </a:pPr>
            <a:r>
              <a:rPr b="0" i="0" lang="en-US" sz="1900" u="none" cap="none" strike="noStrike">
                <a:solidFill>
                  <a:srgbClr val="272525"/>
                </a:solidFill>
                <a:latin typeface="Rubik"/>
                <a:ea typeface="Rubik"/>
                <a:cs typeface="Rubik"/>
                <a:sym typeface="Rubik"/>
              </a:rPr>
              <a:t>Handling Sensitive Information</a:t>
            </a:r>
            <a:endParaRPr b="0" i="0" sz="1900" u="none" cap="none" strike="noStrike"/>
          </a:p>
        </p:txBody>
      </p:sp>
      <p:sp>
        <p:nvSpPr>
          <p:cNvPr id="203" name="Google Shape;203;p25"/>
          <p:cNvSpPr/>
          <p:nvPr/>
        </p:nvSpPr>
        <p:spPr>
          <a:xfrm>
            <a:off x="5421630" y="3972044"/>
            <a:ext cx="3787140" cy="939403"/>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72525"/>
              </a:buClr>
              <a:buSzPts val="1500"/>
              <a:buFont typeface="Open Sans"/>
              <a:buNone/>
            </a:pPr>
            <a:r>
              <a:rPr b="0" i="0" lang="en-US" sz="1500" u="none" cap="none" strike="noStrike">
                <a:solidFill>
                  <a:srgbClr val="272525"/>
                </a:solidFill>
                <a:latin typeface="Open Sans"/>
                <a:ea typeface="Open Sans"/>
                <a:cs typeface="Open Sans"/>
                <a:sym typeface="Open Sans"/>
              </a:rPr>
              <a:t>Your app processes user money, private data, or manages user accounts with different permission levels.</a:t>
            </a:r>
            <a:endParaRPr b="0" i="0" sz="1500" u="none" cap="none" strike="noStrike"/>
          </a:p>
        </p:txBody>
      </p:sp>
      <p:sp>
        <p:nvSpPr>
          <p:cNvPr id="204" name="Google Shape;204;p25"/>
          <p:cNvSpPr/>
          <p:nvPr/>
        </p:nvSpPr>
        <p:spPr>
          <a:xfrm>
            <a:off x="9623108" y="3036689"/>
            <a:ext cx="4224338" cy="91440"/>
          </a:xfrm>
          <a:prstGeom prst="roundRect">
            <a:avLst>
              <a:gd fmla="val 89914"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5"/>
          <p:cNvSpPr/>
          <p:nvPr/>
        </p:nvSpPr>
        <p:spPr>
          <a:xfrm>
            <a:off x="11441668" y="2765941"/>
            <a:ext cx="587216" cy="587216"/>
          </a:xfrm>
          <a:prstGeom prst="roundRect">
            <a:avLst>
              <a:gd fmla="val 155718"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5"/>
          <p:cNvSpPr/>
          <p:nvPr/>
        </p:nvSpPr>
        <p:spPr>
          <a:xfrm>
            <a:off x="11617881" y="2912745"/>
            <a:ext cx="234791" cy="293608"/>
          </a:xfrm>
          <a:prstGeom prst="rect">
            <a:avLst/>
          </a:prstGeom>
          <a:noFill/>
          <a:ln>
            <a:noFill/>
          </a:ln>
        </p:spPr>
        <p:txBody>
          <a:bodyPr anchorCtr="0" anchor="t" bIns="0" lIns="0" spcFirstLastPara="1" rIns="0" wrap="square" tIns="0">
            <a:noAutofit/>
          </a:bodyPr>
          <a:lstStyle/>
          <a:p>
            <a:pPr indent="0" lvl="0" marL="0" marR="0" rtl="0" algn="l">
              <a:lnSpc>
                <a:spcPct val="163888"/>
              </a:lnSpc>
              <a:spcBef>
                <a:spcPts val="0"/>
              </a:spcBef>
              <a:spcAft>
                <a:spcPts val="0"/>
              </a:spcAft>
              <a:buClr>
                <a:srgbClr val="000000"/>
              </a:buClr>
              <a:buSzPts val="1800"/>
              <a:buFont typeface="Rubik"/>
              <a:buNone/>
            </a:pPr>
            <a:r>
              <a:rPr b="0" i="0" lang="en-US" sz="1800" u="none" cap="none" strike="noStrike">
                <a:solidFill>
                  <a:srgbClr val="000000"/>
                </a:solidFill>
                <a:latin typeface="Rubik"/>
                <a:ea typeface="Rubik"/>
                <a:cs typeface="Rubik"/>
                <a:sym typeface="Rubik"/>
              </a:rPr>
              <a:t>3</a:t>
            </a:r>
            <a:endParaRPr b="0" i="0" sz="1800" u="none" cap="none" strike="noStrike"/>
          </a:p>
        </p:txBody>
      </p:sp>
      <p:sp>
        <p:nvSpPr>
          <p:cNvPr id="207" name="Google Shape;207;p25"/>
          <p:cNvSpPr/>
          <p:nvPr/>
        </p:nvSpPr>
        <p:spPr>
          <a:xfrm>
            <a:off x="9841706" y="3548896"/>
            <a:ext cx="2468523" cy="305753"/>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272525"/>
              </a:buClr>
              <a:buSzPts val="1900"/>
              <a:buFont typeface="Rubik"/>
              <a:buNone/>
            </a:pPr>
            <a:r>
              <a:rPr b="0" i="0" lang="en-US" sz="1900" u="none" cap="none" strike="noStrike">
                <a:solidFill>
                  <a:srgbClr val="272525"/>
                </a:solidFill>
                <a:latin typeface="Rubik"/>
                <a:ea typeface="Rubik"/>
                <a:cs typeface="Rubik"/>
                <a:sym typeface="Rubik"/>
              </a:rPr>
              <a:t>Scaling to Real Users</a:t>
            </a:r>
            <a:endParaRPr b="0" i="0" sz="1900" u="none" cap="none" strike="noStrike"/>
          </a:p>
        </p:txBody>
      </p:sp>
      <p:sp>
        <p:nvSpPr>
          <p:cNvPr id="208" name="Google Shape;208;p25"/>
          <p:cNvSpPr/>
          <p:nvPr/>
        </p:nvSpPr>
        <p:spPr>
          <a:xfrm>
            <a:off x="9841706" y="3972044"/>
            <a:ext cx="3787140" cy="939403"/>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72525"/>
              </a:buClr>
              <a:buSzPts val="1500"/>
              <a:buFont typeface="Open Sans"/>
              <a:buNone/>
            </a:pPr>
            <a:r>
              <a:rPr b="0" i="0" lang="en-US" sz="1500" u="none" cap="none" strike="noStrike">
                <a:solidFill>
                  <a:srgbClr val="272525"/>
                </a:solidFill>
                <a:latin typeface="Open Sans"/>
                <a:ea typeface="Open Sans"/>
                <a:cs typeface="Open Sans"/>
                <a:sym typeface="Open Sans"/>
              </a:rPr>
              <a:t>You're moving beyond testing to onboarding actual customers, increasing the stakes of any technical issues.</a:t>
            </a:r>
            <a:endParaRPr b="0" i="0" sz="1500" u="none" cap="none" strike="noStrike"/>
          </a:p>
        </p:txBody>
      </p:sp>
      <p:sp>
        <p:nvSpPr>
          <p:cNvPr id="209" name="Google Shape;209;p25"/>
          <p:cNvSpPr/>
          <p:nvPr/>
        </p:nvSpPr>
        <p:spPr>
          <a:xfrm>
            <a:off x="782955" y="5909667"/>
            <a:ext cx="6434376" cy="91440"/>
          </a:xfrm>
          <a:prstGeom prst="roundRect">
            <a:avLst>
              <a:gd fmla="val 89914"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5"/>
          <p:cNvSpPr/>
          <p:nvPr/>
        </p:nvSpPr>
        <p:spPr>
          <a:xfrm>
            <a:off x="3706535" y="5638919"/>
            <a:ext cx="587216" cy="587216"/>
          </a:xfrm>
          <a:prstGeom prst="roundRect">
            <a:avLst>
              <a:gd fmla="val 155718"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5"/>
          <p:cNvSpPr/>
          <p:nvPr/>
        </p:nvSpPr>
        <p:spPr>
          <a:xfrm>
            <a:off x="3882747" y="5785723"/>
            <a:ext cx="234791" cy="293608"/>
          </a:xfrm>
          <a:prstGeom prst="rect">
            <a:avLst/>
          </a:prstGeom>
          <a:noFill/>
          <a:ln>
            <a:noFill/>
          </a:ln>
        </p:spPr>
        <p:txBody>
          <a:bodyPr anchorCtr="0" anchor="t" bIns="0" lIns="0" spcFirstLastPara="1" rIns="0" wrap="square" tIns="0">
            <a:noAutofit/>
          </a:bodyPr>
          <a:lstStyle/>
          <a:p>
            <a:pPr indent="0" lvl="0" marL="0" marR="0" rtl="0" algn="l">
              <a:lnSpc>
                <a:spcPct val="163888"/>
              </a:lnSpc>
              <a:spcBef>
                <a:spcPts val="0"/>
              </a:spcBef>
              <a:spcAft>
                <a:spcPts val="0"/>
              </a:spcAft>
              <a:buClr>
                <a:srgbClr val="000000"/>
              </a:buClr>
              <a:buSzPts val="1800"/>
              <a:buFont typeface="Rubik"/>
              <a:buNone/>
            </a:pPr>
            <a:r>
              <a:rPr b="0" i="0" lang="en-US" sz="1800" u="none" cap="none" strike="noStrike">
                <a:solidFill>
                  <a:srgbClr val="000000"/>
                </a:solidFill>
                <a:latin typeface="Rubik"/>
                <a:ea typeface="Rubik"/>
                <a:cs typeface="Rubik"/>
                <a:sym typeface="Rubik"/>
              </a:rPr>
              <a:t>4</a:t>
            </a:r>
            <a:endParaRPr b="0" i="0" sz="1800" u="none" cap="none" strike="noStrike"/>
          </a:p>
        </p:txBody>
      </p:sp>
      <p:sp>
        <p:nvSpPr>
          <p:cNvPr id="212" name="Google Shape;212;p25"/>
          <p:cNvSpPr/>
          <p:nvPr/>
        </p:nvSpPr>
        <p:spPr>
          <a:xfrm>
            <a:off x="1001554" y="6421874"/>
            <a:ext cx="2446853" cy="305753"/>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272525"/>
              </a:buClr>
              <a:buSzPts val="1900"/>
              <a:buFont typeface="Rubik"/>
              <a:buNone/>
            </a:pPr>
            <a:r>
              <a:rPr b="0" i="0" lang="en-US" sz="1900" u="none" cap="none" strike="noStrike">
                <a:solidFill>
                  <a:srgbClr val="272525"/>
                </a:solidFill>
                <a:latin typeface="Rubik"/>
                <a:ea typeface="Rubik"/>
                <a:cs typeface="Rubik"/>
                <a:sym typeface="Rubik"/>
              </a:rPr>
              <a:t>Technical Confusion</a:t>
            </a:r>
            <a:endParaRPr b="0" i="0" sz="1900" u="none" cap="none" strike="noStrike"/>
          </a:p>
        </p:txBody>
      </p:sp>
      <p:sp>
        <p:nvSpPr>
          <p:cNvPr id="213" name="Google Shape;213;p25"/>
          <p:cNvSpPr/>
          <p:nvPr/>
        </p:nvSpPr>
        <p:spPr>
          <a:xfrm>
            <a:off x="1001554" y="6845022"/>
            <a:ext cx="5997178" cy="626269"/>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72525"/>
              </a:buClr>
              <a:buSzPts val="1500"/>
              <a:buFont typeface="Open Sans"/>
              <a:buNone/>
            </a:pPr>
            <a:r>
              <a:rPr b="0" i="0" lang="en-US" sz="1500" u="none" cap="none" strike="noStrike">
                <a:solidFill>
                  <a:srgbClr val="272525"/>
                </a:solidFill>
                <a:latin typeface="Open Sans"/>
                <a:ea typeface="Open Sans"/>
                <a:cs typeface="Open Sans"/>
                <a:sym typeface="Open Sans"/>
              </a:rPr>
              <a:t>You don't understand error messages, database errors, or permission systems that are appearing in your app.</a:t>
            </a:r>
            <a:endParaRPr b="0" i="0" sz="1500" u="none" cap="none" strike="noStrike"/>
          </a:p>
        </p:txBody>
      </p:sp>
      <p:sp>
        <p:nvSpPr>
          <p:cNvPr id="214" name="Google Shape;214;p25"/>
          <p:cNvSpPr/>
          <p:nvPr/>
        </p:nvSpPr>
        <p:spPr>
          <a:xfrm>
            <a:off x="7413069" y="5909667"/>
            <a:ext cx="6434376" cy="91440"/>
          </a:xfrm>
          <a:prstGeom prst="roundRect">
            <a:avLst>
              <a:gd fmla="val 89914"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5"/>
          <p:cNvSpPr/>
          <p:nvPr/>
        </p:nvSpPr>
        <p:spPr>
          <a:xfrm>
            <a:off x="10336649" y="5638919"/>
            <a:ext cx="587216" cy="587216"/>
          </a:xfrm>
          <a:prstGeom prst="roundRect">
            <a:avLst>
              <a:gd fmla="val 155718"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5"/>
          <p:cNvSpPr/>
          <p:nvPr/>
        </p:nvSpPr>
        <p:spPr>
          <a:xfrm>
            <a:off x="10512862" y="5785723"/>
            <a:ext cx="234791" cy="293608"/>
          </a:xfrm>
          <a:prstGeom prst="rect">
            <a:avLst/>
          </a:prstGeom>
          <a:noFill/>
          <a:ln>
            <a:noFill/>
          </a:ln>
        </p:spPr>
        <p:txBody>
          <a:bodyPr anchorCtr="0" anchor="t" bIns="0" lIns="0" spcFirstLastPara="1" rIns="0" wrap="square" tIns="0">
            <a:noAutofit/>
          </a:bodyPr>
          <a:lstStyle/>
          <a:p>
            <a:pPr indent="0" lvl="0" marL="0" marR="0" rtl="0" algn="l">
              <a:lnSpc>
                <a:spcPct val="163888"/>
              </a:lnSpc>
              <a:spcBef>
                <a:spcPts val="0"/>
              </a:spcBef>
              <a:spcAft>
                <a:spcPts val="0"/>
              </a:spcAft>
              <a:buClr>
                <a:srgbClr val="000000"/>
              </a:buClr>
              <a:buSzPts val="1800"/>
              <a:buFont typeface="Rubik"/>
              <a:buNone/>
            </a:pPr>
            <a:r>
              <a:rPr b="0" i="0" lang="en-US" sz="1800" u="none" cap="none" strike="noStrike">
                <a:solidFill>
                  <a:srgbClr val="000000"/>
                </a:solidFill>
                <a:latin typeface="Rubik"/>
                <a:ea typeface="Rubik"/>
                <a:cs typeface="Rubik"/>
                <a:sym typeface="Rubik"/>
              </a:rPr>
              <a:t>5</a:t>
            </a:r>
            <a:endParaRPr b="0" i="0" sz="1800" u="none" cap="none" strike="noStrike"/>
          </a:p>
        </p:txBody>
      </p:sp>
      <p:sp>
        <p:nvSpPr>
          <p:cNvPr id="217" name="Google Shape;217;p25"/>
          <p:cNvSpPr/>
          <p:nvPr/>
        </p:nvSpPr>
        <p:spPr>
          <a:xfrm>
            <a:off x="7631668" y="6421874"/>
            <a:ext cx="2446853" cy="305753"/>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272525"/>
              </a:buClr>
              <a:buSzPts val="1900"/>
              <a:buFont typeface="Rubik"/>
              <a:buNone/>
            </a:pPr>
            <a:r>
              <a:rPr b="0" i="0" lang="en-US" sz="1900" u="none" cap="none" strike="noStrike">
                <a:solidFill>
                  <a:srgbClr val="272525"/>
                </a:solidFill>
                <a:latin typeface="Rubik"/>
                <a:ea typeface="Rubik"/>
                <a:cs typeface="Rubik"/>
                <a:sym typeface="Rubik"/>
              </a:rPr>
              <a:t>Business Transition</a:t>
            </a:r>
            <a:endParaRPr b="0" i="0" sz="1900" u="none" cap="none" strike="noStrike"/>
          </a:p>
        </p:txBody>
      </p:sp>
      <p:sp>
        <p:nvSpPr>
          <p:cNvPr id="218" name="Google Shape;218;p25"/>
          <p:cNvSpPr/>
          <p:nvPr/>
        </p:nvSpPr>
        <p:spPr>
          <a:xfrm>
            <a:off x="7631668" y="6845022"/>
            <a:ext cx="5997178" cy="626269"/>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72525"/>
              </a:buClr>
              <a:buSzPts val="1500"/>
              <a:buFont typeface="Open Sans"/>
              <a:buNone/>
            </a:pPr>
            <a:r>
              <a:rPr b="0" i="0" lang="en-US" sz="1500" u="none" cap="none" strike="noStrike">
                <a:solidFill>
                  <a:srgbClr val="272525"/>
                </a:solidFill>
                <a:latin typeface="Open Sans"/>
                <a:ea typeface="Open Sans"/>
                <a:cs typeface="Open Sans"/>
                <a:sym typeface="Open Sans"/>
              </a:rPr>
              <a:t>You've built a prototype but now want to turn it into a real business with paying customers.</a:t>
            </a:r>
            <a:endParaRPr b="0" i="0" sz="150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6"/>
          <p:cNvSpPr/>
          <p:nvPr/>
        </p:nvSpPr>
        <p:spPr>
          <a:xfrm>
            <a:off x="793790" y="545783"/>
            <a:ext cx="9887545"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Do's &amp; Don'ts for Responsible Vibe Coders</a:t>
            </a:r>
            <a:endParaRPr b="0" i="0" sz="3900" u="none" cap="none" strike="noStrike"/>
          </a:p>
        </p:txBody>
      </p:sp>
      <p:sp>
        <p:nvSpPr>
          <p:cNvPr id="225" name="Google Shape;225;p26"/>
          <p:cNvSpPr/>
          <p:nvPr/>
        </p:nvSpPr>
        <p:spPr>
          <a:xfrm>
            <a:off x="793790" y="1661874"/>
            <a:ext cx="3969425" cy="496133"/>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000000"/>
              </a:buClr>
              <a:buSzPts val="3100"/>
              <a:buFont typeface="Rubik"/>
              <a:buNone/>
            </a:pPr>
            <a:r>
              <a:rPr b="0" i="0" lang="en-US" sz="3100" u="none" cap="none" strike="noStrike">
                <a:solidFill>
                  <a:srgbClr val="000000"/>
                </a:solidFill>
                <a:latin typeface="Rubik"/>
                <a:ea typeface="Rubik"/>
                <a:cs typeface="Rubik"/>
                <a:sym typeface="Rubik"/>
              </a:rPr>
              <a:t>✅</a:t>
            </a:r>
            <a:r>
              <a:rPr b="0" i="0" lang="en-US" sz="3100" u="none" cap="none" strike="noStrike">
                <a:solidFill>
                  <a:srgbClr val="D75BE2"/>
                </a:solidFill>
                <a:latin typeface="Rubik"/>
                <a:ea typeface="Rubik"/>
                <a:cs typeface="Rubik"/>
                <a:sym typeface="Rubik"/>
              </a:rPr>
              <a:t> DO</a:t>
            </a:r>
            <a:endParaRPr b="0" i="0" sz="3100" u="none" cap="none" strike="noStrike"/>
          </a:p>
        </p:txBody>
      </p:sp>
      <p:sp>
        <p:nvSpPr>
          <p:cNvPr id="226" name="Google Shape;226;p26"/>
          <p:cNvSpPr/>
          <p:nvPr/>
        </p:nvSpPr>
        <p:spPr>
          <a:xfrm>
            <a:off x="793790" y="2356366"/>
            <a:ext cx="6279356" cy="396954"/>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Connect backend first</a:t>
            </a:r>
            <a:endParaRPr b="0" i="0" sz="1550" u="none" cap="none" strike="noStrike"/>
          </a:p>
        </p:txBody>
      </p:sp>
      <p:sp>
        <p:nvSpPr>
          <p:cNvPr id="227" name="Google Shape;227;p26"/>
          <p:cNvSpPr/>
          <p:nvPr/>
        </p:nvSpPr>
        <p:spPr>
          <a:xfrm>
            <a:off x="793790" y="2822734"/>
            <a:ext cx="6279356" cy="396954"/>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Use test APIs</a:t>
            </a:r>
            <a:endParaRPr b="0" i="0" sz="1550" u="none" cap="none" strike="noStrike"/>
          </a:p>
        </p:txBody>
      </p:sp>
      <p:sp>
        <p:nvSpPr>
          <p:cNvPr id="228" name="Google Shape;228;p26"/>
          <p:cNvSpPr/>
          <p:nvPr/>
        </p:nvSpPr>
        <p:spPr>
          <a:xfrm>
            <a:off x="793790" y="3289102"/>
            <a:ext cx="6279356" cy="396954"/>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Validate DB connections</a:t>
            </a:r>
            <a:endParaRPr b="0" i="0" sz="1550" u="none" cap="none" strike="noStrike"/>
          </a:p>
        </p:txBody>
      </p:sp>
      <p:sp>
        <p:nvSpPr>
          <p:cNvPr id="229" name="Google Shape;229;p26"/>
          <p:cNvSpPr/>
          <p:nvPr/>
        </p:nvSpPr>
        <p:spPr>
          <a:xfrm>
            <a:off x="793790" y="3755469"/>
            <a:ext cx="6279356" cy="396954"/>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Secure keys properly</a:t>
            </a:r>
            <a:endParaRPr b="0" i="0" sz="1550" u="none" cap="none" strike="noStrike"/>
          </a:p>
        </p:txBody>
      </p:sp>
      <p:sp>
        <p:nvSpPr>
          <p:cNvPr id="230" name="Google Shape;230;p26"/>
          <p:cNvSpPr/>
          <p:nvPr/>
        </p:nvSpPr>
        <p:spPr>
          <a:xfrm>
            <a:off x="793790" y="4221837"/>
            <a:ext cx="6279356" cy="396954"/>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Test with real users</a:t>
            </a:r>
            <a:endParaRPr b="0" i="0" sz="1550" u="none" cap="none" strike="noStrike"/>
          </a:p>
        </p:txBody>
      </p:sp>
      <p:sp>
        <p:nvSpPr>
          <p:cNvPr id="231" name="Google Shape;231;p26"/>
          <p:cNvSpPr/>
          <p:nvPr/>
        </p:nvSpPr>
        <p:spPr>
          <a:xfrm>
            <a:off x="7564874" y="1661874"/>
            <a:ext cx="3969425" cy="496133"/>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000000"/>
              </a:buClr>
              <a:buSzPts val="3100"/>
              <a:buFont typeface="Rubik"/>
              <a:buNone/>
            </a:pPr>
            <a:r>
              <a:rPr b="0" i="0" lang="en-US" sz="3100" u="none" cap="none" strike="noStrike">
                <a:solidFill>
                  <a:srgbClr val="000000"/>
                </a:solidFill>
                <a:latin typeface="Rubik"/>
                <a:ea typeface="Rubik"/>
                <a:cs typeface="Rubik"/>
                <a:sym typeface="Rubik"/>
              </a:rPr>
              <a:t>❌</a:t>
            </a:r>
            <a:r>
              <a:rPr b="0" i="0" lang="en-US" sz="3100" u="none" cap="none" strike="noStrike">
                <a:solidFill>
                  <a:srgbClr val="D75BE2"/>
                </a:solidFill>
                <a:latin typeface="Rubik"/>
                <a:ea typeface="Rubik"/>
                <a:cs typeface="Rubik"/>
                <a:sym typeface="Rubik"/>
              </a:rPr>
              <a:t> DON'T</a:t>
            </a:r>
            <a:endParaRPr b="0" i="0" sz="3100" u="none" cap="none" strike="noStrike"/>
          </a:p>
        </p:txBody>
      </p:sp>
      <p:sp>
        <p:nvSpPr>
          <p:cNvPr id="232" name="Google Shape;232;p26"/>
          <p:cNvSpPr/>
          <p:nvPr/>
        </p:nvSpPr>
        <p:spPr>
          <a:xfrm>
            <a:off x="7564874" y="2356366"/>
            <a:ext cx="6279356" cy="396954"/>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Assume the logic works just because it looks OK</a:t>
            </a:r>
            <a:endParaRPr b="0" i="0" sz="1550" u="none" cap="none" strike="noStrike"/>
          </a:p>
        </p:txBody>
      </p:sp>
      <p:sp>
        <p:nvSpPr>
          <p:cNvPr id="233" name="Google Shape;233;p26"/>
          <p:cNvSpPr/>
          <p:nvPr/>
        </p:nvSpPr>
        <p:spPr>
          <a:xfrm>
            <a:off x="7564874" y="2822734"/>
            <a:ext cx="6279356" cy="396954"/>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Launch without checking backend flows</a:t>
            </a:r>
            <a:endParaRPr b="0" i="0" sz="1550" u="none" cap="none" strike="noStrike"/>
          </a:p>
        </p:txBody>
      </p:sp>
      <p:sp>
        <p:nvSpPr>
          <p:cNvPr id="234" name="Google Shape;234;p26"/>
          <p:cNvSpPr/>
          <p:nvPr/>
        </p:nvSpPr>
        <p:spPr>
          <a:xfrm>
            <a:off x="7564874" y="3289102"/>
            <a:ext cx="6279356" cy="793909"/>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Share your API keys and leave credentials or secrets in prompts the user can see</a:t>
            </a:r>
            <a:endParaRPr b="0" i="0" sz="1550" u="none" cap="none" strike="noStrike"/>
          </a:p>
        </p:txBody>
      </p:sp>
      <p:sp>
        <p:nvSpPr>
          <p:cNvPr id="235" name="Google Shape;235;p26"/>
          <p:cNvSpPr/>
          <p:nvPr/>
        </p:nvSpPr>
        <p:spPr>
          <a:xfrm>
            <a:off x="7564874" y="4152424"/>
            <a:ext cx="6279356" cy="793909"/>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Assume preview = real and rely only on preview or mock data</a:t>
            </a:r>
            <a:endParaRPr b="0" i="0" sz="1550" u="none" cap="none" strike="noStrike"/>
          </a:p>
        </p:txBody>
      </p:sp>
      <p:sp>
        <p:nvSpPr>
          <p:cNvPr id="236" name="Google Shape;236;p26"/>
          <p:cNvSpPr/>
          <p:nvPr/>
        </p:nvSpPr>
        <p:spPr>
          <a:xfrm>
            <a:off x="7564874" y="5015746"/>
            <a:ext cx="6279356" cy="396954"/>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Ignore errors you don’t understand</a:t>
            </a:r>
            <a:endParaRPr b="0" i="0" sz="1550" u="none" cap="none" strike="noStrike"/>
          </a:p>
        </p:txBody>
      </p:sp>
      <p:sp>
        <p:nvSpPr>
          <p:cNvPr id="237" name="Google Shape;237;p26"/>
          <p:cNvSpPr/>
          <p:nvPr/>
        </p:nvSpPr>
        <p:spPr>
          <a:xfrm>
            <a:off x="7564874" y="5482114"/>
            <a:ext cx="6279356" cy="396954"/>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Skip error handling and edge cases</a:t>
            </a:r>
            <a:endParaRPr b="0" i="0" sz="155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descr="preencoded.png" id="243" name="Google Shape;243;p27"/>
          <p:cNvPicPr preferRelativeResize="0"/>
          <p:nvPr/>
        </p:nvPicPr>
        <p:blipFill rotWithShape="1">
          <a:blip r:embed="rId3">
            <a:alphaModFix/>
          </a:blip>
          <a:srcRect b="0" l="0" r="0" t="0"/>
          <a:stretch/>
        </p:blipFill>
        <p:spPr>
          <a:xfrm>
            <a:off x="0" y="0"/>
            <a:ext cx="14630400" cy="2480905"/>
          </a:xfrm>
          <a:prstGeom prst="rect">
            <a:avLst/>
          </a:prstGeom>
          <a:noFill/>
          <a:ln>
            <a:noFill/>
          </a:ln>
        </p:spPr>
      </p:pic>
      <p:sp>
        <p:nvSpPr>
          <p:cNvPr id="244" name="Google Shape;244;p27"/>
          <p:cNvSpPr/>
          <p:nvPr/>
        </p:nvSpPr>
        <p:spPr>
          <a:xfrm>
            <a:off x="793790" y="3136225"/>
            <a:ext cx="5842992"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When to Call a Developer</a:t>
            </a:r>
            <a:endParaRPr b="0" i="0" sz="3900" u="none" cap="none" strike="noStrike"/>
          </a:p>
        </p:txBody>
      </p:sp>
      <p:sp>
        <p:nvSpPr>
          <p:cNvPr id="245" name="Google Shape;245;p27"/>
          <p:cNvSpPr/>
          <p:nvPr/>
        </p:nvSpPr>
        <p:spPr>
          <a:xfrm>
            <a:off x="793790" y="4053959"/>
            <a:ext cx="446484" cy="446484"/>
          </a:xfrm>
          <a:prstGeom prst="roundRect">
            <a:avLst>
              <a:gd fmla="val 1867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7"/>
          <p:cNvSpPr/>
          <p:nvPr/>
        </p:nvSpPr>
        <p:spPr>
          <a:xfrm>
            <a:off x="868204" y="4091166"/>
            <a:ext cx="297656" cy="37207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300"/>
              <a:buFont typeface="Rubik"/>
              <a:buNone/>
            </a:pPr>
            <a:r>
              <a:rPr b="0" i="0" lang="en-US" sz="2300" u="none" cap="none" strike="noStrike">
                <a:solidFill>
                  <a:srgbClr val="272525"/>
                </a:solidFill>
                <a:latin typeface="Rubik"/>
                <a:ea typeface="Rubik"/>
                <a:cs typeface="Rubik"/>
                <a:sym typeface="Rubik"/>
              </a:rPr>
              <a:t>1</a:t>
            </a:r>
            <a:endParaRPr b="0" i="0" sz="2300" u="none" cap="none" strike="noStrike"/>
          </a:p>
        </p:txBody>
      </p:sp>
      <p:sp>
        <p:nvSpPr>
          <p:cNvPr id="247" name="Google Shape;247;p27"/>
          <p:cNvSpPr/>
          <p:nvPr/>
        </p:nvSpPr>
        <p:spPr>
          <a:xfrm>
            <a:off x="1438632" y="4122182"/>
            <a:ext cx="2898458"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Complex Authentication</a:t>
            </a:r>
            <a:endParaRPr b="0" i="0" sz="1950" u="none" cap="none" strike="noStrike"/>
          </a:p>
        </p:txBody>
      </p:sp>
      <p:sp>
        <p:nvSpPr>
          <p:cNvPr id="248" name="Google Shape;248;p27"/>
          <p:cNvSpPr/>
          <p:nvPr/>
        </p:nvSpPr>
        <p:spPr>
          <a:xfrm>
            <a:off x="1438632" y="4551402"/>
            <a:ext cx="5752505"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Your app requires user authentication beyond simple Google login, such as role-based permissions or custom auth flows.</a:t>
            </a:r>
            <a:endParaRPr b="0" i="0" sz="1550" u="none" cap="none" strike="noStrike"/>
          </a:p>
        </p:txBody>
      </p:sp>
      <p:sp>
        <p:nvSpPr>
          <p:cNvPr id="249" name="Google Shape;249;p27"/>
          <p:cNvSpPr/>
          <p:nvPr/>
        </p:nvSpPr>
        <p:spPr>
          <a:xfrm>
            <a:off x="7439144" y="4053959"/>
            <a:ext cx="446484" cy="446484"/>
          </a:xfrm>
          <a:prstGeom prst="roundRect">
            <a:avLst>
              <a:gd fmla="val 1867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7"/>
          <p:cNvSpPr/>
          <p:nvPr/>
        </p:nvSpPr>
        <p:spPr>
          <a:xfrm>
            <a:off x="7513558" y="4091166"/>
            <a:ext cx="297656" cy="37207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300"/>
              <a:buFont typeface="Rubik"/>
              <a:buNone/>
            </a:pPr>
            <a:r>
              <a:rPr b="0" i="0" lang="en-US" sz="2300" u="none" cap="none" strike="noStrike">
                <a:solidFill>
                  <a:srgbClr val="272525"/>
                </a:solidFill>
                <a:latin typeface="Rubik"/>
                <a:ea typeface="Rubik"/>
                <a:cs typeface="Rubik"/>
                <a:sym typeface="Rubik"/>
              </a:rPr>
              <a:t>2</a:t>
            </a:r>
            <a:endParaRPr b="0" i="0" sz="2300" u="none" cap="none" strike="noStrike"/>
          </a:p>
        </p:txBody>
      </p:sp>
      <p:sp>
        <p:nvSpPr>
          <p:cNvPr id="251" name="Google Shape;251;p27"/>
          <p:cNvSpPr/>
          <p:nvPr/>
        </p:nvSpPr>
        <p:spPr>
          <a:xfrm>
            <a:off x="8083987" y="4122182"/>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Advanced Logic</a:t>
            </a:r>
            <a:endParaRPr b="0" i="0" sz="1950" u="none" cap="none" strike="noStrike"/>
          </a:p>
        </p:txBody>
      </p:sp>
      <p:sp>
        <p:nvSpPr>
          <p:cNvPr id="252" name="Google Shape;252;p27"/>
          <p:cNvSpPr/>
          <p:nvPr/>
        </p:nvSpPr>
        <p:spPr>
          <a:xfrm>
            <a:off x="8083987" y="4551402"/>
            <a:ext cx="5752624"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Your app logic goes beyond simple "if A then B" conditions to include complex workflows or calculations.</a:t>
            </a:r>
            <a:endParaRPr b="0" i="0" sz="1550" u="none" cap="none" strike="noStrike"/>
          </a:p>
        </p:txBody>
      </p:sp>
      <p:sp>
        <p:nvSpPr>
          <p:cNvPr id="253" name="Google Shape;253;p27"/>
          <p:cNvSpPr/>
          <p:nvPr/>
        </p:nvSpPr>
        <p:spPr>
          <a:xfrm>
            <a:off x="793790" y="5583317"/>
            <a:ext cx="446484" cy="446484"/>
          </a:xfrm>
          <a:prstGeom prst="roundRect">
            <a:avLst>
              <a:gd fmla="val 1867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7"/>
          <p:cNvSpPr/>
          <p:nvPr/>
        </p:nvSpPr>
        <p:spPr>
          <a:xfrm>
            <a:off x="868204" y="5620524"/>
            <a:ext cx="297656" cy="37207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300"/>
              <a:buFont typeface="Rubik"/>
              <a:buNone/>
            </a:pPr>
            <a:r>
              <a:rPr b="0" i="0" lang="en-US" sz="2300" u="none" cap="none" strike="noStrike">
                <a:solidFill>
                  <a:srgbClr val="272525"/>
                </a:solidFill>
                <a:latin typeface="Rubik"/>
                <a:ea typeface="Rubik"/>
                <a:cs typeface="Rubik"/>
                <a:sym typeface="Rubik"/>
              </a:rPr>
              <a:t>3</a:t>
            </a:r>
            <a:endParaRPr b="0" i="0" sz="2300" u="none" cap="none" strike="noStrike"/>
          </a:p>
        </p:txBody>
      </p:sp>
      <p:sp>
        <p:nvSpPr>
          <p:cNvPr id="255" name="Google Shape;255;p27"/>
          <p:cNvSpPr/>
          <p:nvPr/>
        </p:nvSpPr>
        <p:spPr>
          <a:xfrm>
            <a:off x="1438632" y="5651540"/>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High-Risk Features</a:t>
            </a:r>
            <a:endParaRPr b="0" i="0" sz="1950" u="none" cap="none" strike="noStrike"/>
          </a:p>
        </p:txBody>
      </p:sp>
      <p:sp>
        <p:nvSpPr>
          <p:cNvPr id="256" name="Google Shape;256;p27"/>
          <p:cNvSpPr/>
          <p:nvPr/>
        </p:nvSpPr>
        <p:spPr>
          <a:xfrm>
            <a:off x="1438632" y="6080760"/>
            <a:ext cx="5752505"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You're handling money, sensitive data, or anything with legal or compliance requirements.</a:t>
            </a:r>
            <a:endParaRPr b="0" i="0" sz="1550" u="none" cap="none" strike="noStrike"/>
          </a:p>
        </p:txBody>
      </p:sp>
      <p:sp>
        <p:nvSpPr>
          <p:cNvPr id="257" name="Google Shape;257;p27"/>
          <p:cNvSpPr/>
          <p:nvPr/>
        </p:nvSpPr>
        <p:spPr>
          <a:xfrm>
            <a:off x="7439144" y="5583317"/>
            <a:ext cx="446484" cy="446484"/>
          </a:xfrm>
          <a:prstGeom prst="roundRect">
            <a:avLst>
              <a:gd fmla="val 1867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7"/>
          <p:cNvSpPr/>
          <p:nvPr/>
        </p:nvSpPr>
        <p:spPr>
          <a:xfrm>
            <a:off x="7513558" y="5620524"/>
            <a:ext cx="297656" cy="37207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300"/>
              <a:buFont typeface="Rubik"/>
              <a:buNone/>
            </a:pPr>
            <a:r>
              <a:rPr b="0" i="0" lang="en-US" sz="2300" u="none" cap="none" strike="noStrike">
                <a:solidFill>
                  <a:srgbClr val="272525"/>
                </a:solidFill>
                <a:latin typeface="Rubik"/>
                <a:ea typeface="Rubik"/>
                <a:cs typeface="Rubik"/>
                <a:sym typeface="Rubik"/>
              </a:rPr>
              <a:t>4</a:t>
            </a:r>
            <a:endParaRPr b="0" i="0" sz="2300" u="none" cap="none" strike="noStrike"/>
          </a:p>
        </p:txBody>
      </p:sp>
      <p:sp>
        <p:nvSpPr>
          <p:cNvPr id="259" name="Google Shape;259;p27"/>
          <p:cNvSpPr/>
          <p:nvPr/>
        </p:nvSpPr>
        <p:spPr>
          <a:xfrm>
            <a:off x="8083987" y="5651540"/>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Custom Integrations</a:t>
            </a:r>
            <a:endParaRPr b="0" i="0" sz="1950" u="none" cap="none" strike="noStrike"/>
          </a:p>
        </p:txBody>
      </p:sp>
      <p:sp>
        <p:nvSpPr>
          <p:cNvPr id="260" name="Google Shape;260;p27"/>
          <p:cNvSpPr/>
          <p:nvPr/>
        </p:nvSpPr>
        <p:spPr>
          <a:xfrm>
            <a:off x="8083987" y="6080760"/>
            <a:ext cx="5752624"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You need custom APIs, complex integrations, or automated processes that go beyond platform capabilities.</a:t>
            </a:r>
            <a:endParaRPr b="0" i="0" sz="1550" u="none" cap="none" strike="noStrike"/>
          </a:p>
        </p:txBody>
      </p:sp>
      <p:sp>
        <p:nvSpPr>
          <p:cNvPr id="261" name="Google Shape;261;p27"/>
          <p:cNvSpPr/>
          <p:nvPr/>
        </p:nvSpPr>
        <p:spPr>
          <a:xfrm>
            <a:off x="793790" y="6939082"/>
            <a:ext cx="13042821"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If you answered "yes" to any of these questions, it's time to bring in a developer (even part-time or freelance) to ensure your app is built properly.</a:t>
            </a:r>
            <a:endParaRPr b="0" i="0" sz="155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8"/>
          <p:cNvSpPr/>
          <p:nvPr/>
        </p:nvSpPr>
        <p:spPr>
          <a:xfrm>
            <a:off x="793790" y="545783"/>
            <a:ext cx="9991249"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The 5-Point Responsible Builder Checklist</a:t>
            </a:r>
            <a:endParaRPr b="0" i="0" sz="3900" u="none" cap="none" strike="noStrike"/>
          </a:p>
        </p:txBody>
      </p:sp>
      <p:sp>
        <p:nvSpPr>
          <p:cNvPr id="268" name="Google Shape;268;p28"/>
          <p:cNvSpPr/>
          <p:nvPr/>
        </p:nvSpPr>
        <p:spPr>
          <a:xfrm>
            <a:off x="793790" y="1562695"/>
            <a:ext cx="13042821" cy="793909"/>
          </a:xfrm>
          <a:prstGeom prst="rect">
            <a:avLst/>
          </a:prstGeom>
          <a:noFill/>
          <a:ln>
            <a:noFill/>
          </a:ln>
        </p:spPr>
        <p:txBody>
          <a:bodyPr anchorCtr="0" anchor="t" bIns="0" lIns="0" spcFirstLastPara="1" rIns="0" wrap="square" tIns="0">
            <a:noAutofit/>
          </a:bodyPr>
          <a:lstStyle/>
          <a:p>
            <a:pPr indent="0" lvl="0" marL="0" marR="0" rtl="0" algn="l">
              <a:lnSpc>
                <a:spcPct val="158974"/>
              </a:lnSpc>
              <a:spcBef>
                <a:spcPts val="0"/>
              </a:spcBef>
              <a:spcAft>
                <a:spcPts val="0"/>
              </a:spcAft>
              <a:buClr>
                <a:srgbClr val="272525"/>
              </a:buClr>
              <a:buSzPts val="1950"/>
              <a:buFont typeface="Open Sans"/>
              <a:buNone/>
            </a:pPr>
            <a:r>
              <a:rPr b="1" i="0" lang="en-US" sz="1950" u="none" cap="none" strike="noStrike">
                <a:solidFill>
                  <a:srgbClr val="272525"/>
                </a:solidFill>
                <a:latin typeface="Open Sans"/>
                <a:ea typeface="Open Sans"/>
                <a:cs typeface="Open Sans"/>
                <a:sym typeface="Open Sans"/>
              </a:rPr>
              <a:t>Remember:</a:t>
            </a:r>
            <a:r>
              <a:rPr b="0" i="0" lang="en-US" sz="1950" u="none" cap="none" strike="noStrike">
                <a:solidFill>
                  <a:srgbClr val="272525"/>
                </a:solidFill>
                <a:latin typeface="Open Sans"/>
                <a:ea typeface="Open Sans"/>
                <a:cs typeface="Open Sans"/>
                <a:sym typeface="Open Sans"/>
              </a:rPr>
              <a:t> Vibe coding is empowering, but not magical. Your role is as a product owner and logic designer, not a full-stack developer. Your responsibility is to test, verify, and ask for help when needed.</a:t>
            </a:r>
            <a:endParaRPr b="0" i="0" sz="1950" u="none" cap="none" strike="noStrike"/>
          </a:p>
        </p:txBody>
      </p:sp>
      <p:sp>
        <p:nvSpPr>
          <p:cNvPr id="269" name="Google Shape;269;p28"/>
          <p:cNvSpPr/>
          <p:nvPr/>
        </p:nvSpPr>
        <p:spPr>
          <a:xfrm>
            <a:off x="793790" y="2579846"/>
            <a:ext cx="13042821" cy="396954"/>
          </a:xfrm>
          <a:prstGeom prst="rect">
            <a:avLst/>
          </a:prstGeom>
          <a:noFill/>
          <a:ln>
            <a:noFill/>
          </a:ln>
        </p:spPr>
        <p:txBody>
          <a:bodyPr anchorCtr="0" anchor="t" bIns="0" lIns="0" spcFirstLastPara="1" rIns="0" wrap="square" tIns="0">
            <a:noAutofit/>
          </a:bodyPr>
          <a:lstStyle/>
          <a:p>
            <a:pPr indent="0" lvl="0" marL="0" marR="0" rtl="0" algn="l">
              <a:lnSpc>
                <a:spcPct val="158974"/>
              </a:lnSpc>
              <a:spcBef>
                <a:spcPts val="0"/>
              </a:spcBef>
              <a:spcAft>
                <a:spcPts val="0"/>
              </a:spcAft>
              <a:buSzPts val="1950"/>
              <a:buFont typeface="Arial"/>
              <a:buNone/>
            </a:pPr>
            <a:r>
              <a:t/>
            </a:r>
            <a:endParaRPr b="0" i="0" sz="1950" u="none" cap="none" strike="noStrike"/>
          </a:p>
        </p:txBody>
      </p:sp>
      <p:sp>
        <p:nvSpPr>
          <p:cNvPr id="270" name="Google Shape;270;p28"/>
          <p:cNvSpPr/>
          <p:nvPr/>
        </p:nvSpPr>
        <p:spPr>
          <a:xfrm>
            <a:off x="793790" y="3200043"/>
            <a:ext cx="446484" cy="446484"/>
          </a:xfrm>
          <a:prstGeom prst="roundRect">
            <a:avLst>
              <a:gd fmla="val 1867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1" name="Google Shape;271;p28"/>
          <p:cNvPicPr preferRelativeResize="0"/>
          <p:nvPr/>
        </p:nvPicPr>
        <p:blipFill rotWithShape="1">
          <a:blip r:embed="rId3">
            <a:alphaModFix/>
          </a:blip>
          <a:srcRect b="0" l="0" r="0" t="0"/>
          <a:stretch/>
        </p:blipFill>
        <p:spPr>
          <a:xfrm>
            <a:off x="868204" y="3237250"/>
            <a:ext cx="297656" cy="372070"/>
          </a:xfrm>
          <a:prstGeom prst="rect">
            <a:avLst/>
          </a:prstGeom>
          <a:noFill/>
          <a:ln>
            <a:noFill/>
          </a:ln>
        </p:spPr>
      </p:pic>
      <p:sp>
        <p:nvSpPr>
          <p:cNvPr id="272" name="Google Shape;272;p28"/>
          <p:cNvSpPr/>
          <p:nvPr/>
        </p:nvSpPr>
        <p:spPr>
          <a:xfrm>
            <a:off x="1438632" y="3268266"/>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Data Verification</a:t>
            </a:r>
            <a:endParaRPr b="0" i="0" sz="1950" u="none" cap="none" strike="noStrike"/>
          </a:p>
        </p:txBody>
      </p:sp>
      <p:sp>
        <p:nvSpPr>
          <p:cNvPr id="273" name="Google Shape;273;p28"/>
          <p:cNvSpPr/>
          <p:nvPr/>
        </p:nvSpPr>
        <p:spPr>
          <a:xfrm>
            <a:off x="1438632" y="3697486"/>
            <a:ext cx="3537347" cy="1190863"/>
          </a:xfrm>
          <a:prstGeom prst="rect">
            <a:avLst/>
          </a:prstGeom>
          <a:noFill/>
          <a:ln>
            <a:noFill/>
          </a:ln>
        </p:spPr>
        <p:txBody>
          <a:bodyPr anchorCtr="0" anchor="t" bIns="0" lIns="0" spcFirstLastPara="1" rIns="0" wrap="square" tIns="0">
            <a:noAutofit/>
          </a:bodyPr>
          <a:lstStyle/>
          <a:p>
            <a:pPr indent="0" lvl="0" marL="0" marR="0" rtl="0" algn="l">
              <a:lnSpc>
                <a:spcPct val="158974"/>
              </a:lnSpc>
              <a:spcBef>
                <a:spcPts val="0"/>
              </a:spcBef>
              <a:spcAft>
                <a:spcPts val="0"/>
              </a:spcAft>
              <a:buClr>
                <a:srgbClr val="272525"/>
              </a:buClr>
              <a:buSzPts val="1950"/>
              <a:buFont typeface="Open Sans"/>
              <a:buNone/>
            </a:pPr>
            <a:r>
              <a:rPr b="0" i="0" lang="en-US" sz="1950" u="none" cap="none" strike="noStrike">
                <a:solidFill>
                  <a:srgbClr val="272525"/>
                </a:solidFill>
                <a:latin typeface="Open Sans"/>
                <a:ea typeface="Open Sans"/>
                <a:cs typeface="Open Sans"/>
                <a:sym typeface="Open Sans"/>
              </a:rPr>
              <a:t>Is my app saving data properly to the database and can I verify it's there?</a:t>
            </a:r>
            <a:endParaRPr b="0" i="0" sz="1950" u="none" cap="none" strike="noStrike"/>
          </a:p>
        </p:txBody>
      </p:sp>
      <p:sp>
        <p:nvSpPr>
          <p:cNvPr id="274" name="Google Shape;274;p28"/>
          <p:cNvSpPr/>
          <p:nvPr/>
        </p:nvSpPr>
        <p:spPr>
          <a:xfrm>
            <a:off x="5223986" y="3200043"/>
            <a:ext cx="446484" cy="446484"/>
          </a:xfrm>
          <a:prstGeom prst="roundRect">
            <a:avLst>
              <a:gd fmla="val 1867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5" name="Google Shape;275;p28"/>
          <p:cNvPicPr preferRelativeResize="0"/>
          <p:nvPr/>
        </p:nvPicPr>
        <p:blipFill rotWithShape="1">
          <a:blip r:embed="rId4">
            <a:alphaModFix/>
          </a:blip>
          <a:srcRect b="0" l="0" r="0" t="0"/>
          <a:stretch/>
        </p:blipFill>
        <p:spPr>
          <a:xfrm>
            <a:off x="5298400" y="3237250"/>
            <a:ext cx="297656" cy="372070"/>
          </a:xfrm>
          <a:prstGeom prst="rect">
            <a:avLst/>
          </a:prstGeom>
          <a:noFill/>
          <a:ln>
            <a:noFill/>
          </a:ln>
        </p:spPr>
      </p:pic>
      <p:sp>
        <p:nvSpPr>
          <p:cNvPr id="276" name="Google Shape;276;p28"/>
          <p:cNvSpPr/>
          <p:nvPr/>
        </p:nvSpPr>
        <p:spPr>
          <a:xfrm>
            <a:off x="5868829" y="3268266"/>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API Security</a:t>
            </a:r>
            <a:endParaRPr b="0" i="0" sz="1950" u="none" cap="none" strike="noStrike"/>
          </a:p>
        </p:txBody>
      </p:sp>
      <p:sp>
        <p:nvSpPr>
          <p:cNvPr id="277" name="Google Shape;277;p28"/>
          <p:cNvSpPr/>
          <p:nvPr/>
        </p:nvSpPr>
        <p:spPr>
          <a:xfrm>
            <a:off x="5868829" y="3697486"/>
            <a:ext cx="3537466" cy="1190863"/>
          </a:xfrm>
          <a:prstGeom prst="rect">
            <a:avLst/>
          </a:prstGeom>
          <a:noFill/>
          <a:ln>
            <a:noFill/>
          </a:ln>
        </p:spPr>
        <p:txBody>
          <a:bodyPr anchorCtr="0" anchor="t" bIns="0" lIns="0" spcFirstLastPara="1" rIns="0" wrap="square" tIns="0">
            <a:noAutofit/>
          </a:bodyPr>
          <a:lstStyle/>
          <a:p>
            <a:pPr indent="0" lvl="0" marL="0" marR="0" rtl="0" algn="l">
              <a:lnSpc>
                <a:spcPct val="158974"/>
              </a:lnSpc>
              <a:spcBef>
                <a:spcPts val="0"/>
              </a:spcBef>
              <a:spcAft>
                <a:spcPts val="0"/>
              </a:spcAft>
              <a:buClr>
                <a:srgbClr val="272525"/>
              </a:buClr>
              <a:buSzPts val="1950"/>
              <a:buFont typeface="Open Sans"/>
              <a:buNone/>
            </a:pPr>
            <a:r>
              <a:rPr b="0" i="0" lang="en-US" sz="1950" u="none" cap="none" strike="noStrike">
                <a:solidFill>
                  <a:srgbClr val="272525"/>
                </a:solidFill>
                <a:latin typeface="Open Sans"/>
                <a:ea typeface="Open Sans"/>
                <a:cs typeface="Open Sans"/>
                <a:sym typeface="Open Sans"/>
              </a:rPr>
              <a:t>Are my API keys hidden and secured properly from public access?</a:t>
            </a:r>
            <a:endParaRPr b="0" i="0" sz="1950" u="none" cap="none" strike="noStrike"/>
          </a:p>
        </p:txBody>
      </p:sp>
      <p:sp>
        <p:nvSpPr>
          <p:cNvPr id="278" name="Google Shape;278;p28"/>
          <p:cNvSpPr/>
          <p:nvPr/>
        </p:nvSpPr>
        <p:spPr>
          <a:xfrm>
            <a:off x="9654302" y="3200043"/>
            <a:ext cx="446484" cy="446484"/>
          </a:xfrm>
          <a:prstGeom prst="roundRect">
            <a:avLst>
              <a:gd fmla="val 1867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9" name="Google Shape;279;p28"/>
          <p:cNvPicPr preferRelativeResize="0"/>
          <p:nvPr/>
        </p:nvPicPr>
        <p:blipFill rotWithShape="1">
          <a:blip r:embed="rId5">
            <a:alphaModFix/>
          </a:blip>
          <a:srcRect b="0" l="0" r="0" t="0"/>
          <a:stretch/>
        </p:blipFill>
        <p:spPr>
          <a:xfrm>
            <a:off x="9728716" y="3237250"/>
            <a:ext cx="297656" cy="372070"/>
          </a:xfrm>
          <a:prstGeom prst="rect">
            <a:avLst/>
          </a:prstGeom>
          <a:noFill/>
          <a:ln>
            <a:noFill/>
          </a:ln>
        </p:spPr>
      </p:pic>
      <p:sp>
        <p:nvSpPr>
          <p:cNvPr id="280" name="Google Shape;280;p28"/>
          <p:cNvSpPr/>
          <p:nvPr/>
        </p:nvSpPr>
        <p:spPr>
          <a:xfrm>
            <a:off x="10299144" y="3268266"/>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Payment Testing</a:t>
            </a:r>
            <a:endParaRPr b="0" i="0" sz="1950" u="none" cap="none" strike="noStrike"/>
          </a:p>
        </p:txBody>
      </p:sp>
      <p:sp>
        <p:nvSpPr>
          <p:cNvPr id="281" name="Google Shape;281;p28"/>
          <p:cNvSpPr/>
          <p:nvPr/>
        </p:nvSpPr>
        <p:spPr>
          <a:xfrm>
            <a:off x="10299144" y="3697486"/>
            <a:ext cx="3537466" cy="1190863"/>
          </a:xfrm>
          <a:prstGeom prst="rect">
            <a:avLst/>
          </a:prstGeom>
          <a:noFill/>
          <a:ln>
            <a:noFill/>
          </a:ln>
        </p:spPr>
        <p:txBody>
          <a:bodyPr anchorCtr="0" anchor="t" bIns="0" lIns="0" spcFirstLastPara="1" rIns="0" wrap="square" tIns="0">
            <a:noAutofit/>
          </a:bodyPr>
          <a:lstStyle/>
          <a:p>
            <a:pPr indent="0" lvl="0" marL="0" marR="0" rtl="0" algn="l">
              <a:lnSpc>
                <a:spcPct val="158974"/>
              </a:lnSpc>
              <a:spcBef>
                <a:spcPts val="0"/>
              </a:spcBef>
              <a:spcAft>
                <a:spcPts val="0"/>
              </a:spcAft>
              <a:buClr>
                <a:srgbClr val="272525"/>
              </a:buClr>
              <a:buSzPts val="1950"/>
              <a:buFont typeface="Open Sans"/>
              <a:buNone/>
            </a:pPr>
            <a:r>
              <a:rPr b="0" i="0" lang="en-US" sz="1950" u="none" cap="none" strike="noStrike">
                <a:solidFill>
                  <a:srgbClr val="272525"/>
                </a:solidFill>
                <a:latin typeface="Open Sans"/>
                <a:ea typeface="Open Sans"/>
                <a:cs typeface="Open Sans"/>
                <a:sym typeface="Open Sans"/>
              </a:rPr>
              <a:t>Is the payment logic fully tested in both test and live environments?</a:t>
            </a:r>
            <a:endParaRPr b="0" i="0" sz="1950" u="none" cap="none" strike="noStrike"/>
          </a:p>
        </p:txBody>
      </p:sp>
      <p:sp>
        <p:nvSpPr>
          <p:cNvPr id="282" name="Google Shape;282;p28"/>
          <p:cNvSpPr/>
          <p:nvPr/>
        </p:nvSpPr>
        <p:spPr>
          <a:xfrm>
            <a:off x="793790" y="5285184"/>
            <a:ext cx="446484" cy="446484"/>
          </a:xfrm>
          <a:prstGeom prst="roundRect">
            <a:avLst>
              <a:gd fmla="val 1867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3" name="Google Shape;283;p28"/>
          <p:cNvPicPr preferRelativeResize="0"/>
          <p:nvPr/>
        </p:nvPicPr>
        <p:blipFill rotWithShape="1">
          <a:blip r:embed="rId6">
            <a:alphaModFix/>
          </a:blip>
          <a:srcRect b="0" l="0" r="0" t="0"/>
          <a:stretch/>
        </p:blipFill>
        <p:spPr>
          <a:xfrm>
            <a:off x="868204" y="5322391"/>
            <a:ext cx="297656" cy="372070"/>
          </a:xfrm>
          <a:prstGeom prst="rect">
            <a:avLst/>
          </a:prstGeom>
          <a:noFill/>
          <a:ln>
            <a:noFill/>
          </a:ln>
        </p:spPr>
      </p:pic>
      <p:sp>
        <p:nvSpPr>
          <p:cNvPr id="284" name="Google Shape;284;p28"/>
          <p:cNvSpPr/>
          <p:nvPr/>
        </p:nvSpPr>
        <p:spPr>
          <a:xfrm>
            <a:off x="1438632" y="5353407"/>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User Journey</a:t>
            </a:r>
            <a:endParaRPr b="0" i="0" sz="1950" u="none" cap="none" strike="noStrike"/>
          </a:p>
        </p:txBody>
      </p:sp>
      <p:sp>
        <p:nvSpPr>
          <p:cNvPr id="285" name="Google Shape;285;p28"/>
          <p:cNvSpPr/>
          <p:nvPr/>
        </p:nvSpPr>
        <p:spPr>
          <a:xfrm>
            <a:off x="1438632" y="5782628"/>
            <a:ext cx="5752505" cy="793909"/>
          </a:xfrm>
          <a:prstGeom prst="rect">
            <a:avLst/>
          </a:prstGeom>
          <a:noFill/>
          <a:ln>
            <a:noFill/>
          </a:ln>
        </p:spPr>
        <p:txBody>
          <a:bodyPr anchorCtr="0" anchor="t" bIns="0" lIns="0" spcFirstLastPara="1" rIns="0" wrap="square" tIns="0">
            <a:noAutofit/>
          </a:bodyPr>
          <a:lstStyle/>
          <a:p>
            <a:pPr indent="0" lvl="0" marL="0" marR="0" rtl="0" algn="l">
              <a:lnSpc>
                <a:spcPct val="158974"/>
              </a:lnSpc>
              <a:spcBef>
                <a:spcPts val="0"/>
              </a:spcBef>
              <a:spcAft>
                <a:spcPts val="0"/>
              </a:spcAft>
              <a:buClr>
                <a:srgbClr val="272525"/>
              </a:buClr>
              <a:buSzPts val="1950"/>
              <a:buFont typeface="Open Sans"/>
              <a:buNone/>
            </a:pPr>
            <a:r>
              <a:rPr b="0" i="0" lang="en-US" sz="1950" u="none" cap="none" strike="noStrike">
                <a:solidFill>
                  <a:srgbClr val="272525"/>
                </a:solidFill>
                <a:latin typeface="Open Sans"/>
                <a:ea typeface="Open Sans"/>
                <a:cs typeface="Open Sans"/>
                <a:sym typeface="Open Sans"/>
              </a:rPr>
              <a:t>Do I know exactly what happens when users click each button or submit forms?</a:t>
            </a:r>
            <a:endParaRPr b="0" i="0" sz="1950" u="none" cap="none" strike="noStrike"/>
          </a:p>
        </p:txBody>
      </p:sp>
      <p:sp>
        <p:nvSpPr>
          <p:cNvPr id="286" name="Google Shape;286;p28"/>
          <p:cNvSpPr/>
          <p:nvPr/>
        </p:nvSpPr>
        <p:spPr>
          <a:xfrm>
            <a:off x="7439144" y="5285184"/>
            <a:ext cx="446484" cy="446484"/>
          </a:xfrm>
          <a:prstGeom prst="roundRect">
            <a:avLst>
              <a:gd fmla="val 1867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7" name="Google Shape;287;p28"/>
          <p:cNvPicPr preferRelativeResize="0"/>
          <p:nvPr/>
        </p:nvPicPr>
        <p:blipFill rotWithShape="1">
          <a:blip r:embed="rId7">
            <a:alphaModFix/>
          </a:blip>
          <a:srcRect b="0" l="0" r="0" t="0"/>
          <a:stretch/>
        </p:blipFill>
        <p:spPr>
          <a:xfrm>
            <a:off x="7513558" y="5322391"/>
            <a:ext cx="297656" cy="372070"/>
          </a:xfrm>
          <a:prstGeom prst="rect">
            <a:avLst/>
          </a:prstGeom>
          <a:noFill/>
          <a:ln>
            <a:noFill/>
          </a:ln>
        </p:spPr>
      </p:pic>
      <p:sp>
        <p:nvSpPr>
          <p:cNvPr id="288" name="Google Shape;288;p28"/>
          <p:cNvSpPr/>
          <p:nvPr/>
        </p:nvSpPr>
        <p:spPr>
          <a:xfrm>
            <a:off x="8083987" y="5353407"/>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Cross-Testing</a:t>
            </a:r>
            <a:endParaRPr b="0" i="0" sz="1950" u="none" cap="none" strike="noStrike"/>
          </a:p>
        </p:txBody>
      </p:sp>
      <p:sp>
        <p:nvSpPr>
          <p:cNvPr id="289" name="Google Shape;289;p28"/>
          <p:cNvSpPr/>
          <p:nvPr/>
        </p:nvSpPr>
        <p:spPr>
          <a:xfrm>
            <a:off x="8083987" y="5782628"/>
            <a:ext cx="5752624" cy="793909"/>
          </a:xfrm>
          <a:prstGeom prst="rect">
            <a:avLst/>
          </a:prstGeom>
          <a:noFill/>
          <a:ln>
            <a:noFill/>
          </a:ln>
        </p:spPr>
        <p:txBody>
          <a:bodyPr anchorCtr="0" anchor="t" bIns="0" lIns="0" spcFirstLastPara="1" rIns="0" wrap="square" tIns="0">
            <a:noAutofit/>
          </a:bodyPr>
          <a:lstStyle/>
          <a:p>
            <a:pPr indent="0" lvl="0" marL="0" marR="0" rtl="0" algn="l">
              <a:lnSpc>
                <a:spcPct val="158974"/>
              </a:lnSpc>
              <a:spcBef>
                <a:spcPts val="0"/>
              </a:spcBef>
              <a:spcAft>
                <a:spcPts val="0"/>
              </a:spcAft>
              <a:buClr>
                <a:srgbClr val="272525"/>
              </a:buClr>
              <a:buSzPts val="1950"/>
              <a:buFont typeface="Open Sans"/>
              <a:buNone/>
            </a:pPr>
            <a:r>
              <a:rPr b="0" i="0" lang="en-US" sz="1950" u="none" cap="none" strike="noStrike">
                <a:solidFill>
                  <a:srgbClr val="272525"/>
                </a:solidFill>
                <a:latin typeface="Open Sans"/>
                <a:ea typeface="Open Sans"/>
                <a:cs typeface="Open Sans"/>
                <a:sym typeface="Open Sans"/>
              </a:rPr>
              <a:t>Have I verified it works for others, not just on my own devices?</a:t>
            </a:r>
            <a:endParaRPr b="0" i="0" sz="1950" u="none" cap="none" strike="noStrike"/>
          </a:p>
        </p:txBody>
      </p:sp>
      <p:sp>
        <p:nvSpPr>
          <p:cNvPr id="290" name="Google Shape;290;p28"/>
          <p:cNvSpPr/>
          <p:nvPr/>
        </p:nvSpPr>
        <p:spPr>
          <a:xfrm>
            <a:off x="793790" y="6799778"/>
            <a:ext cx="13042821" cy="396954"/>
          </a:xfrm>
          <a:prstGeom prst="rect">
            <a:avLst/>
          </a:prstGeom>
          <a:noFill/>
          <a:ln>
            <a:noFill/>
          </a:ln>
        </p:spPr>
        <p:txBody>
          <a:bodyPr anchorCtr="0" anchor="t" bIns="0" lIns="0" spcFirstLastPara="1" rIns="0" wrap="square" tIns="0">
            <a:noAutofit/>
          </a:bodyPr>
          <a:lstStyle/>
          <a:p>
            <a:pPr indent="0" lvl="0" marL="0" marR="0" rtl="0" algn="l">
              <a:lnSpc>
                <a:spcPct val="158974"/>
              </a:lnSpc>
              <a:spcBef>
                <a:spcPts val="0"/>
              </a:spcBef>
              <a:spcAft>
                <a:spcPts val="0"/>
              </a:spcAft>
              <a:buSzPts val="1950"/>
              <a:buFont typeface="Arial"/>
              <a:buNone/>
            </a:pPr>
            <a:r>
              <a:t/>
            </a:r>
            <a:endParaRPr b="0" i="0" sz="1950" u="none" cap="none" strike="noStrike"/>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9"/>
          <p:cNvSpPr/>
          <p:nvPr/>
        </p:nvSpPr>
        <p:spPr>
          <a:xfrm>
            <a:off x="793790" y="545783"/>
            <a:ext cx="4961811"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Takeaway Messages</a:t>
            </a:r>
            <a:endParaRPr b="0" i="0" sz="3900" u="none" cap="none" strike="noStrike"/>
          </a:p>
        </p:txBody>
      </p:sp>
      <p:sp>
        <p:nvSpPr>
          <p:cNvPr id="297" name="Google Shape;297;p29"/>
          <p:cNvSpPr/>
          <p:nvPr/>
        </p:nvSpPr>
        <p:spPr>
          <a:xfrm>
            <a:off x="793790" y="1562695"/>
            <a:ext cx="13042821" cy="396954"/>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Vibe coding democratizes development, but up to a certain limit.</a:t>
            </a:r>
            <a:endParaRPr b="0" i="0" sz="1550" u="none" cap="none" strike="noStrike"/>
          </a:p>
        </p:txBody>
      </p:sp>
      <p:sp>
        <p:nvSpPr>
          <p:cNvPr id="298" name="Google Shape;298;p29"/>
          <p:cNvSpPr/>
          <p:nvPr/>
        </p:nvSpPr>
        <p:spPr>
          <a:xfrm>
            <a:off x="793790" y="2029063"/>
            <a:ext cx="13042821" cy="396954"/>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Understand your role: You are a builder, not a backend engineer.</a:t>
            </a:r>
            <a:endParaRPr b="0" i="0" sz="1550" u="none" cap="none" strike="noStrike"/>
          </a:p>
        </p:txBody>
      </p:sp>
      <p:sp>
        <p:nvSpPr>
          <p:cNvPr id="299" name="Google Shape;299;p29"/>
          <p:cNvSpPr/>
          <p:nvPr/>
        </p:nvSpPr>
        <p:spPr>
          <a:xfrm>
            <a:off x="793790" y="2495431"/>
            <a:ext cx="13042821" cy="396954"/>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Embrace your limits.</a:t>
            </a:r>
            <a:endParaRPr b="0" i="0" sz="1550" u="none" cap="none" strike="noStrike"/>
          </a:p>
        </p:txBody>
      </p:sp>
      <p:sp>
        <p:nvSpPr>
          <p:cNvPr id="300" name="Google Shape;300;p29"/>
          <p:cNvSpPr/>
          <p:nvPr/>
        </p:nvSpPr>
        <p:spPr>
          <a:xfrm>
            <a:off x="793790" y="2961799"/>
            <a:ext cx="13042821" cy="396954"/>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Responsible app development leads to trustworthy products.</a:t>
            </a:r>
            <a:endParaRPr b="0" i="0" sz="1550" u="none" cap="none" strike="noStrik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0"/>
          <p:cNvSpPr/>
          <p:nvPr/>
        </p:nvSpPr>
        <p:spPr>
          <a:xfrm>
            <a:off x="3891558" y="3686889"/>
            <a:ext cx="6847284" cy="855821"/>
          </a:xfrm>
          <a:prstGeom prst="rect">
            <a:avLst/>
          </a:prstGeom>
          <a:noFill/>
          <a:ln>
            <a:noFill/>
          </a:ln>
        </p:spPr>
        <p:txBody>
          <a:bodyPr anchorCtr="0" anchor="t" bIns="0" lIns="0" spcFirstLastPara="1" rIns="0" wrap="square" tIns="0">
            <a:noAutofit/>
          </a:bodyPr>
          <a:lstStyle/>
          <a:p>
            <a:pPr indent="0" lvl="0" marL="0" marR="0" rtl="0" algn="ctr">
              <a:lnSpc>
                <a:spcPct val="125233"/>
              </a:lnSpc>
              <a:spcBef>
                <a:spcPts val="0"/>
              </a:spcBef>
              <a:spcAft>
                <a:spcPts val="0"/>
              </a:spcAft>
              <a:buClr>
                <a:srgbClr val="D75BE2"/>
              </a:buClr>
              <a:buSzPts val="5350"/>
              <a:buFont typeface="Rubik"/>
              <a:buNone/>
            </a:pPr>
            <a:r>
              <a:rPr b="0" i="0" lang="en-US" sz="5350" u="none" cap="none" strike="noStrike">
                <a:solidFill>
                  <a:srgbClr val="D75BE2"/>
                </a:solidFill>
                <a:latin typeface="Rubik"/>
                <a:ea typeface="Rubik"/>
                <a:cs typeface="Rubik"/>
                <a:sym typeface="Rubik"/>
              </a:rPr>
              <a:t>Questions?</a:t>
            </a:r>
            <a:endParaRPr b="0" i="0" sz="53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